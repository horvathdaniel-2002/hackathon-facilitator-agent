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Welcome. This is a practical facilitation aid, not software to install or a promise of technical delivery.
Introduce the sponsor, facilitator and process owners. Ask what one useful result would make the event worthwhile.
The editable Word workbook contains the detailed templates. This deck supports a planning discussion and checkpoints; adapt the timings to your event.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Activity, 2 minutes: everyone opens the playbook or has a printed copy. Appoint the owner of the working copy.
Word and PowerPoint files need an application that supports those formats. PDF is the browser/printing alternative. No developer environment, agent installation or Copilot subscription is needed for manual use.
Bracketed fields are intentional prompts to replace, not pre-approved answers. PowerPoint speaker notes are visible in Notes view or Presenter View.
Only fictional examples belong in public materials. Keep completed plans and approval evidence in your approved workspace.
These are project-authored defaults, not Microsoft corporate policy or production approval.
Public reference: Responsible AI policies - https://learn.microsoft.com/en-us/azure/cloud-adoption-framework/ai/responsible-ai-policies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Walk through the five stages. Ask which stage currently has the biggest uncertainty.
Point participants to workbook pages 2-5 for scoping, 6-7 for preparation, 8-10 for running/testing, and 11-12 for handoff.
A high score never proves readiness. A demo never proves production safety. A proposed support route never guarantees an engagement.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Public reference: Manage AI agents across your organization - https://learn.microsoft.com/en-us/azure/cloud-adoption-framework/ai-agents/integrate-manage-operate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2. Give each group 5 minutes to draft and 5 minutes to compare.
Confirm dates/time zone, remote participation, accessibility, breaks, mentors and who can stop unsafe work.
Record sponsor acceptance with a date and evidence reference. A filled-in charter is not a substitute for a sponsor decision.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Public reference: Envision and uncover high-value Power Platform use cases - https://learn.microsoft.com/en-us/power-platform/guidance/adoption/solution-envisioning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3. Ask each team to describe the path without naming a product first.
Write the intended user, business owner, sample permission, success test, baseline, human review, dependencies and exclusions.
If three MVP options are listed, select one. Brand images alone do not demonstrate a requirement for computer vision. If platform evidence is missing, leave it undecided.
Only fictional examples belong in public materials. Keep completed plans and approval evidence in your approved workspace.
These are project-authored defaults, not Microsoft corporate policy or production approval.
Public reference: Technology plan for AI agents - https://learn.microsoft.com/en-us/azure/cloud-adoption-framework/ai-agents/technology-solutions-plan-strategy
Public reference: Envision and uncover high-value Power Platform use cases - https://learn.microsoft.com/en-us/power-platform/guidance/adoption/solution-envisioning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4. These eight checks are local methodology controls, not an official Microsoft standard.
The first four require explicit factual confirmation. The remaining four also require human judgment on delivery feasibility.
Ask for a real approval reference or tested evidence, not an AI-generated statement. If scope/data/channel changes, re-check the affected evidence.
Only fictional examples belong in public materials. Keep completed plans and approval evidence in your approved workspace.
These are project-authored defaults, not Microsoft corporate policy or production approval.
Public reference: Knowledge sources summary - https://learn.microsoft.com/en-us/microsoft-copilot-studio/knowledge-copilot-studio
Public reference: Responsible AI policies - https://learn.microsoft.com/en-us/azure/cloud-adoption-framework/ai/responsible-ai-policies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5. Review the evidence for each dimension before assigning a number.
Formula: value x .40 + feasibility x .30 + data readiness x .20 + reuse x .10. Example 4,3,3,4 = 3.5. High &gt;=4, Medium &gt;=3 and &lt;4, Low &lt;3. These are project defaults, not a Microsoft rubric.
Unknown evidence stays unscored, not invented. The companion application's mock evaluator is not a reliable portfolio ranking. This exercise is manual and does not need the app.
Only fictional examples belong in public materials. Keep completed plans and approval evidence in your approved workspace.
These are project-authored defaults, not Microsoft corporate policy or production approval.
Public reference: Measure and communicate business value - https://learn.microsoft.com/en-us/power-platform/guidance/adoption/business-value
Public reference: Envision and uncover high-value Power Platform use cases - https://learn.microsoft.com/en-us/power-platform/guidance/adoption/solution-envisioning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pages 6-7. Every check needs status, owner, due date, evidence, approver/date and scope.
Ask an administrator about licensing and publishing rights. Copilot Studio trial supports test chat but not publishing. A permitted recording or mock is better than bypassing policy.
DLP means data-loss-prevention policy. Never disable it to rescue the schedule. Test access with an intended participant, including denied information, not only an admin account.
Only fictional examples belong in public materials. Keep completed plans and approval evidence in your approved workspace.
These are project-authored defaults, not Microsoft corporate policy or production approval.
Public reference: Copilot Studio licensing and subscriptions - https://learn.microsoft.com/en-us/microsoft-copilot-studio/requirements-licensing-subscriptions
Public reference: Work with Power Platform environments - https://learn.microsoft.com/en-us/microsoft-copilot-studio/environments-first-run-experience
Public reference: Configure data policies for agents - https://learn.microsoft.com/en-us/microsoft-copilot-studio/admin-data-loss-prevention
Public reference: Connect and configure an agent for Teams and Microsoft 365 Copilot - https://learn.microsoft.com/en-us/microsoft-copilot-studio/publication-add-bot-to-microsoft-teams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pages 8-9. Treat the sample times as planning defaults, not a fixed commitment.
Confirm fallback by end of Day 1. Mentors guide instead of taking over the team's keyboard. Record blocker ownership and a decision due time.
If unsafe access or data use is discovered, stop that affected activity and notify the designated contact. Do not mark the check as passed just to preserve the agenda.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pages 8 and 10. Test before polishing the presentation. Preserve failures and not-run tests.
Readout: problem, useful path, evidence, demonstrated outcome versus estimated benefit, limitations, then a next-step/pilot ask.
Check the permitted audience for screenshots and recordings. The prototype is not approved for production by virtue of being demoed.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9. Ask one team to describe a blocker without proposing an unsafe workaround.
Record the case, observed impact, accountable owner, due date, permitted fallback and resolution evidence.
After a scope/data/channel change, previous approval is not automatically current. Reconfirm affected checks. The facilitator reconciles the working copy instead of deleting earlier decisions.
Only fictional examples belong in public materials. Keep completed plans and approval evidence in your approved workspace.
These are project-authored defaults, not Microsoft corporate policy or production approval.
Public reference: Responsible AI policies - https://learn.microsoft.com/en-us/azure/cloud-adoption-framework/ai/responsible-ai-policies
Public reference: Manage AI agents across your organization - https://learn.microsoft.com/en-us/azure/cloud-adoption-framework/ai-agents/integrate-manage-operate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10. The six categories are useful path; missing/denied information; out-of-scope; adversarial/misleading input; wrong/unsupported answer; consequential-action approval.
For each test capture expected and observed behavior, reviewer/date, evidence and any retest action.
If reporting a rate, state numerator, denominator, sample, conditions and review method. Software tests or a plausible response do not establish model accuracy.
Only fictional examples belong in public materials. Keep completed plans and approval evidence in your approved workspace.
These are project-authored defaults, not Microsoft corporate policy or production approval.
Public reference: Knowledge sources summary - https://learn.microsoft.com/en-us/microsoft-copilot-studio/knowledge-copilot-studio
Public reference: Responsible AI policies - https://learn.microsoft.com/en-us/azure/cloud-adoption-framework/ai/responsible-ai-policies
Public reference: Measure and communicate business value - https://learn.microsoft.com/en-us/power-platform/guidance/adoption/business-value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pages 11-12. Even a stopped case needs an owner, learning record and dated cleanup action.
Four closure checks: test evidence; demo/judging readout; exit ownership; retention/cleanup ownership. Continuing cases also need cohort, scope, success criteria, funding and risk review.
Follow-on program names, eligibility and delivery commitments must be confirmed by the actual engagement owner. A score is never an entitlement.
At the value check-in, compare a documented baseline with actual pilot results; retain costs, failures, sample size and limitations. The 30-day timing is a project default.
Only fictional examples belong in public materials. Keep completed plans and approval evidence in your approved workspace.
These are project-authored defaults, not Microsoft corporate policy or production approval.
Public reference: Manage AI agents across your organization - https://learn.microsoft.com/en-us/azure/cloud-adoption-framework/ai-agents/integrate-manage-operate
Public reference: Measure and communicate business value - https://learn.microsoft.com/en-us/power-platform/guidance/adoption/business-value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Use workbook page 13. Give teams 5 minutes to discuss the example. It is intentionally not ready for selection.
The invented example is a teaching aid. Do not mistake the description of five synthetic FAQs for actual approval to use a chosen data source.
Expected tests: answer covered questions with the correct source, acknowledge uncovered questions and preserve the intended access boundary. Baseline and achieved savings are unmeasured.
Only fictional examples belong in public materials. Keep completed plans and approval evidence in your approved workspace.
These are project-authored defaults, not Microsoft corporate policy or production approval.
Public reference: Technology plan for AI agents - https://learn.microsoft.com/en-us/azure/cloud-adoption-framework/ai-agents/technology-solutions-plan-strategy
Public reference: Knowledge sources summary - https://learn.microsoft.com/en-us/microsoft-copilot-studio/knowledge-copilot-studio
Public reference: Measure and communicate business value - https://learn.microsoft.com/en-us/power-platform/guidance/adoption/business-value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The full 12-source list is in the Word/PDF workbook. Public reference pack review date: 9 September 2026.
Weights, schedule, eight qualification conditions and the runbook are local project controls, not official Microsoft corporate requirements.
Public availability of this material is not Microsoft endorsement, a product listing or an official hackathon submission.
Only fictional examples belong in public materials. Keep completed plans and approval evidence in your approved workspace.
These are project-authored defaults, not Microsoft corporate policy or production approval.
Public reference: Organize hackathons - https://learn.microsoft.com/en-us/power-platform/guidance/adoption/hackathons
Public reference: Envision and uncover high-value Power Platform use cases - https://learn.microsoft.com/en-us/power-platform/guidance/adoption/solution-envisioning
Public reference: Copilot Studio licensing and subscriptions - https://learn.microsoft.com/en-us/microsoft-copilot-studio/requirements-licensing-subscriptions
Public reference: Configure data policies for agents - https://learn.microsoft.com/en-us/microsoft-copilot-studio/admin-data-loss-prevention
Public reference: Responsible AI policies - https://learn.microsoft.com/en-us/azure/cloud-adoption-framework/ai/responsible-ai-policies
Public reference: Measure and communicate business value - https://learn.microsoft.com/en-us/power-platform/guidance/adoption/business-value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NOTES - usable without the Copilot agent.
Close the discussion by asking each team to state one action, an accountable person and a calendar date.
No technical setup is required for the materials. People who want the optional agent can follow the repository README later.
Use synthetic examples when sharing public feedback. Do not upload completed customer workbooks or private approval references to public GitHub.
Only fictional examples belong in public materials. Keep completed plans and approval evidence in your approved workspace.
These are project-authored defaults, not Microsoft corporate policy or production approval.
Workbook and downloads: https://github.com/HorvathDaniel-2002/hackathon-facilitator-agent/releases/latest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learn.microsoft.com/en-us/power-platform/guidance/adoption/hackathons" TargetMode="External"/><Relationship Id="rId2" Type="http://schemas.openxmlformats.org/officeDocument/2006/relationships/hyperlink" Target="https://learn.microsoft.com/en-us/power-platform/guidance/adoption/solution-envisioning" TargetMode="External"/><Relationship Id="rId3" Type="http://schemas.openxmlformats.org/officeDocument/2006/relationships/hyperlink" Target="https://learn.microsoft.com/en-us/microsoft-copilot-studio/requirements-licensing-subscriptions" TargetMode="External"/><Relationship Id="rId4" Type="http://schemas.openxmlformats.org/officeDocument/2006/relationships/hyperlink" Target="https://learn.microsoft.com/en-us/microsoft-copilot-studio/admin-data-loss-prevention" TargetMode="External"/><Relationship Id="rId5" Type="http://schemas.openxmlformats.org/officeDocument/2006/relationships/hyperlink" Target="https://learn.microsoft.com/en-us/azure/cloud-adoption-framework/ai/responsible-ai-policies" TargetMode="External"/><Relationship Id="rId6" Type="http://schemas.openxmlformats.org/officeDocument/2006/relationships/hyperlink" Target="https://learn.microsoft.com/en-us/power-platform/guidance/adoption/business-value"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HorvathDaniel-2002/hackathon-facilitator-agent/releases/latest" TargetMode="External"/><Relationship Id="rId2" Type="http://schemas.openxmlformats.org/officeDocument/2006/relationships/hyperlink" Target="https://github.com/HorvathDaniel-2002/hackathon-facilitator-agent"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D24"/>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C4DACB"/>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1152144"/>
          </a:xfrm>
          <a:prstGeom prst="rect">
            <a:avLst/>
          </a:prstGeom>
          <a:noFill/>
          <a:ln/>
        </p:spPr>
        <p:txBody>
          <a:bodyPr wrap="square" lIns="0" tIns="0" rIns="0" bIns="0" rtlCol="0" anchor="t"/>
          <a:lstStyle/>
          <a:p>
            <a:pPr indent="0" marL="0">
              <a:buNone/>
            </a:pPr>
            <a:r>
              <a:rPr lang="en-US" sz="3600" b="1" dirty="0">
                <a:solidFill>
                  <a:srgbClr val="FFFFFF"/>
                </a:solidFill>
                <a:latin typeface="Trebuchet MS" pitchFamily="34" charset="0"/>
                <a:ea typeface="Trebuchet MS" pitchFamily="34" charset="-122"/>
                <a:cs typeface="Trebuchet MS" pitchFamily="34" charset="-120"/>
              </a:rPr>
              <a:t>A useful prototype.</a:t>
            </a:r>
            <a:endParaRPr lang="en-US" sz="3600" dirty="0"/>
          </a:p>
          <a:p>
            <a:pPr indent="0" marL="0">
              <a:buNone/>
            </a:pPr>
            <a:r>
              <a:rPr lang="en-US" sz="3600" b="1" dirty="0">
                <a:solidFill>
                  <a:srgbClr val="FFFFFF"/>
                </a:solidFill>
                <a:latin typeface="Trebuchet MS" pitchFamily="34" charset="0"/>
                <a:ea typeface="Trebuchet MS" pitchFamily="34" charset="-122"/>
                <a:cs typeface="Trebuchet MS" pitchFamily="34" charset="-120"/>
              </a:rPr>
              <a:t>An accountable next step.</a:t>
            </a:r>
            <a:endParaRPr lang="en-US" sz="3600" dirty="0"/>
          </a:p>
        </p:txBody>
      </p:sp>
      <p:sp>
        <p:nvSpPr>
          <p:cNvPr id="4" name="Text 2"/>
          <p:cNvSpPr/>
          <p:nvPr/>
        </p:nvSpPr>
        <p:spPr>
          <a:xfrm>
            <a:off x="548640" y="2130552"/>
            <a:ext cx="10972800" cy="457200"/>
          </a:xfrm>
          <a:prstGeom prst="rect">
            <a:avLst/>
          </a:prstGeom>
          <a:noFill/>
          <a:ln/>
        </p:spPr>
        <p:txBody>
          <a:bodyPr wrap="square" lIns="0" tIns="0" rIns="0" bIns="0" rtlCol="0" anchor="t"/>
          <a:lstStyle/>
          <a:p>
            <a:pPr indent="0" marL="0">
              <a:buNone/>
            </a:pPr>
            <a:r>
              <a:rPr lang="en-US" sz="1900" dirty="0">
                <a:solidFill>
                  <a:srgbClr val="D9E6DC"/>
                </a:solidFill>
                <a:latin typeface="Calibri" pitchFamily="34" charset="0"/>
                <a:ea typeface="Calibri" pitchFamily="34" charset="-122"/>
                <a:cs typeface="Calibri" pitchFamily="34" charset="-120"/>
              </a:rPr>
              <a:t>Run the discussion with Word, PowerPoint or paper. The agent is optional.</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C4DACB"/>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C4DACB"/>
                </a:solidFill>
                <a:latin typeface="Calibri" pitchFamily="34" charset="0"/>
                <a:ea typeface="Calibri" pitchFamily="34" charset="-122"/>
                <a:cs typeface="Calibri" pitchFamily="34" charset="-120"/>
              </a:rPr>
              <a:t>1</a:t>
            </a:r>
            <a:endParaRPr lang="en-US" sz="1100" dirty="0"/>
          </a:p>
        </p:txBody>
      </p:sp>
      <p:sp>
        <p:nvSpPr>
          <p:cNvPr id="7" name="Shape 5"/>
          <p:cNvSpPr/>
          <p:nvPr/>
        </p:nvSpPr>
        <p:spPr>
          <a:xfrm>
            <a:off x="548640" y="2852928"/>
            <a:ext cx="3493008" cy="2487168"/>
          </a:xfrm>
          <a:prstGeom prst="roundRect">
            <a:avLst>
              <a:gd name="adj" fmla="val 4412"/>
            </a:avLst>
          </a:prstGeom>
          <a:solidFill>
            <a:srgbClr val="24553C"/>
          </a:solidFill>
          <a:ln w="12700">
            <a:solidFill>
              <a:srgbClr val="24553C"/>
            </a:solidFill>
            <a:prstDash val="solid"/>
          </a:ln>
        </p:spPr>
      </p:sp>
      <p:sp>
        <p:nvSpPr>
          <p:cNvPr id="8" name="Text 6"/>
          <p:cNvSpPr/>
          <p:nvPr/>
        </p:nvSpPr>
        <p:spPr>
          <a:xfrm>
            <a:off x="777240" y="3063240"/>
            <a:ext cx="3035808" cy="502920"/>
          </a:xfrm>
          <a:prstGeom prst="rect">
            <a:avLst/>
          </a:prstGeom>
          <a:noFill/>
          <a:ln/>
        </p:spPr>
        <p:txBody>
          <a:bodyPr wrap="square" lIns="0" tIns="0" rIns="0" bIns="0" rtlCol="0" anchor="t"/>
          <a:lstStyle/>
          <a:p>
            <a:pPr indent="0" marL="0">
              <a:buNone/>
            </a:pPr>
            <a:r>
              <a:rPr lang="en-US" sz="2300" b="1" dirty="0">
                <a:solidFill>
                  <a:srgbClr val="FFFFFF"/>
                </a:solidFill>
                <a:latin typeface="Trebuchet MS" pitchFamily="34" charset="0"/>
                <a:ea typeface="Trebuchet MS" pitchFamily="34" charset="-122"/>
                <a:cs typeface="Trebuchet MS" pitchFamily="34" charset="-120"/>
              </a:rPr>
              <a:t>FRAME</a:t>
            </a:r>
            <a:endParaRPr lang="en-US" sz="2300" dirty="0"/>
          </a:p>
        </p:txBody>
      </p:sp>
      <p:sp>
        <p:nvSpPr>
          <p:cNvPr id="9" name="Text 7"/>
          <p:cNvSpPr/>
          <p:nvPr/>
        </p:nvSpPr>
        <p:spPr>
          <a:xfrm>
            <a:off x="777240" y="3758184"/>
            <a:ext cx="3035808" cy="1389888"/>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Agree the outcome.</a:t>
            </a:r>
            <a:endParaRPr lang="en-US" sz="1900" dirty="0"/>
          </a:p>
          <a:p>
            <a:pPr indent="0" marL="0">
              <a:buNone/>
            </a:pPr>
            <a:r>
              <a:rPr lang="en-US" sz="1900" dirty="0">
                <a:solidFill>
                  <a:srgbClr val="FFFFFF"/>
                </a:solidFill>
                <a:latin typeface="Calibri" pitchFamily="34" charset="0"/>
                <a:ea typeface="Calibri" pitchFamily="34" charset="-122"/>
                <a:cs typeface="Calibri" pitchFamily="34" charset="-120"/>
              </a:rPr>
              <a:t>Choose one useful path.</a:t>
            </a:r>
            <a:endParaRPr lang="en-US" sz="1900" dirty="0"/>
          </a:p>
        </p:txBody>
      </p:sp>
      <p:sp>
        <p:nvSpPr>
          <p:cNvPr id="10" name="Shape 8"/>
          <p:cNvSpPr/>
          <p:nvPr/>
        </p:nvSpPr>
        <p:spPr>
          <a:xfrm>
            <a:off x="4352544" y="2852928"/>
            <a:ext cx="3493008" cy="2487168"/>
          </a:xfrm>
          <a:prstGeom prst="roundRect">
            <a:avLst>
              <a:gd name="adj" fmla="val 4412"/>
            </a:avLst>
          </a:prstGeom>
          <a:solidFill>
            <a:srgbClr val="DCE9DD"/>
          </a:solidFill>
          <a:ln w="12700">
            <a:solidFill>
              <a:srgbClr val="DCE9DD"/>
            </a:solidFill>
            <a:prstDash val="solid"/>
          </a:ln>
        </p:spPr>
      </p:sp>
      <p:sp>
        <p:nvSpPr>
          <p:cNvPr id="11" name="Text 9"/>
          <p:cNvSpPr/>
          <p:nvPr/>
        </p:nvSpPr>
        <p:spPr>
          <a:xfrm>
            <a:off x="4581144" y="3063240"/>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PROVE</a:t>
            </a:r>
            <a:endParaRPr lang="en-US" sz="2300" dirty="0"/>
          </a:p>
        </p:txBody>
      </p:sp>
      <p:sp>
        <p:nvSpPr>
          <p:cNvPr id="12" name="Text 10"/>
          <p:cNvSpPr/>
          <p:nvPr/>
        </p:nvSpPr>
        <p:spPr>
          <a:xfrm>
            <a:off x="4581144" y="3758184"/>
            <a:ext cx="3035808" cy="138988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Use permitted samples.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Show evidence and limits.</a:t>
            </a:r>
            <a:endParaRPr lang="en-US" sz="1900" dirty="0"/>
          </a:p>
        </p:txBody>
      </p:sp>
      <p:sp>
        <p:nvSpPr>
          <p:cNvPr id="13" name="Shape 11"/>
          <p:cNvSpPr/>
          <p:nvPr/>
        </p:nvSpPr>
        <p:spPr>
          <a:xfrm>
            <a:off x="8156448" y="2852928"/>
            <a:ext cx="3493008" cy="2487168"/>
          </a:xfrm>
          <a:prstGeom prst="roundRect">
            <a:avLst>
              <a:gd name="adj" fmla="val 4412"/>
            </a:avLst>
          </a:prstGeom>
          <a:solidFill>
            <a:srgbClr val="F0EDDD"/>
          </a:solidFill>
          <a:ln w="12700">
            <a:solidFill>
              <a:srgbClr val="F0EDDD"/>
            </a:solidFill>
            <a:prstDash val="solid"/>
          </a:ln>
        </p:spPr>
      </p:sp>
      <p:sp>
        <p:nvSpPr>
          <p:cNvPr id="14" name="Text 12"/>
          <p:cNvSpPr/>
          <p:nvPr/>
        </p:nvSpPr>
        <p:spPr>
          <a:xfrm>
            <a:off x="8385048" y="3063240"/>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HAND OVER</a:t>
            </a:r>
            <a:endParaRPr lang="en-US" sz="2300" dirty="0"/>
          </a:p>
        </p:txBody>
      </p:sp>
      <p:sp>
        <p:nvSpPr>
          <p:cNvPr id="15" name="Text 13"/>
          <p:cNvSpPr/>
          <p:nvPr/>
        </p:nvSpPr>
        <p:spPr>
          <a:xfrm>
            <a:off x="8385048" y="3758184"/>
            <a:ext cx="3035808" cy="138988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Name an owner.</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Set a calendar date.</a:t>
            </a:r>
            <a:endParaRPr lang="en-US" sz="1900" dirty="0"/>
          </a:p>
        </p:txBody>
      </p:sp>
      <p:sp>
        <p:nvSpPr>
          <p:cNvPr id="16" name="Text 14"/>
          <p:cNvSpPr/>
          <p:nvPr/>
        </p:nvSpPr>
        <p:spPr>
          <a:xfrm>
            <a:off x="594360" y="5797296"/>
            <a:ext cx="10789920" cy="347472"/>
          </a:xfrm>
          <a:prstGeom prst="rect">
            <a:avLst/>
          </a:prstGeom>
          <a:noFill/>
          <a:ln/>
        </p:spPr>
        <p:txBody>
          <a:bodyPr wrap="square" lIns="0" tIns="0" rIns="0" bIns="0" rtlCol="0" anchor="t"/>
          <a:lstStyle/>
          <a:p>
            <a:pPr indent="0" marL="0">
              <a:buNone/>
            </a:pPr>
            <a:r>
              <a:rPr lang="en-US" sz="1600" dirty="0">
                <a:solidFill>
                  <a:srgbClr val="D9E6DC"/>
                </a:solidFill>
                <a:latin typeface="Calibri" pitchFamily="34" charset="0"/>
                <a:ea typeface="Calibri" pitchFamily="34" charset="-122"/>
                <a:cs typeface="Calibri" pitchFamily="34" charset="-120"/>
              </a:rPr>
              <a:t>Fictional examples only. Not an official Microsoft product.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No installation. Just a shared plan.</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Pick the file that matches the way you want to work.</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2</a:t>
            </a:r>
            <a:endParaRPr lang="en-US" sz="1100" dirty="0"/>
          </a:p>
        </p:txBody>
      </p:sp>
      <p:sp>
        <p:nvSpPr>
          <p:cNvPr id="7" name="Shape 5"/>
          <p:cNvSpPr/>
          <p:nvPr/>
        </p:nvSpPr>
        <p:spPr>
          <a:xfrm>
            <a:off x="548640" y="2724912"/>
            <a:ext cx="3493008" cy="2651760"/>
          </a:xfrm>
          <a:prstGeom prst="roundRect">
            <a:avLst>
              <a:gd name="adj" fmla="val 4138"/>
            </a:avLst>
          </a:prstGeom>
          <a:solidFill>
            <a:srgbClr val="FFFFFF"/>
          </a:solidFill>
          <a:ln w="12700">
            <a:solidFill>
              <a:srgbClr val="FFFFFF"/>
            </a:solidFill>
            <a:prstDash val="solid"/>
          </a:ln>
        </p:spPr>
      </p:sp>
      <p:sp>
        <p:nvSpPr>
          <p:cNvPr id="8" name="Text 6"/>
          <p:cNvSpPr/>
          <p:nvPr/>
        </p:nvSpPr>
        <p:spPr>
          <a:xfrm>
            <a:off x="777240"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WORD</a:t>
            </a:r>
            <a:endParaRPr lang="en-US" sz="2300" dirty="0"/>
          </a:p>
        </p:txBody>
      </p:sp>
      <p:sp>
        <p:nvSpPr>
          <p:cNvPr id="9" name="Text 7"/>
          <p:cNvSpPr/>
          <p:nvPr/>
        </p:nvSpPr>
        <p:spPr>
          <a:xfrm>
            <a:off x="777240" y="3630168"/>
            <a:ext cx="3035808" cy="155448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Fill the templates.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Duplicate a page per team.</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Keep decisions together.</a:t>
            </a:r>
            <a:endParaRPr lang="en-US" sz="1900" dirty="0"/>
          </a:p>
        </p:txBody>
      </p:sp>
      <p:sp>
        <p:nvSpPr>
          <p:cNvPr id="10" name="Shape 8"/>
          <p:cNvSpPr/>
          <p:nvPr/>
        </p:nvSpPr>
        <p:spPr>
          <a:xfrm>
            <a:off x="4352544" y="2724912"/>
            <a:ext cx="3493008" cy="2651760"/>
          </a:xfrm>
          <a:prstGeom prst="roundRect">
            <a:avLst>
              <a:gd name="adj" fmla="val 4138"/>
            </a:avLst>
          </a:prstGeom>
          <a:solidFill>
            <a:srgbClr val="FFFFFF"/>
          </a:solidFill>
          <a:ln w="12700">
            <a:solidFill>
              <a:srgbClr val="FFFFFF"/>
            </a:solidFill>
            <a:prstDash val="solid"/>
          </a:ln>
        </p:spPr>
      </p:sp>
      <p:sp>
        <p:nvSpPr>
          <p:cNvPr id="11" name="Text 9"/>
          <p:cNvSpPr/>
          <p:nvPr/>
        </p:nvSpPr>
        <p:spPr>
          <a:xfrm>
            <a:off x="4581144"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POWERPOINT</a:t>
            </a:r>
            <a:endParaRPr lang="en-US" sz="2300" dirty="0"/>
          </a:p>
        </p:txBody>
      </p:sp>
      <p:sp>
        <p:nvSpPr>
          <p:cNvPr id="12" name="Text 10"/>
          <p:cNvSpPr/>
          <p:nvPr/>
        </p:nvSpPr>
        <p:spPr>
          <a:xfrm>
            <a:off x="4581144" y="3630168"/>
            <a:ext cx="3035808" cy="155448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Lead the conversation.</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Edit the slides.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Use the speaker notes.</a:t>
            </a:r>
            <a:endParaRPr lang="en-US" sz="1900" dirty="0"/>
          </a:p>
        </p:txBody>
      </p:sp>
      <p:sp>
        <p:nvSpPr>
          <p:cNvPr id="13" name="Shape 11"/>
          <p:cNvSpPr/>
          <p:nvPr/>
        </p:nvSpPr>
        <p:spPr>
          <a:xfrm>
            <a:off x="8156448" y="2724912"/>
            <a:ext cx="3493008" cy="2651760"/>
          </a:xfrm>
          <a:prstGeom prst="roundRect">
            <a:avLst>
              <a:gd name="adj" fmla="val 4138"/>
            </a:avLst>
          </a:prstGeom>
          <a:solidFill>
            <a:srgbClr val="FFFFFF"/>
          </a:solidFill>
          <a:ln w="12700">
            <a:solidFill>
              <a:srgbClr val="FFFFFF"/>
            </a:solidFill>
            <a:prstDash val="solid"/>
          </a:ln>
        </p:spPr>
      </p:sp>
      <p:sp>
        <p:nvSpPr>
          <p:cNvPr id="14" name="Text 12"/>
          <p:cNvSpPr/>
          <p:nvPr/>
        </p:nvSpPr>
        <p:spPr>
          <a:xfrm>
            <a:off x="8385048"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PDF</a:t>
            </a:r>
            <a:endParaRPr lang="en-US" sz="2300" dirty="0"/>
          </a:p>
        </p:txBody>
      </p:sp>
      <p:sp>
        <p:nvSpPr>
          <p:cNvPr id="15" name="Text 13"/>
          <p:cNvSpPr/>
          <p:nvPr/>
        </p:nvSpPr>
        <p:spPr>
          <a:xfrm>
            <a:off x="8385048" y="3630168"/>
            <a:ext cx="3035808" cy="155448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Read or print.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Share an approved copy.</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No agent or Copilot needed.</a:t>
            </a:r>
            <a:endParaRPr lang="en-US" sz="1900" dirty="0"/>
          </a:p>
        </p:txBody>
      </p:sp>
      <p:sp>
        <p:nvSpPr>
          <p:cNvPr id="16" name="Text 14"/>
          <p:cNvSpPr/>
          <p:nvPr/>
        </p:nvSpPr>
        <p:spPr>
          <a:xfrm>
            <a:off x="594360" y="5669280"/>
            <a:ext cx="10972800" cy="438912"/>
          </a:xfrm>
          <a:prstGeom prst="rect">
            <a:avLst/>
          </a:prstGeom>
          <a:noFill/>
          <a:ln/>
        </p:spPr>
        <p:txBody>
          <a:bodyPr wrap="square" lIns="0" tIns="0" rIns="0" bIns="0" rtlCol="0" anchor="t"/>
          <a:lstStyle/>
          <a:p>
            <a:pPr indent="0" marL="0">
              <a:buNone/>
            </a:pPr>
            <a:r>
              <a:rPr lang="en-US" sz="1800" b="1" dirty="0">
                <a:solidFill>
                  <a:srgbClr val="162D24"/>
                </a:solidFill>
                <a:latin typeface="Calibri" pitchFamily="34" charset="0"/>
                <a:ea typeface="Calibri" pitchFamily="34" charset="-122"/>
                <a:cs typeface="Calibri" pitchFamily="34" charset="-120"/>
              </a:rPr>
              <a:t>Keep real/customer data, drafts and test evidence off public GitHub. Use an approved workspace.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Five moments that keep teams aligned</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The event is one part of the lifecycle, not the finish line.</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3</a:t>
            </a:r>
            <a:endParaRPr lang="en-US" sz="1100" dirty="0"/>
          </a:p>
        </p:txBody>
      </p:sp>
      <p:sp>
        <p:nvSpPr>
          <p:cNvPr id="7" name="Shape 5"/>
          <p:cNvSpPr/>
          <p:nvPr/>
        </p:nvSpPr>
        <p:spPr>
          <a:xfrm>
            <a:off x="548640" y="2862072"/>
            <a:ext cx="2011680" cy="2816352"/>
          </a:xfrm>
          <a:prstGeom prst="roundRect">
            <a:avLst>
              <a:gd name="adj" fmla="val 5455"/>
            </a:avLst>
          </a:prstGeom>
          <a:solidFill>
            <a:srgbClr val="FFFFFF"/>
          </a:solidFill>
          <a:ln w="12700">
            <a:solidFill>
              <a:srgbClr val="FFFFFF"/>
            </a:solidFill>
            <a:prstDash val="solid"/>
          </a:ln>
        </p:spPr>
      </p:sp>
      <p:sp>
        <p:nvSpPr>
          <p:cNvPr id="8" name="Text 6"/>
          <p:cNvSpPr/>
          <p:nvPr/>
        </p:nvSpPr>
        <p:spPr>
          <a:xfrm>
            <a:off x="749808" y="3108960"/>
            <a:ext cx="1554480" cy="548640"/>
          </a:xfrm>
          <a:prstGeom prst="rect">
            <a:avLst/>
          </a:prstGeom>
          <a:noFill/>
          <a:ln/>
        </p:spPr>
        <p:txBody>
          <a:bodyPr wrap="square" lIns="0" tIns="0" rIns="0" bIns="0" rtlCol="0" anchor="t"/>
          <a:lstStyle/>
          <a:p>
            <a:pPr indent="0" marL="0">
              <a:buNone/>
            </a:pPr>
            <a:r>
              <a:rPr lang="en-US" sz="3300" b="1" dirty="0">
                <a:solidFill>
                  <a:srgbClr val="24553C"/>
                </a:solidFill>
                <a:latin typeface="Calibri" pitchFamily="34" charset="0"/>
                <a:ea typeface="Calibri" pitchFamily="34" charset="-122"/>
                <a:cs typeface="Calibri" pitchFamily="34" charset="-120"/>
              </a:rPr>
              <a:t>01</a:t>
            </a:r>
            <a:endParaRPr lang="en-US" sz="3300" dirty="0"/>
          </a:p>
        </p:txBody>
      </p:sp>
      <p:sp>
        <p:nvSpPr>
          <p:cNvPr id="9" name="Text 7"/>
          <p:cNvSpPr/>
          <p:nvPr/>
        </p:nvSpPr>
        <p:spPr>
          <a:xfrm>
            <a:off x="749808" y="3858768"/>
            <a:ext cx="1645920" cy="438912"/>
          </a:xfrm>
          <a:prstGeom prst="rect">
            <a:avLst/>
          </a:prstGeom>
          <a:noFill/>
          <a:ln/>
        </p:spPr>
        <p:txBody>
          <a:bodyPr wrap="square" lIns="0" tIns="0" rIns="0" bIns="0" rtlCol="0" anchor="t"/>
          <a:lstStyle/>
          <a:p>
            <a:pPr indent="0" marL="0">
              <a:buNone/>
            </a:pPr>
            <a:r>
              <a:rPr lang="en-US" sz="2000" b="1" dirty="0">
                <a:solidFill>
                  <a:srgbClr val="162D24"/>
                </a:solidFill>
                <a:latin typeface="Calibri" pitchFamily="34" charset="0"/>
                <a:ea typeface="Calibri" pitchFamily="34" charset="-122"/>
                <a:cs typeface="Calibri" pitchFamily="34" charset="-120"/>
              </a:rPr>
              <a:t>Charter</a:t>
            </a:r>
            <a:endParaRPr lang="en-US" sz="2000" dirty="0"/>
          </a:p>
        </p:txBody>
      </p:sp>
      <p:sp>
        <p:nvSpPr>
          <p:cNvPr id="10" name="Text 8"/>
          <p:cNvSpPr/>
          <p:nvPr/>
        </p:nvSpPr>
        <p:spPr>
          <a:xfrm>
            <a:off x="749808" y="4562856"/>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Outcome, people</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and boundaries</a:t>
            </a:r>
            <a:endParaRPr lang="en-US" sz="1600" dirty="0"/>
          </a:p>
        </p:txBody>
      </p:sp>
      <p:sp>
        <p:nvSpPr>
          <p:cNvPr id="11" name="Shape 9"/>
          <p:cNvSpPr/>
          <p:nvPr/>
        </p:nvSpPr>
        <p:spPr>
          <a:xfrm>
            <a:off x="2816352" y="2862072"/>
            <a:ext cx="2011680" cy="2816352"/>
          </a:xfrm>
          <a:prstGeom prst="roundRect">
            <a:avLst>
              <a:gd name="adj" fmla="val 5455"/>
            </a:avLst>
          </a:prstGeom>
          <a:solidFill>
            <a:srgbClr val="EAF2EB"/>
          </a:solidFill>
          <a:ln w="12700">
            <a:solidFill>
              <a:srgbClr val="EAF2EB"/>
            </a:solidFill>
            <a:prstDash val="solid"/>
          </a:ln>
        </p:spPr>
      </p:sp>
      <p:sp>
        <p:nvSpPr>
          <p:cNvPr id="12" name="Text 10"/>
          <p:cNvSpPr/>
          <p:nvPr/>
        </p:nvSpPr>
        <p:spPr>
          <a:xfrm>
            <a:off x="3017520" y="3108960"/>
            <a:ext cx="1554480" cy="548640"/>
          </a:xfrm>
          <a:prstGeom prst="rect">
            <a:avLst/>
          </a:prstGeom>
          <a:noFill/>
          <a:ln/>
        </p:spPr>
        <p:txBody>
          <a:bodyPr wrap="square" lIns="0" tIns="0" rIns="0" bIns="0" rtlCol="0" anchor="t"/>
          <a:lstStyle/>
          <a:p>
            <a:pPr indent="0" marL="0">
              <a:buNone/>
            </a:pPr>
            <a:r>
              <a:rPr lang="en-US" sz="3300" b="1" dirty="0">
                <a:solidFill>
                  <a:srgbClr val="24553C"/>
                </a:solidFill>
                <a:latin typeface="Calibri" pitchFamily="34" charset="0"/>
                <a:ea typeface="Calibri" pitchFamily="34" charset="-122"/>
                <a:cs typeface="Calibri" pitchFamily="34" charset="-120"/>
              </a:rPr>
              <a:t>02</a:t>
            </a:r>
            <a:endParaRPr lang="en-US" sz="3300" dirty="0"/>
          </a:p>
        </p:txBody>
      </p:sp>
      <p:sp>
        <p:nvSpPr>
          <p:cNvPr id="13" name="Text 11"/>
          <p:cNvSpPr/>
          <p:nvPr/>
        </p:nvSpPr>
        <p:spPr>
          <a:xfrm>
            <a:off x="3017520" y="3858768"/>
            <a:ext cx="1645920" cy="438912"/>
          </a:xfrm>
          <a:prstGeom prst="rect">
            <a:avLst/>
          </a:prstGeom>
          <a:noFill/>
          <a:ln/>
        </p:spPr>
        <p:txBody>
          <a:bodyPr wrap="square" lIns="0" tIns="0" rIns="0" bIns="0" rtlCol="0" anchor="t"/>
          <a:lstStyle/>
          <a:p>
            <a:pPr indent="0" marL="0">
              <a:buNone/>
            </a:pPr>
            <a:r>
              <a:rPr lang="en-US" sz="2000" b="1" dirty="0">
                <a:solidFill>
                  <a:srgbClr val="162D24"/>
                </a:solidFill>
                <a:latin typeface="Calibri" pitchFamily="34" charset="0"/>
                <a:ea typeface="Calibri" pitchFamily="34" charset="-122"/>
                <a:cs typeface="Calibri" pitchFamily="34" charset="-120"/>
              </a:rPr>
              <a:t>Qualify</a:t>
            </a:r>
            <a:endParaRPr lang="en-US" sz="2000" dirty="0"/>
          </a:p>
        </p:txBody>
      </p:sp>
      <p:sp>
        <p:nvSpPr>
          <p:cNvPr id="14" name="Text 12"/>
          <p:cNvSpPr/>
          <p:nvPr/>
        </p:nvSpPr>
        <p:spPr>
          <a:xfrm>
            <a:off x="3017520" y="4562856"/>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One useful path</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and explicit evidence</a:t>
            </a:r>
            <a:endParaRPr lang="en-US" sz="1600" dirty="0"/>
          </a:p>
        </p:txBody>
      </p:sp>
      <p:sp>
        <p:nvSpPr>
          <p:cNvPr id="15" name="Shape 13"/>
          <p:cNvSpPr/>
          <p:nvPr/>
        </p:nvSpPr>
        <p:spPr>
          <a:xfrm>
            <a:off x="5084064" y="2862072"/>
            <a:ext cx="2011680" cy="2816352"/>
          </a:xfrm>
          <a:prstGeom prst="roundRect">
            <a:avLst>
              <a:gd name="adj" fmla="val 5455"/>
            </a:avLst>
          </a:prstGeom>
          <a:solidFill>
            <a:srgbClr val="FFFFFF"/>
          </a:solidFill>
          <a:ln w="12700">
            <a:solidFill>
              <a:srgbClr val="FFFFFF"/>
            </a:solidFill>
            <a:prstDash val="solid"/>
          </a:ln>
        </p:spPr>
      </p:sp>
      <p:sp>
        <p:nvSpPr>
          <p:cNvPr id="16" name="Text 14"/>
          <p:cNvSpPr/>
          <p:nvPr/>
        </p:nvSpPr>
        <p:spPr>
          <a:xfrm>
            <a:off x="5285232" y="3108960"/>
            <a:ext cx="1554480" cy="548640"/>
          </a:xfrm>
          <a:prstGeom prst="rect">
            <a:avLst/>
          </a:prstGeom>
          <a:noFill/>
          <a:ln/>
        </p:spPr>
        <p:txBody>
          <a:bodyPr wrap="square" lIns="0" tIns="0" rIns="0" bIns="0" rtlCol="0" anchor="t"/>
          <a:lstStyle/>
          <a:p>
            <a:pPr indent="0" marL="0">
              <a:buNone/>
            </a:pPr>
            <a:r>
              <a:rPr lang="en-US" sz="3300" b="1" dirty="0">
                <a:solidFill>
                  <a:srgbClr val="24553C"/>
                </a:solidFill>
                <a:latin typeface="Calibri" pitchFamily="34" charset="0"/>
                <a:ea typeface="Calibri" pitchFamily="34" charset="-122"/>
                <a:cs typeface="Calibri" pitchFamily="34" charset="-120"/>
              </a:rPr>
              <a:t>03</a:t>
            </a:r>
            <a:endParaRPr lang="en-US" sz="3300" dirty="0"/>
          </a:p>
        </p:txBody>
      </p:sp>
      <p:sp>
        <p:nvSpPr>
          <p:cNvPr id="17" name="Text 15"/>
          <p:cNvSpPr/>
          <p:nvPr/>
        </p:nvSpPr>
        <p:spPr>
          <a:xfrm>
            <a:off x="5285232" y="3858768"/>
            <a:ext cx="1645920" cy="438912"/>
          </a:xfrm>
          <a:prstGeom prst="rect">
            <a:avLst/>
          </a:prstGeom>
          <a:noFill/>
          <a:ln/>
        </p:spPr>
        <p:txBody>
          <a:bodyPr wrap="square" lIns="0" tIns="0" rIns="0" bIns="0" rtlCol="0" anchor="t"/>
          <a:lstStyle/>
          <a:p>
            <a:pPr indent="0" marL="0">
              <a:buNone/>
            </a:pPr>
            <a:r>
              <a:rPr lang="en-US" sz="2000" b="1" dirty="0">
                <a:solidFill>
                  <a:srgbClr val="162D24"/>
                </a:solidFill>
                <a:latin typeface="Calibri" pitchFamily="34" charset="0"/>
                <a:ea typeface="Calibri" pitchFamily="34" charset="-122"/>
                <a:cs typeface="Calibri" pitchFamily="34" charset="-120"/>
              </a:rPr>
              <a:t>Prepare</a:t>
            </a:r>
            <a:endParaRPr lang="en-US" sz="2000" dirty="0"/>
          </a:p>
        </p:txBody>
      </p:sp>
      <p:sp>
        <p:nvSpPr>
          <p:cNvPr id="18" name="Text 16"/>
          <p:cNvSpPr/>
          <p:nvPr/>
        </p:nvSpPr>
        <p:spPr>
          <a:xfrm>
            <a:off x="5285232" y="4562856"/>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Access, sample</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and dry run</a:t>
            </a:r>
            <a:endParaRPr lang="en-US" sz="1600" dirty="0"/>
          </a:p>
        </p:txBody>
      </p:sp>
      <p:sp>
        <p:nvSpPr>
          <p:cNvPr id="19" name="Shape 17"/>
          <p:cNvSpPr/>
          <p:nvPr/>
        </p:nvSpPr>
        <p:spPr>
          <a:xfrm>
            <a:off x="7351776" y="2862072"/>
            <a:ext cx="2011680" cy="2816352"/>
          </a:xfrm>
          <a:prstGeom prst="roundRect">
            <a:avLst>
              <a:gd name="adj" fmla="val 5455"/>
            </a:avLst>
          </a:prstGeom>
          <a:solidFill>
            <a:srgbClr val="EAF2EB"/>
          </a:solidFill>
          <a:ln w="12700">
            <a:solidFill>
              <a:srgbClr val="EAF2EB"/>
            </a:solidFill>
            <a:prstDash val="solid"/>
          </a:ln>
        </p:spPr>
      </p:sp>
      <p:sp>
        <p:nvSpPr>
          <p:cNvPr id="20" name="Text 18"/>
          <p:cNvSpPr/>
          <p:nvPr/>
        </p:nvSpPr>
        <p:spPr>
          <a:xfrm>
            <a:off x="7552944" y="3108960"/>
            <a:ext cx="1554480" cy="548640"/>
          </a:xfrm>
          <a:prstGeom prst="rect">
            <a:avLst/>
          </a:prstGeom>
          <a:noFill/>
          <a:ln/>
        </p:spPr>
        <p:txBody>
          <a:bodyPr wrap="square" lIns="0" tIns="0" rIns="0" bIns="0" rtlCol="0" anchor="t"/>
          <a:lstStyle/>
          <a:p>
            <a:pPr indent="0" marL="0">
              <a:buNone/>
            </a:pPr>
            <a:r>
              <a:rPr lang="en-US" sz="3300" b="1" dirty="0">
                <a:solidFill>
                  <a:srgbClr val="24553C"/>
                </a:solidFill>
                <a:latin typeface="Calibri" pitchFamily="34" charset="0"/>
                <a:ea typeface="Calibri" pitchFamily="34" charset="-122"/>
                <a:cs typeface="Calibri" pitchFamily="34" charset="-120"/>
              </a:rPr>
              <a:t>04</a:t>
            </a:r>
            <a:endParaRPr lang="en-US" sz="3300" dirty="0"/>
          </a:p>
        </p:txBody>
      </p:sp>
      <p:sp>
        <p:nvSpPr>
          <p:cNvPr id="21" name="Text 19"/>
          <p:cNvSpPr/>
          <p:nvPr/>
        </p:nvSpPr>
        <p:spPr>
          <a:xfrm>
            <a:off x="7552944" y="3858768"/>
            <a:ext cx="1645920" cy="438912"/>
          </a:xfrm>
          <a:prstGeom prst="rect">
            <a:avLst/>
          </a:prstGeom>
          <a:noFill/>
          <a:ln/>
        </p:spPr>
        <p:txBody>
          <a:bodyPr wrap="square" lIns="0" tIns="0" rIns="0" bIns="0" rtlCol="0" anchor="t"/>
          <a:lstStyle/>
          <a:p>
            <a:pPr indent="0" marL="0">
              <a:buNone/>
            </a:pPr>
            <a:r>
              <a:rPr lang="en-US" sz="2000" b="1" dirty="0">
                <a:solidFill>
                  <a:srgbClr val="162D24"/>
                </a:solidFill>
                <a:latin typeface="Calibri" pitchFamily="34" charset="0"/>
                <a:ea typeface="Calibri" pitchFamily="34" charset="-122"/>
                <a:cs typeface="Calibri" pitchFamily="34" charset="-120"/>
              </a:rPr>
              <a:t>Build + test</a:t>
            </a:r>
            <a:endParaRPr lang="en-US" sz="2000" dirty="0"/>
          </a:p>
        </p:txBody>
      </p:sp>
      <p:sp>
        <p:nvSpPr>
          <p:cNvPr id="22" name="Text 20"/>
          <p:cNvSpPr/>
          <p:nvPr/>
        </p:nvSpPr>
        <p:spPr>
          <a:xfrm>
            <a:off x="7552944" y="4562856"/>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Working proof</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and known limits</a:t>
            </a:r>
            <a:endParaRPr lang="en-US" sz="1600" dirty="0"/>
          </a:p>
        </p:txBody>
      </p:sp>
      <p:sp>
        <p:nvSpPr>
          <p:cNvPr id="23" name="Shape 21"/>
          <p:cNvSpPr/>
          <p:nvPr/>
        </p:nvSpPr>
        <p:spPr>
          <a:xfrm>
            <a:off x="9619488" y="2862072"/>
            <a:ext cx="2011680" cy="2816352"/>
          </a:xfrm>
          <a:prstGeom prst="roundRect">
            <a:avLst>
              <a:gd name="adj" fmla="val 5455"/>
            </a:avLst>
          </a:prstGeom>
          <a:solidFill>
            <a:srgbClr val="FFFFFF"/>
          </a:solidFill>
          <a:ln w="12700">
            <a:solidFill>
              <a:srgbClr val="FFFFFF"/>
            </a:solidFill>
            <a:prstDash val="solid"/>
          </a:ln>
        </p:spPr>
      </p:sp>
      <p:sp>
        <p:nvSpPr>
          <p:cNvPr id="24" name="Text 22"/>
          <p:cNvSpPr/>
          <p:nvPr/>
        </p:nvSpPr>
        <p:spPr>
          <a:xfrm>
            <a:off x="9820656" y="3108960"/>
            <a:ext cx="1554480" cy="548640"/>
          </a:xfrm>
          <a:prstGeom prst="rect">
            <a:avLst/>
          </a:prstGeom>
          <a:noFill/>
          <a:ln/>
        </p:spPr>
        <p:txBody>
          <a:bodyPr wrap="square" lIns="0" tIns="0" rIns="0" bIns="0" rtlCol="0" anchor="t"/>
          <a:lstStyle/>
          <a:p>
            <a:pPr indent="0" marL="0">
              <a:buNone/>
            </a:pPr>
            <a:r>
              <a:rPr lang="en-US" sz="3300" b="1" dirty="0">
                <a:solidFill>
                  <a:srgbClr val="24553C"/>
                </a:solidFill>
                <a:latin typeface="Calibri" pitchFamily="34" charset="0"/>
                <a:ea typeface="Calibri" pitchFamily="34" charset="-122"/>
                <a:cs typeface="Calibri" pitchFamily="34" charset="-120"/>
              </a:rPr>
              <a:t>05</a:t>
            </a:r>
            <a:endParaRPr lang="en-US" sz="3300" dirty="0"/>
          </a:p>
        </p:txBody>
      </p:sp>
      <p:sp>
        <p:nvSpPr>
          <p:cNvPr id="25" name="Text 23"/>
          <p:cNvSpPr/>
          <p:nvPr/>
        </p:nvSpPr>
        <p:spPr>
          <a:xfrm>
            <a:off x="9820656" y="3858768"/>
            <a:ext cx="1645920" cy="438912"/>
          </a:xfrm>
          <a:prstGeom prst="rect">
            <a:avLst/>
          </a:prstGeom>
          <a:noFill/>
          <a:ln/>
        </p:spPr>
        <p:txBody>
          <a:bodyPr wrap="square" lIns="0" tIns="0" rIns="0" bIns="0" rtlCol="0" anchor="t"/>
          <a:lstStyle/>
          <a:p>
            <a:pPr indent="0" marL="0">
              <a:buNone/>
            </a:pPr>
            <a:r>
              <a:rPr lang="en-US" sz="2000" b="1" dirty="0">
                <a:solidFill>
                  <a:srgbClr val="162D24"/>
                </a:solidFill>
                <a:latin typeface="Calibri" pitchFamily="34" charset="0"/>
                <a:ea typeface="Calibri" pitchFamily="34" charset="-122"/>
                <a:cs typeface="Calibri" pitchFamily="34" charset="-120"/>
              </a:rPr>
              <a:t>Follow through</a:t>
            </a:r>
            <a:endParaRPr lang="en-US" sz="2000" dirty="0"/>
          </a:p>
        </p:txBody>
      </p:sp>
      <p:sp>
        <p:nvSpPr>
          <p:cNvPr id="26" name="Text 24"/>
          <p:cNvSpPr/>
          <p:nvPr/>
        </p:nvSpPr>
        <p:spPr>
          <a:xfrm>
            <a:off x="9820656" y="4562856"/>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Owner, date</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and measured value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Agree the charter before choosing tools</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10-minute activity: write one answer in each box, then name the decision owner.</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4</a:t>
            </a:r>
            <a:endParaRPr lang="en-US" sz="1100" dirty="0"/>
          </a:p>
        </p:txBody>
      </p:sp>
      <p:sp>
        <p:nvSpPr>
          <p:cNvPr id="7" name="Shape 5"/>
          <p:cNvSpPr/>
          <p:nvPr/>
        </p:nvSpPr>
        <p:spPr>
          <a:xfrm>
            <a:off x="548640" y="2697480"/>
            <a:ext cx="5394960" cy="1389888"/>
          </a:xfrm>
          <a:prstGeom prst="roundRect">
            <a:avLst>
              <a:gd name="adj" fmla="val 7895"/>
            </a:avLst>
          </a:prstGeom>
          <a:solidFill>
            <a:srgbClr val="EAF2EB"/>
          </a:solidFill>
          <a:ln w="12700">
            <a:solidFill>
              <a:srgbClr val="EAF2EB"/>
            </a:solidFill>
            <a:prstDash val="solid"/>
          </a:ln>
        </p:spPr>
      </p:sp>
      <p:sp>
        <p:nvSpPr>
          <p:cNvPr id="8" name="Text 6"/>
          <p:cNvSpPr/>
          <p:nvPr/>
        </p:nvSpPr>
        <p:spPr>
          <a:xfrm>
            <a:off x="777240"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OUTCOME</a:t>
            </a:r>
            <a:endParaRPr lang="en-US" sz="2300" dirty="0"/>
          </a:p>
        </p:txBody>
      </p:sp>
      <p:sp>
        <p:nvSpPr>
          <p:cNvPr id="9" name="Text 7"/>
          <p:cNvSpPr/>
          <p:nvPr/>
        </p:nvSpPr>
        <p:spPr>
          <a:xfrm>
            <a:off x="777240" y="3602736"/>
            <a:ext cx="4937760" cy="29260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What changes for which users?</a:t>
            </a:r>
            <a:endParaRPr lang="en-US" sz="1900" dirty="0"/>
          </a:p>
        </p:txBody>
      </p:sp>
      <p:sp>
        <p:nvSpPr>
          <p:cNvPr id="10" name="Shape 8"/>
          <p:cNvSpPr/>
          <p:nvPr/>
        </p:nvSpPr>
        <p:spPr>
          <a:xfrm>
            <a:off x="6245352" y="2697480"/>
            <a:ext cx="5394960" cy="1389888"/>
          </a:xfrm>
          <a:prstGeom prst="roundRect">
            <a:avLst>
              <a:gd name="adj" fmla="val 7895"/>
            </a:avLst>
          </a:prstGeom>
          <a:solidFill>
            <a:srgbClr val="FFFFFF"/>
          </a:solidFill>
          <a:ln w="12700">
            <a:solidFill>
              <a:srgbClr val="FFFFFF"/>
            </a:solidFill>
            <a:prstDash val="solid"/>
          </a:ln>
        </p:spPr>
      </p:sp>
      <p:sp>
        <p:nvSpPr>
          <p:cNvPr id="11" name="Text 9"/>
          <p:cNvSpPr/>
          <p:nvPr/>
        </p:nvSpPr>
        <p:spPr>
          <a:xfrm>
            <a:off x="6473952"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PEOPLE</a:t>
            </a:r>
            <a:endParaRPr lang="en-US" sz="2300" dirty="0"/>
          </a:p>
        </p:txBody>
      </p:sp>
      <p:sp>
        <p:nvSpPr>
          <p:cNvPr id="12" name="Text 10"/>
          <p:cNvSpPr/>
          <p:nvPr/>
        </p:nvSpPr>
        <p:spPr>
          <a:xfrm>
            <a:off x="6473952" y="3602736"/>
            <a:ext cx="4937760" cy="29260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Who sponsors, builds, reviews and decides?</a:t>
            </a:r>
            <a:endParaRPr lang="en-US" sz="1900" dirty="0"/>
          </a:p>
        </p:txBody>
      </p:sp>
      <p:sp>
        <p:nvSpPr>
          <p:cNvPr id="13" name="Shape 11"/>
          <p:cNvSpPr/>
          <p:nvPr/>
        </p:nvSpPr>
        <p:spPr>
          <a:xfrm>
            <a:off x="548640" y="4407408"/>
            <a:ext cx="5394960" cy="1389888"/>
          </a:xfrm>
          <a:prstGeom prst="roundRect">
            <a:avLst>
              <a:gd name="adj" fmla="val 7895"/>
            </a:avLst>
          </a:prstGeom>
          <a:solidFill>
            <a:srgbClr val="FFFFFF"/>
          </a:solidFill>
          <a:ln w="12700">
            <a:solidFill>
              <a:srgbClr val="FFFFFF"/>
            </a:solidFill>
            <a:prstDash val="solid"/>
          </a:ln>
        </p:spPr>
      </p:sp>
      <p:sp>
        <p:nvSpPr>
          <p:cNvPr id="14" name="Text 12"/>
          <p:cNvSpPr/>
          <p:nvPr/>
        </p:nvSpPr>
        <p:spPr>
          <a:xfrm>
            <a:off x="777240" y="4617720"/>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BOUNDARIES</a:t>
            </a:r>
            <a:endParaRPr lang="en-US" sz="2300" dirty="0"/>
          </a:p>
        </p:txBody>
      </p:sp>
      <p:sp>
        <p:nvSpPr>
          <p:cNvPr id="15" name="Text 13"/>
          <p:cNvSpPr/>
          <p:nvPr/>
        </p:nvSpPr>
        <p:spPr>
          <a:xfrm>
            <a:off x="777240" y="5312664"/>
            <a:ext cx="4937760" cy="29260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What is not in scope? What data is permitted?</a:t>
            </a:r>
            <a:endParaRPr lang="en-US" sz="1900" dirty="0"/>
          </a:p>
        </p:txBody>
      </p:sp>
      <p:sp>
        <p:nvSpPr>
          <p:cNvPr id="16" name="Shape 14"/>
          <p:cNvSpPr/>
          <p:nvPr/>
        </p:nvSpPr>
        <p:spPr>
          <a:xfrm>
            <a:off x="6245352" y="4407408"/>
            <a:ext cx="5394960" cy="1389888"/>
          </a:xfrm>
          <a:prstGeom prst="roundRect">
            <a:avLst>
              <a:gd name="adj" fmla="val 7895"/>
            </a:avLst>
          </a:prstGeom>
          <a:solidFill>
            <a:srgbClr val="EAF2EB"/>
          </a:solidFill>
          <a:ln w="12700">
            <a:solidFill>
              <a:srgbClr val="EAF2EB"/>
            </a:solidFill>
            <a:prstDash val="solid"/>
          </a:ln>
        </p:spPr>
      </p:sp>
      <p:sp>
        <p:nvSpPr>
          <p:cNvPr id="17" name="Text 15"/>
          <p:cNvSpPr/>
          <p:nvPr/>
        </p:nvSpPr>
        <p:spPr>
          <a:xfrm>
            <a:off x="6473952" y="4617720"/>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PROOF</a:t>
            </a:r>
            <a:endParaRPr lang="en-US" sz="2300" dirty="0"/>
          </a:p>
        </p:txBody>
      </p:sp>
      <p:sp>
        <p:nvSpPr>
          <p:cNvPr id="18" name="Text 16"/>
          <p:cNvSpPr/>
          <p:nvPr/>
        </p:nvSpPr>
        <p:spPr>
          <a:xfrm>
            <a:off x="6473952" y="5312664"/>
            <a:ext cx="4937760" cy="29260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What would count as a useful result?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Make the case small enough to demo</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One input. One useful path. One reviewable output.</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5</a:t>
            </a:r>
            <a:endParaRPr lang="en-US" sz="1100" dirty="0"/>
          </a:p>
        </p:txBody>
      </p:sp>
      <p:sp>
        <p:nvSpPr>
          <p:cNvPr id="7" name="Shape 5"/>
          <p:cNvSpPr/>
          <p:nvPr/>
        </p:nvSpPr>
        <p:spPr>
          <a:xfrm>
            <a:off x="548640" y="2743200"/>
            <a:ext cx="3493008" cy="2395728"/>
          </a:xfrm>
          <a:prstGeom prst="roundRect">
            <a:avLst>
              <a:gd name="adj" fmla="val 4580"/>
            </a:avLst>
          </a:prstGeom>
          <a:solidFill>
            <a:srgbClr val="EAF2EB"/>
          </a:solidFill>
          <a:ln w="12700">
            <a:solidFill>
              <a:srgbClr val="EAF2EB"/>
            </a:solidFill>
            <a:prstDash val="solid"/>
          </a:ln>
        </p:spPr>
      </p:sp>
      <p:sp>
        <p:nvSpPr>
          <p:cNvPr id="8" name="Text 6"/>
          <p:cNvSpPr/>
          <p:nvPr/>
        </p:nvSpPr>
        <p:spPr>
          <a:xfrm>
            <a:off x="777240" y="2953512"/>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INPUT</a:t>
            </a:r>
            <a:endParaRPr lang="en-US" sz="2300" dirty="0"/>
          </a:p>
        </p:txBody>
      </p:sp>
      <p:sp>
        <p:nvSpPr>
          <p:cNvPr id="9" name="Text 7"/>
          <p:cNvSpPr/>
          <p:nvPr/>
        </p:nvSpPr>
        <p:spPr>
          <a:xfrm>
            <a:off x="777240" y="3648456"/>
            <a:ext cx="3035808" cy="129844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A permitted sample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with an approved source.</a:t>
            </a:r>
            <a:endParaRPr lang="en-US" sz="1900" dirty="0"/>
          </a:p>
        </p:txBody>
      </p:sp>
      <p:sp>
        <p:nvSpPr>
          <p:cNvPr id="10" name="Shape 8"/>
          <p:cNvSpPr/>
          <p:nvPr/>
        </p:nvSpPr>
        <p:spPr>
          <a:xfrm>
            <a:off x="4352544" y="2743200"/>
            <a:ext cx="3493008" cy="2395728"/>
          </a:xfrm>
          <a:prstGeom prst="roundRect">
            <a:avLst>
              <a:gd name="adj" fmla="val 4580"/>
            </a:avLst>
          </a:prstGeom>
          <a:solidFill>
            <a:srgbClr val="FFFFFF"/>
          </a:solidFill>
          <a:ln w="12700">
            <a:solidFill>
              <a:srgbClr val="FFFFFF"/>
            </a:solidFill>
            <a:prstDash val="solid"/>
          </a:ln>
        </p:spPr>
      </p:sp>
      <p:sp>
        <p:nvSpPr>
          <p:cNvPr id="11" name="Text 9"/>
          <p:cNvSpPr/>
          <p:nvPr/>
        </p:nvSpPr>
        <p:spPr>
          <a:xfrm>
            <a:off x="4581144" y="2953512"/>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USEFUL PATH</a:t>
            </a:r>
            <a:endParaRPr lang="en-US" sz="2300" dirty="0"/>
          </a:p>
        </p:txBody>
      </p:sp>
      <p:sp>
        <p:nvSpPr>
          <p:cNvPr id="12" name="Text 10"/>
          <p:cNvSpPr/>
          <p:nvPr/>
        </p:nvSpPr>
        <p:spPr>
          <a:xfrm>
            <a:off x="4581144" y="3648456"/>
            <a:ext cx="3035808" cy="129844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The smallest task that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helps the intended user.</a:t>
            </a:r>
            <a:endParaRPr lang="en-US" sz="1900" dirty="0"/>
          </a:p>
        </p:txBody>
      </p:sp>
      <p:sp>
        <p:nvSpPr>
          <p:cNvPr id="13" name="Shape 11"/>
          <p:cNvSpPr/>
          <p:nvPr/>
        </p:nvSpPr>
        <p:spPr>
          <a:xfrm>
            <a:off x="8156448" y="2743200"/>
            <a:ext cx="3493008" cy="2395728"/>
          </a:xfrm>
          <a:prstGeom prst="roundRect">
            <a:avLst>
              <a:gd name="adj" fmla="val 4580"/>
            </a:avLst>
          </a:prstGeom>
          <a:solidFill>
            <a:srgbClr val="EAF2EB"/>
          </a:solidFill>
          <a:ln w="12700">
            <a:solidFill>
              <a:srgbClr val="EAF2EB"/>
            </a:solidFill>
            <a:prstDash val="solid"/>
          </a:ln>
        </p:spPr>
      </p:sp>
      <p:sp>
        <p:nvSpPr>
          <p:cNvPr id="14" name="Text 12"/>
          <p:cNvSpPr/>
          <p:nvPr/>
        </p:nvSpPr>
        <p:spPr>
          <a:xfrm>
            <a:off x="8385048" y="2953512"/>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OUTPUT</a:t>
            </a:r>
            <a:endParaRPr lang="en-US" sz="2300" dirty="0"/>
          </a:p>
        </p:txBody>
      </p:sp>
      <p:sp>
        <p:nvSpPr>
          <p:cNvPr id="15" name="Text 13"/>
          <p:cNvSpPr/>
          <p:nvPr/>
        </p:nvSpPr>
        <p:spPr>
          <a:xfrm>
            <a:off x="8385048" y="3648456"/>
            <a:ext cx="3035808" cy="129844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A result a human can</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check against a test.</a:t>
            </a:r>
            <a:endParaRPr lang="en-US" sz="1900" dirty="0"/>
          </a:p>
        </p:txBody>
      </p:sp>
      <p:sp>
        <p:nvSpPr>
          <p:cNvPr id="16" name="Text 14"/>
          <p:cNvSpPr/>
          <p:nvPr/>
        </p:nvSpPr>
        <p:spPr>
          <a:xfrm>
            <a:off x="594360" y="5486400"/>
            <a:ext cx="10972800" cy="548640"/>
          </a:xfrm>
          <a:prstGeom prst="rect">
            <a:avLst/>
          </a:prstGeom>
          <a:noFill/>
          <a:ln/>
        </p:spPr>
        <p:txBody>
          <a:bodyPr wrap="square" lIns="0" tIns="0" rIns="0" bIns="0" rtlCol="0" anchor="t"/>
          <a:lstStyle/>
          <a:p>
            <a:pPr indent="0" marL="0">
              <a:buNone/>
            </a:pPr>
            <a:r>
              <a:rPr lang="en-US" sz="2100" b="1" dirty="0">
                <a:solidFill>
                  <a:srgbClr val="162D24"/>
                </a:solidFill>
                <a:latin typeface="Calibri" pitchFamily="34" charset="0"/>
                <a:ea typeface="Calibri" pitchFamily="34" charset="-122"/>
                <a:cs typeface="Calibri" pitchFamily="34" charset="-120"/>
              </a:rPr>
              <a:t>Before custom build: could a simpler process, existing search or an approved feature solve this?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Unknown is not ready</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Eight qualification checks. Record evidence, reviewer, date and scope.</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6</a:t>
            </a:r>
            <a:endParaRPr lang="en-US" sz="1100" dirty="0"/>
          </a:p>
        </p:txBody>
      </p:sp>
      <p:sp>
        <p:nvSpPr>
          <p:cNvPr id="7" name="Shape 5"/>
          <p:cNvSpPr/>
          <p:nvPr/>
        </p:nvSpPr>
        <p:spPr>
          <a:xfrm>
            <a:off x="548640" y="2697480"/>
            <a:ext cx="5394960" cy="2898648"/>
          </a:xfrm>
          <a:prstGeom prst="roundRect">
            <a:avLst>
              <a:gd name="adj" fmla="val 3785"/>
            </a:avLst>
          </a:prstGeom>
          <a:solidFill>
            <a:srgbClr val="EAF2EB"/>
          </a:solidFill>
          <a:ln w="12700">
            <a:solidFill>
              <a:srgbClr val="EAF2EB"/>
            </a:solidFill>
            <a:prstDash val="solid"/>
          </a:ln>
        </p:spPr>
      </p:sp>
      <p:sp>
        <p:nvSpPr>
          <p:cNvPr id="8" name="Text 6"/>
          <p:cNvSpPr/>
          <p:nvPr/>
        </p:nvSpPr>
        <p:spPr>
          <a:xfrm>
            <a:off x="777240"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FACTS TO CONFIRM</a:t>
            </a:r>
            <a:endParaRPr lang="en-US" sz="2300" dirty="0"/>
          </a:p>
        </p:txBody>
      </p:sp>
      <p:sp>
        <p:nvSpPr>
          <p:cNvPr id="9" name="Text 7"/>
          <p:cNvSpPr/>
          <p:nvPr/>
        </p:nvSpPr>
        <p:spPr>
          <a:xfrm>
            <a:off x="777240" y="3602736"/>
            <a:ext cx="4937760" cy="18013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Named business owner</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Process-owner attendance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Approved, usable sample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Human review or read-only boundary</a:t>
            </a:r>
            <a:endParaRPr lang="en-US" sz="1900" dirty="0"/>
          </a:p>
        </p:txBody>
      </p:sp>
      <p:sp>
        <p:nvSpPr>
          <p:cNvPr id="10" name="Shape 8"/>
          <p:cNvSpPr/>
          <p:nvPr/>
        </p:nvSpPr>
        <p:spPr>
          <a:xfrm>
            <a:off x="6245352" y="2697480"/>
            <a:ext cx="5394960" cy="2898648"/>
          </a:xfrm>
          <a:prstGeom prst="roundRect">
            <a:avLst>
              <a:gd name="adj" fmla="val 3785"/>
            </a:avLst>
          </a:prstGeom>
          <a:solidFill>
            <a:srgbClr val="FFFFFF"/>
          </a:solidFill>
          <a:ln w="12700">
            <a:solidFill>
              <a:srgbClr val="FFFFFF"/>
            </a:solidFill>
            <a:prstDash val="solid"/>
          </a:ln>
        </p:spPr>
      </p:sp>
      <p:sp>
        <p:nvSpPr>
          <p:cNvPr id="11" name="Text 9"/>
          <p:cNvSpPr/>
          <p:nvPr/>
        </p:nvSpPr>
        <p:spPr>
          <a:xfrm>
            <a:off x="6473952"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JUDGMENTS TO REVIEW</a:t>
            </a:r>
            <a:endParaRPr lang="en-US" sz="2300" dirty="0"/>
          </a:p>
        </p:txBody>
      </p:sp>
      <p:sp>
        <p:nvSpPr>
          <p:cNvPr id="12" name="Text 10"/>
          <p:cNvSpPr/>
          <p:nvPr/>
        </p:nvSpPr>
        <p:spPr>
          <a:xfrm>
            <a:off x="6473952" y="3602736"/>
            <a:ext cx="4937760" cy="18013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One useful path is demoable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Production dependencies can be mocked</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Access is resolved or safely mocked</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Prototype, not production rollout</a:t>
            </a:r>
            <a:endParaRPr lang="en-US" sz="1900" dirty="0"/>
          </a:p>
        </p:txBody>
      </p:sp>
      <p:sp>
        <p:nvSpPr>
          <p:cNvPr id="13" name="Text 11"/>
          <p:cNvSpPr/>
          <p:nvPr/>
        </p:nvSpPr>
        <p:spPr>
          <a:xfrm>
            <a:off x="594360" y="5870448"/>
            <a:ext cx="10972800" cy="347472"/>
          </a:xfrm>
          <a:prstGeom prst="rect">
            <a:avLst/>
          </a:prstGeom>
          <a:noFill/>
          <a:ln/>
        </p:spPr>
        <p:txBody>
          <a:bodyPr wrap="square" lIns="0" tIns="0" rIns="0" bIns="0" rtlCol="0" anchor="t"/>
          <a:lstStyle/>
          <a:p>
            <a:pPr indent="0" marL="0">
              <a:buNone/>
            </a:pPr>
            <a:r>
              <a:rPr lang="en-US" sz="1700" b="1" dirty="0">
                <a:solidFill>
                  <a:srgbClr val="162D24"/>
                </a:solidFill>
                <a:latin typeface="Calibri" pitchFamily="34" charset="0"/>
                <a:ea typeface="Calibri" pitchFamily="34" charset="-122"/>
                <a:cs typeface="Calibri" pitchFamily="34" charset="-120"/>
              </a:rPr>
              <a:t>Pass / Not met / Unknown. Resolve, re-scope or defer; never let a score override a missing condition.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Compare value only after qualification</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Optional project rubric. Customer priority and votes remain separate.</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7</a:t>
            </a:r>
            <a:endParaRPr lang="en-US" sz="1100" dirty="0"/>
          </a:p>
        </p:txBody>
      </p:sp>
      <p:sp>
        <p:nvSpPr>
          <p:cNvPr id="7" name="Text 5"/>
          <p:cNvSpPr/>
          <p:nvPr/>
        </p:nvSpPr>
        <p:spPr>
          <a:xfrm>
            <a:off x="594360" y="2798064"/>
            <a:ext cx="2743200" cy="320040"/>
          </a:xfrm>
          <a:prstGeom prst="rect">
            <a:avLst/>
          </a:prstGeom>
          <a:noFill/>
          <a:ln/>
        </p:spPr>
        <p:txBody>
          <a:bodyPr wrap="square" lIns="0" tIns="0" rIns="0" bIns="0" rtlCol="0" anchor="t"/>
          <a:lstStyle/>
          <a:p>
            <a:pPr indent="0" marL="0">
              <a:buNone/>
            </a:pPr>
            <a:r>
              <a:rPr lang="en-US" sz="2100" dirty="0">
                <a:solidFill>
                  <a:srgbClr val="162D24"/>
                </a:solidFill>
                <a:latin typeface="Calibri" pitchFamily="34" charset="0"/>
                <a:ea typeface="Calibri" pitchFamily="34" charset="-122"/>
                <a:cs typeface="Calibri" pitchFamily="34" charset="-120"/>
              </a:rPr>
              <a:t>Business value</a:t>
            </a:r>
            <a:endParaRPr lang="en-US" sz="2100" dirty="0"/>
          </a:p>
        </p:txBody>
      </p:sp>
      <p:sp>
        <p:nvSpPr>
          <p:cNvPr id="8" name="Shape 6"/>
          <p:cNvSpPr/>
          <p:nvPr/>
        </p:nvSpPr>
        <p:spPr>
          <a:xfrm>
            <a:off x="3566160" y="2734056"/>
            <a:ext cx="3840480" cy="438912"/>
          </a:xfrm>
          <a:prstGeom prst="rect">
            <a:avLst>
              <a:gd name="adj" fmla="val 25000"/>
            </a:avLst>
          </a:prstGeom>
          <a:solidFill>
            <a:srgbClr val="24553C"/>
          </a:solidFill>
          <a:ln w="12700">
            <a:solidFill>
              <a:srgbClr val="24553C"/>
            </a:solidFill>
            <a:prstDash val="solid"/>
          </a:ln>
        </p:spPr>
      </p:sp>
      <p:sp>
        <p:nvSpPr>
          <p:cNvPr id="9" name="Text 7"/>
          <p:cNvSpPr/>
          <p:nvPr/>
        </p:nvSpPr>
        <p:spPr>
          <a:xfrm>
            <a:off x="7726680" y="2798064"/>
            <a:ext cx="960120" cy="320040"/>
          </a:xfrm>
          <a:prstGeom prst="rect">
            <a:avLst/>
          </a:prstGeom>
          <a:noFill/>
          <a:ln/>
        </p:spPr>
        <p:txBody>
          <a:bodyPr wrap="square" lIns="0" tIns="0" rIns="0" bIns="0" rtlCol="0" anchor="t"/>
          <a:lstStyle/>
          <a:p>
            <a:pPr indent="0" marL="0">
              <a:buNone/>
            </a:pPr>
            <a:r>
              <a:rPr lang="en-US" sz="2100" b="1" dirty="0">
                <a:solidFill>
                  <a:srgbClr val="24553C"/>
                </a:solidFill>
                <a:latin typeface="Calibri" pitchFamily="34" charset="0"/>
                <a:ea typeface="Calibri" pitchFamily="34" charset="-122"/>
                <a:cs typeface="Calibri" pitchFamily="34" charset="-120"/>
              </a:rPr>
              <a:t>40%</a:t>
            </a:r>
            <a:endParaRPr lang="en-US" sz="2100" dirty="0"/>
          </a:p>
        </p:txBody>
      </p:sp>
      <p:sp>
        <p:nvSpPr>
          <p:cNvPr id="10" name="Text 8"/>
          <p:cNvSpPr/>
          <p:nvPr/>
        </p:nvSpPr>
        <p:spPr>
          <a:xfrm>
            <a:off x="594360" y="3493008"/>
            <a:ext cx="2743200" cy="320040"/>
          </a:xfrm>
          <a:prstGeom prst="rect">
            <a:avLst/>
          </a:prstGeom>
          <a:noFill/>
          <a:ln/>
        </p:spPr>
        <p:txBody>
          <a:bodyPr wrap="square" lIns="0" tIns="0" rIns="0" bIns="0" rtlCol="0" anchor="t"/>
          <a:lstStyle/>
          <a:p>
            <a:pPr indent="0" marL="0">
              <a:buNone/>
            </a:pPr>
            <a:r>
              <a:rPr lang="en-US" sz="2100" dirty="0">
                <a:solidFill>
                  <a:srgbClr val="162D24"/>
                </a:solidFill>
                <a:latin typeface="Calibri" pitchFamily="34" charset="0"/>
                <a:ea typeface="Calibri" pitchFamily="34" charset="-122"/>
                <a:cs typeface="Calibri" pitchFamily="34" charset="-120"/>
              </a:rPr>
              <a:t>Feasibility</a:t>
            </a:r>
            <a:endParaRPr lang="en-US" sz="2100" dirty="0"/>
          </a:p>
        </p:txBody>
      </p:sp>
      <p:sp>
        <p:nvSpPr>
          <p:cNvPr id="11" name="Shape 9"/>
          <p:cNvSpPr/>
          <p:nvPr/>
        </p:nvSpPr>
        <p:spPr>
          <a:xfrm>
            <a:off x="3566160" y="3429000"/>
            <a:ext cx="2880360" cy="438912"/>
          </a:xfrm>
          <a:prstGeom prst="rect">
            <a:avLst>
              <a:gd name="adj" fmla="val 25000"/>
            </a:avLst>
          </a:prstGeom>
          <a:solidFill>
            <a:srgbClr val="24553C"/>
          </a:solidFill>
          <a:ln w="12700">
            <a:solidFill>
              <a:srgbClr val="24553C"/>
            </a:solidFill>
            <a:prstDash val="solid"/>
          </a:ln>
        </p:spPr>
      </p:sp>
      <p:sp>
        <p:nvSpPr>
          <p:cNvPr id="12" name="Text 10"/>
          <p:cNvSpPr/>
          <p:nvPr/>
        </p:nvSpPr>
        <p:spPr>
          <a:xfrm>
            <a:off x="7726680" y="3493008"/>
            <a:ext cx="960120" cy="320040"/>
          </a:xfrm>
          <a:prstGeom prst="rect">
            <a:avLst/>
          </a:prstGeom>
          <a:noFill/>
          <a:ln/>
        </p:spPr>
        <p:txBody>
          <a:bodyPr wrap="square" lIns="0" tIns="0" rIns="0" bIns="0" rtlCol="0" anchor="t"/>
          <a:lstStyle/>
          <a:p>
            <a:pPr indent="0" marL="0">
              <a:buNone/>
            </a:pPr>
            <a:r>
              <a:rPr lang="en-US" sz="2100" b="1" dirty="0">
                <a:solidFill>
                  <a:srgbClr val="24553C"/>
                </a:solidFill>
                <a:latin typeface="Calibri" pitchFamily="34" charset="0"/>
                <a:ea typeface="Calibri" pitchFamily="34" charset="-122"/>
                <a:cs typeface="Calibri" pitchFamily="34" charset="-120"/>
              </a:rPr>
              <a:t>30%</a:t>
            </a:r>
            <a:endParaRPr lang="en-US" sz="2100" dirty="0"/>
          </a:p>
        </p:txBody>
      </p:sp>
      <p:sp>
        <p:nvSpPr>
          <p:cNvPr id="13" name="Text 11"/>
          <p:cNvSpPr/>
          <p:nvPr/>
        </p:nvSpPr>
        <p:spPr>
          <a:xfrm>
            <a:off x="594360" y="4187952"/>
            <a:ext cx="2743200" cy="320040"/>
          </a:xfrm>
          <a:prstGeom prst="rect">
            <a:avLst/>
          </a:prstGeom>
          <a:noFill/>
          <a:ln/>
        </p:spPr>
        <p:txBody>
          <a:bodyPr wrap="square" lIns="0" tIns="0" rIns="0" bIns="0" rtlCol="0" anchor="t"/>
          <a:lstStyle/>
          <a:p>
            <a:pPr indent="0" marL="0">
              <a:buNone/>
            </a:pPr>
            <a:r>
              <a:rPr lang="en-US" sz="2100" dirty="0">
                <a:solidFill>
                  <a:srgbClr val="162D24"/>
                </a:solidFill>
                <a:latin typeface="Calibri" pitchFamily="34" charset="0"/>
                <a:ea typeface="Calibri" pitchFamily="34" charset="-122"/>
                <a:cs typeface="Calibri" pitchFamily="34" charset="-120"/>
              </a:rPr>
              <a:t>Data readiness</a:t>
            </a:r>
            <a:endParaRPr lang="en-US" sz="2100" dirty="0"/>
          </a:p>
        </p:txBody>
      </p:sp>
      <p:sp>
        <p:nvSpPr>
          <p:cNvPr id="14" name="Shape 12"/>
          <p:cNvSpPr/>
          <p:nvPr/>
        </p:nvSpPr>
        <p:spPr>
          <a:xfrm>
            <a:off x="3566160" y="4123944"/>
            <a:ext cx="1920240" cy="438912"/>
          </a:xfrm>
          <a:prstGeom prst="rect">
            <a:avLst>
              <a:gd name="adj" fmla="val 25000"/>
            </a:avLst>
          </a:prstGeom>
          <a:solidFill>
            <a:srgbClr val="24553C"/>
          </a:solidFill>
          <a:ln w="12700">
            <a:solidFill>
              <a:srgbClr val="24553C"/>
            </a:solidFill>
            <a:prstDash val="solid"/>
          </a:ln>
        </p:spPr>
      </p:sp>
      <p:sp>
        <p:nvSpPr>
          <p:cNvPr id="15" name="Text 13"/>
          <p:cNvSpPr/>
          <p:nvPr/>
        </p:nvSpPr>
        <p:spPr>
          <a:xfrm>
            <a:off x="7726680" y="4187952"/>
            <a:ext cx="960120" cy="320040"/>
          </a:xfrm>
          <a:prstGeom prst="rect">
            <a:avLst/>
          </a:prstGeom>
          <a:noFill/>
          <a:ln/>
        </p:spPr>
        <p:txBody>
          <a:bodyPr wrap="square" lIns="0" tIns="0" rIns="0" bIns="0" rtlCol="0" anchor="t"/>
          <a:lstStyle/>
          <a:p>
            <a:pPr indent="0" marL="0">
              <a:buNone/>
            </a:pPr>
            <a:r>
              <a:rPr lang="en-US" sz="2100" b="1" dirty="0">
                <a:solidFill>
                  <a:srgbClr val="24553C"/>
                </a:solidFill>
                <a:latin typeface="Calibri" pitchFamily="34" charset="0"/>
                <a:ea typeface="Calibri" pitchFamily="34" charset="-122"/>
                <a:cs typeface="Calibri" pitchFamily="34" charset="-120"/>
              </a:rPr>
              <a:t>20%</a:t>
            </a:r>
            <a:endParaRPr lang="en-US" sz="2100" dirty="0"/>
          </a:p>
        </p:txBody>
      </p:sp>
      <p:sp>
        <p:nvSpPr>
          <p:cNvPr id="16" name="Text 14"/>
          <p:cNvSpPr/>
          <p:nvPr/>
        </p:nvSpPr>
        <p:spPr>
          <a:xfrm>
            <a:off x="594360" y="4882896"/>
            <a:ext cx="2743200" cy="320040"/>
          </a:xfrm>
          <a:prstGeom prst="rect">
            <a:avLst/>
          </a:prstGeom>
          <a:noFill/>
          <a:ln/>
        </p:spPr>
        <p:txBody>
          <a:bodyPr wrap="square" lIns="0" tIns="0" rIns="0" bIns="0" rtlCol="0" anchor="t"/>
          <a:lstStyle/>
          <a:p>
            <a:pPr indent="0" marL="0">
              <a:buNone/>
            </a:pPr>
            <a:r>
              <a:rPr lang="en-US" sz="2100" dirty="0">
                <a:solidFill>
                  <a:srgbClr val="162D24"/>
                </a:solidFill>
                <a:latin typeface="Calibri" pitchFamily="34" charset="0"/>
                <a:ea typeface="Calibri" pitchFamily="34" charset="-122"/>
                <a:cs typeface="Calibri" pitchFamily="34" charset="-120"/>
              </a:rPr>
              <a:t>Reusability</a:t>
            </a:r>
            <a:endParaRPr lang="en-US" sz="2100" dirty="0"/>
          </a:p>
        </p:txBody>
      </p:sp>
      <p:sp>
        <p:nvSpPr>
          <p:cNvPr id="17" name="Shape 15"/>
          <p:cNvSpPr/>
          <p:nvPr/>
        </p:nvSpPr>
        <p:spPr>
          <a:xfrm>
            <a:off x="3566160" y="4818888"/>
            <a:ext cx="960120" cy="438912"/>
          </a:xfrm>
          <a:prstGeom prst="rect">
            <a:avLst>
              <a:gd name="adj" fmla="val 25000"/>
            </a:avLst>
          </a:prstGeom>
          <a:solidFill>
            <a:srgbClr val="24553C"/>
          </a:solidFill>
          <a:ln w="12700">
            <a:solidFill>
              <a:srgbClr val="24553C"/>
            </a:solidFill>
            <a:prstDash val="solid"/>
          </a:ln>
        </p:spPr>
      </p:sp>
      <p:sp>
        <p:nvSpPr>
          <p:cNvPr id="18" name="Text 16"/>
          <p:cNvSpPr/>
          <p:nvPr/>
        </p:nvSpPr>
        <p:spPr>
          <a:xfrm>
            <a:off x="7726680" y="4882896"/>
            <a:ext cx="960120" cy="320040"/>
          </a:xfrm>
          <a:prstGeom prst="rect">
            <a:avLst/>
          </a:prstGeom>
          <a:noFill/>
          <a:ln/>
        </p:spPr>
        <p:txBody>
          <a:bodyPr wrap="square" lIns="0" tIns="0" rIns="0" bIns="0" rtlCol="0" anchor="t"/>
          <a:lstStyle/>
          <a:p>
            <a:pPr indent="0" marL="0">
              <a:buNone/>
            </a:pPr>
            <a:r>
              <a:rPr lang="en-US" sz="2100" b="1" dirty="0">
                <a:solidFill>
                  <a:srgbClr val="24553C"/>
                </a:solidFill>
                <a:latin typeface="Calibri" pitchFamily="34" charset="0"/>
                <a:ea typeface="Calibri" pitchFamily="34" charset="-122"/>
                <a:cs typeface="Calibri" pitchFamily="34" charset="-120"/>
              </a:rPr>
              <a:t>10%</a:t>
            </a:r>
            <a:endParaRPr lang="en-US" sz="2100" dirty="0"/>
          </a:p>
        </p:txBody>
      </p:sp>
      <p:sp>
        <p:nvSpPr>
          <p:cNvPr id="19" name="Shape 17"/>
          <p:cNvSpPr/>
          <p:nvPr/>
        </p:nvSpPr>
        <p:spPr>
          <a:xfrm>
            <a:off x="9079992" y="2688336"/>
            <a:ext cx="2560320" cy="3136392"/>
          </a:xfrm>
          <a:prstGeom prst="roundRect">
            <a:avLst>
              <a:gd name="adj" fmla="val 4286"/>
            </a:avLst>
          </a:prstGeom>
          <a:solidFill>
            <a:srgbClr val="EAF2EB"/>
          </a:solidFill>
          <a:ln w="12700">
            <a:solidFill>
              <a:srgbClr val="EAF2EB"/>
            </a:solidFill>
            <a:prstDash val="solid"/>
          </a:ln>
        </p:spPr>
      </p:sp>
      <p:sp>
        <p:nvSpPr>
          <p:cNvPr id="20" name="Text 18"/>
          <p:cNvSpPr/>
          <p:nvPr/>
        </p:nvSpPr>
        <p:spPr>
          <a:xfrm>
            <a:off x="9308592" y="2898648"/>
            <a:ext cx="210312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1-5</a:t>
            </a:r>
            <a:endParaRPr lang="en-US" sz="2300" dirty="0"/>
          </a:p>
        </p:txBody>
      </p:sp>
      <p:sp>
        <p:nvSpPr>
          <p:cNvPr id="21" name="Text 19"/>
          <p:cNvSpPr/>
          <p:nvPr/>
        </p:nvSpPr>
        <p:spPr>
          <a:xfrm>
            <a:off x="9308592" y="3593592"/>
            <a:ext cx="2103120" cy="2039112"/>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Use scores only</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with evidence.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Leave unknowns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unscored.</a:t>
            </a:r>
            <a:endParaRPr lang="en-US" sz="1900" dirty="0"/>
          </a:p>
        </p:txBody>
      </p:sp>
      <p:sp>
        <p:nvSpPr>
          <p:cNvPr id="22" name="Text 20"/>
          <p:cNvSpPr/>
          <p:nvPr/>
        </p:nvSpPr>
        <p:spPr>
          <a:xfrm>
            <a:off x="594360" y="5715000"/>
            <a:ext cx="8229600" cy="384048"/>
          </a:xfrm>
          <a:prstGeom prst="rect">
            <a:avLst/>
          </a:prstGeom>
          <a:noFill/>
          <a:ln/>
        </p:spPr>
        <p:txBody>
          <a:bodyPr wrap="square" lIns="0" tIns="0" rIns="0" bIns="0" rtlCol="0" anchor="t"/>
          <a:lstStyle/>
          <a:p>
            <a:pPr indent="0" marL="0">
              <a:buNone/>
            </a:pPr>
            <a:r>
              <a:rPr lang="en-US" sz="1700" dirty="0">
                <a:solidFill>
                  <a:srgbClr val="4B6256"/>
                </a:solidFill>
                <a:latin typeface="Calibri" pitchFamily="34" charset="0"/>
                <a:ea typeface="Calibri" pitchFamily="34" charset="-122"/>
                <a:cs typeface="Calibri" pitchFamily="34" charset="-120"/>
              </a:rPr>
              <a:t>Arithmetic example only: 4 / 3 / 3 / 4 -&gt; 3.5 out of 5. Not a real case assessment.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Prepare early; rehearse as a participant</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DLP = data-loss prevention. Use all 13 start checks; the timing below is a project default.</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8</a:t>
            </a:r>
            <a:endParaRPr lang="en-US" sz="1100" dirty="0"/>
          </a:p>
        </p:txBody>
      </p:sp>
      <p:sp>
        <p:nvSpPr>
          <p:cNvPr id="7" name="Shape 5"/>
          <p:cNvSpPr/>
          <p:nvPr/>
        </p:nvSpPr>
        <p:spPr>
          <a:xfrm>
            <a:off x="548640" y="2816352"/>
            <a:ext cx="2011680" cy="2926080"/>
          </a:xfrm>
          <a:prstGeom prst="roundRect">
            <a:avLst>
              <a:gd name="adj" fmla="val 5455"/>
            </a:avLst>
          </a:prstGeom>
          <a:solidFill>
            <a:srgbClr val="FFFFFF"/>
          </a:solidFill>
          <a:ln w="12700">
            <a:solidFill>
              <a:srgbClr val="FFFFFF"/>
            </a:solidFill>
            <a:prstDash val="solid"/>
          </a:ln>
        </p:spPr>
      </p:sp>
      <p:sp>
        <p:nvSpPr>
          <p:cNvPr id="8" name="Text 6"/>
          <p:cNvSpPr/>
          <p:nvPr/>
        </p:nvSpPr>
        <p:spPr>
          <a:xfrm>
            <a:off x="731520" y="3044952"/>
            <a:ext cx="1645920" cy="384048"/>
          </a:xfrm>
          <a:prstGeom prst="rect">
            <a:avLst/>
          </a:prstGeom>
          <a:noFill/>
          <a:ln/>
        </p:spPr>
        <p:txBody>
          <a:bodyPr wrap="square" lIns="0" tIns="0" rIns="0" bIns="0" rtlCol="0" anchor="t"/>
          <a:lstStyle/>
          <a:p>
            <a:pPr indent="0" marL="0">
              <a:buNone/>
            </a:pPr>
            <a:r>
              <a:rPr lang="en-US" sz="2300" b="1" dirty="0">
                <a:solidFill>
                  <a:srgbClr val="24553C"/>
                </a:solidFill>
                <a:latin typeface="Calibri" pitchFamily="34" charset="0"/>
                <a:ea typeface="Calibri" pitchFamily="34" charset="-122"/>
                <a:cs typeface="Calibri" pitchFamily="34" charset="-120"/>
              </a:rPr>
              <a:t>4 weeks</a:t>
            </a:r>
            <a:endParaRPr lang="en-US" sz="2300" dirty="0"/>
          </a:p>
        </p:txBody>
      </p:sp>
      <p:sp>
        <p:nvSpPr>
          <p:cNvPr id="9" name="Text 7"/>
          <p:cNvSpPr/>
          <p:nvPr/>
        </p:nvSpPr>
        <p:spPr>
          <a:xfrm>
            <a:off x="731520" y="3703320"/>
            <a:ext cx="1645920" cy="841248"/>
          </a:xfrm>
          <a:prstGeom prst="rect">
            <a:avLst/>
          </a:prstGeom>
          <a:noFill/>
          <a:ln/>
        </p:spPr>
        <p:txBody>
          <a:bodyPr wrap="square" lIns="0" tIns="0" rIns="0" bIns="0" rtlCol="0" anchor="t"/>
          <a:lstStyle/>
          <a:p>
            <a:pPr indent="0" marL="0">
              <a:buNone/>
            </a:pPr>
            <a:r>
              <a:rPr lang="en-US" sz="1900" b="1" dirty="0">
                <a:solidFill>
                  <a:srgbClr val="162D24"/>
                </a:solidFill>
                <a:latin typeface="Calibri" pitchFamily="34" charset="0"/>
                <a:ea typeface="Calibri" pitchFamily="34" charset="-122"/>
                <a:cs typeface="Calibri" pitchFamily="34" charset="-120"/>
              </a:rPr>
              <a:t>Sponsor + logistics</a:t>
            </a:r>
            <a:endParaRPr lang="en-US" sz="1900" dirty="0"/>
          </a:p>
        </p:txBody>
      </p:sp>
      <p:sp>
        <p:nvSpPr>
          <p:cNvPr id="10" name="Text 8"/>
          <p:cNvSpPr/>
          <p:nvPr/>
        </p:nvSpPr>
        <p:spPr>
          <a:xfrm>
            <a:off x="731520" y="4663440"/>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People, outcome,</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judging and venue</a:t>
            </a:r>
            <a:endParaRPr lang="en-US" sz="1600" dirty="0"/>
          </a:p>
        </p:txBody>
      </p:sp>
      <p:sp>
        <p:nvSpPr>
          <p:cNvPr id="11" name="Shape 9"/>
          <p:cNvSpPr/>
          <p:nvPr/>
        </p:nvSpPr>
        <p:spPr>
          <a:xfrm>
            <a:off x="2816352" y="2816352"/>
            <a:ext cx="2011680" cy="2926080"/>
          </a:xfrm>
          <a:prstGeom prst="roundRect">
            <a:avLst>
              <a:gd name="adj" fmla="val 5455"/>
            </a:avLst>
          </a:prstGeom>
          <a:solidFill>
            <a:srgbClr val="FFFFFF"/>
          </a:solidFill>
          <a:ln w="12700">
            <a:solidFill>
              <a:srgbClr val="FFFFFF"/>
            </a:solidFill>
            <a:prstDash val="solid"/>
          </a:ln>
        </p:spPr>
      </p:sp>
      <p:sp>
        <p:nvSpPr>
          <p:cNvPr id="12" name="Text 10"/>
          <p:cNvSpPr/>
          <p:nvPr/>
        </p:nvSpPr>
        <p:spPr>
          <a:xfrm>
            <a:off x="2999232" y="3044952"/>
            <a:ext cx="1645920" cy="384048"/>
          </a:xfrm>
          <a:prstGeom prst="rect">
            <a:avLst/>
          </a:prstGeom>
          <a:noFill/>
          <a:ln/>
        </p:spPr>
        <p:txBody>
          <a:bodyPr wrap="square" lIns="0" tIns="0" rIns="0" bIns="0" rtlCol="0" anchor="t"/>
          <a:lstStyle/>
          <a:p>
            <a:pPr indent="0" marL="0">
              <a:buNone/>
            </a:pPr>
            <a:r>
              <a:rPr lang="en-US" sz="2300" b="1" dirty="0">
                <a:solidFill>
                  <a:srgbClr val="24553C"/>
                </a:solidFill>
                <a:latin typeface="Calibri" pitchFamily="34" charset="0"/>
                <a:ea typeface="Calibri" pitchFamily="34" charset="-122"/>
                <a:cs typeface="Calibri" pitchFamily="34" charset="-120"/>
              </a:rPr>
              <a:t>3 weeks</a:t>
            </a:r>
            <a:endParaRPr lang="en-US" sz="2300" dirty="0"/>
          </a:p>
        </p:txBody>
      </p:sp>
      <p:sp>
        <p:nvSpPr>
          <p:cNvPr id="13" name="Text 11"/>
          <p:cNvSpPr/>
          <p:nvPr/>
        </p:nvSpPr>
        <p:spPr>
          <a:xfrm>
            <a:off x="2999232" y="3703320"/>
            <a:ext cx="1645920" cy="841248"/>
          </a:xfrm>
          <a:prstGeom prst="rect">
            <a:avLst/>
          </a:prstGeom>
          <a:noFill/>
          <a:ln/>
        </p:spPr>
        <p:txBody>
          <a:bodyPr wrap="square" lIns="0" tIns="0" rIns="0" bIns="0" rtlCol="0" anchor="t"/>
          <a:lstStyle/>
          <a:p>
            <a:pPr indent="0" marL="0">
              <a:buNone/>
            </a:pPr>
            <a:r>
              <a:rPr lang="en-US" sz="1900" b="1" dirty="0">
                <a:solidFill>
                  <a:srgbClr val="162D24"/>
                </a:solidFill>
                <a:latin typeface="Calibri" pitchFamily="34" charset="0"/>
                <a:ea typeface="Calibri" pitchFamily="34" charset="-122"/>
                <a:cs typeface="Calibri" pitchFamily="34" charset="-120"/>
              </a:rPr>
              <a:t>Scope + alternatives</a:t>
            </a:r>
            <a:endParaRPr lang="en-US" sz="1900" dirty="0"/>
          </a:p>
        </p:txBody>
      </p:sp>
      <p:sp>
        <p:nvSpPr>
          <p:cNvPr id="14" name="Text 12"/>
          <p:cNvSpPr/>
          <p:nvPr/>
        </p:nvSpPr>
        <p:spPr>
          <a:xfrm>
            <a:off x="2999232" y="4663440"/>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Owner presence,</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paths and options</a:t>
            </a:r>
            <a:endParaRPr lang="en-US" sz="1600" dirty="0"/>
          </a:p>
        </p:txBody>
      </p:sp>
      <p:sp>
        <p:nvSpPr>
          <p:cNvPr id="15" name="Shape 13"/>
          <p:cNvSpPr/>
          <p:nvPr/>
        </p:nvSpPr>
        <p:spPr>
          <a:xfrm>
            <a:off x="5084064" y="2816352"/>
            <a:ext cx="2011680" cy="2926080"/>
          </a:xfrm>
          <a:prstGeom prst="roundRect">
            <a:avLst>
              <a:gd name="adj" fmla="val 5455"/>
            </a:avLst>
          </a:prstGeom>
          <a:solidFill>
            <a:srgbClr val="FFFFFF"/>
          </a:solidFill>
          <a:ln w="12700">
            <a:solidFill>
              <a:srgbClr val="FFFFFF"/>
            </a:solidFill>
            <a:prstDash val="solid"/>
          </a:ln>
        </p:spPr>
      </p:sp>
      <p:sp>
        <p:nvSpPr>
          <p:cNvPr id="16" name="Text 14"/>
          <p:cNvSpPr/>
          <p:nvPr/>
        </p:nvSpPr>
        <p:spPr>
          <a:xfrm>
            <a:off x="5266944" y="3044952"/>
            <a:ext cx="1645920" cy="384048"/>
          </a:xfrm>
          <a:prstGeom prst="rect">
            <a:avLst/>
          </a:prstGeom>
          <a:noFill/>
          <a:ln/>
        </p:spPr>
        <p:txBody>
          <a:bodyPr wrap="square" lIns="0" tIns="0" rIns="0" bIns="0" rtlCol="0" anchor="t"/>
          <a:lstStyle/>
          <a:p>
            <a:pPr indent="0" marL="0">
              <a:buNone/>
            </a:pPr>
            <a:r>
              <a:rPr lang="en-US" sz="2300" b="1" dirty="0">
                <a:solidFill>
                  <a:srgbClr val="24553C"/>
                </a:solidFill>
                <a:latin typeface="Calibri" pitchFamily="34" charset="0"/>
                <a:ea typeface="Calibri" pitchFamily="34" charset="-122"/>
                <a:cs typeface="Calibri" pitchFamily="34" charset="-120"/>
              </a:rPr>
              <a:t>2 weeks</a:t>
            </a:r>
            <a:endParaRPr lang="en-US" sz="2300" dirty="0"/>
          </a:p>
        </p:txBody>
      </p:sp>
      <p:sp>
        <p:nvSpPr>
          <p:cNvPr id="17" name="Text 15"/>
          <p:cNvSpPr/>
          <p:nvPr/>
        </p:nvSpPr>
        <p:spPr>
          <a:xfrm>
            <a:off x="5266944" y="3703320"/>
            <a:ext cx="1645920" cy="841248"/>
          </a:xfrm>
          <a:prstGeom prst="rect">
            <a:avLst/>
          </a:prstGeom>
          <a:noFill/>
          <a:ln/>
        </p:spPr>
        <p:txBody>
          <a:bodyPr wrap="square" lIns="0" tIns="0" rIns="0" bIns="0" rtlCol="0" anchor="t"/>
          <a:lstStyle/>
          <a:p>
            <a:pPr indent="0" marL="0">
              <a:buNone/>
            </a:pPr>
            <a:r>
              <a:rPr lang="en-US" sz="1900" b="1" dirty="0">
                <a:solidFill>
                  <a:srgbClr val="162D24"/>
                </a:solidFill>
                <a:latin typeface="Calibri" pitchFamily="34" charset="0"/>
                <a:ea typeface="Calibri" pitchFamily="34" charset="-122"/>
                <a:cs typeface="Calibri" pitchFamily="34" charset="-120"/>
              </a:rPr>
              <a:t>Access + capacity</a:t>
            </a:r>
            <a:endParaRPr lang="en-US" sz="1900" dirty="0"/>
          </a:p>
        </p:txBody>
      </p:sp>
      <p:sp>
        <p:nvSpPr>
          <p:cNvPr id="18" name="Text 16"/>
          <p:cNvSpPr/>
          <p:nvPr/>
        </p:nvSpPr>
        <p:spPr>
          <a:xfrm>
            <a:off x="5266944" y="4663440"/>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Licenses, metrics,</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skills and access</a:t>
            </a:r>
            <a:endParaRPr lang="en-US" sz="1600" dirty="0"/>
          </a:p>
        </p:txBody>
      </p:sp>
      <p:sp>
        <p:nvSpPr>
          <p:cNvPr id="19" name="Shape 17"/>
          <p:cNvSpPr/>
          <p:nvPr/>
        </p:nvSpPr>
        <p:spPr>
          <a:xfrm>
            <a:off x="7351776" y="2816352"/>
            <a:ext cx="2011680" cy="2926080"/>
          </a:xfrm>
          <a:prstGeom prst="roundRect">
            <a:avLst>
              <a:gd name="adj" fmla="val 5455"/>
            </a:avLst>
          </a:prstGeom>
          <a:solidFill>
            <a:srgbClr val="FFFFFF"/>
          </a:solidFill>
          <a:ln w="12700">
            <a:solidFill>
              <a:srgbClr val="FFFFFF"/>
            </a:solidFill>
            <a:prstDash val="solid"/>
          </a:ln>
        </p:spPr>
      </p:sp>
      <p:sp>
        <p:nvSpPr>
          <p:cNvPr id="20" name="Text 18"/>
          <p:cNvSpPr/>
          <p:nvPr/>
        </p:nvSpPr>
        <p:spPr>
          <a:xfrm>
            <a:off x="7534656" y="3044952"/>
            <a:ext cx="1645920" cy="384048"/>
          </a:xfrm>
          <a:prstGeom prst="rect">
            <a:avLst/>
          </a:prstGeom>
          <a:noFill/>
          <a:ln/>
        </p:spPr>
        <p:txBody>
          <a:bodyPr wrap="square" lIns="0" tIns="0" rIns="0" bIns="0" rtlCol="0" anchor="t"/>
          <a:lstStyle/>
          <a:p>
            <a:pPr indent="0" marL="0">
              <a:buNone/>
            </a:pPr>
            <a:r>
              <a:rPr lang="en-US" sz="2300" b="1" dirty="0">
                <a:solidFill>
                  <a:srgbClr val="24553C"/>
                </a:solidFill>
                <a:latin typeface="Calibri" pitchFamily="34" charset="0"/>
                <a:ea typeface="Calibri" pitchFamily="34" charset="-122"/>
                <a:cs typeface="Calibri" pitchFamily="34" charset="-120"/>
              </a:rPr>
              <a:t>1 week</a:t>
            </a:r>
            <a:endParaRPr lang="en-US" sz="2300" dirty="0"/>
          </a:p>
        </p:txBody>
      </p:sp>
      <p:sp>
        <p:nvSpPr>
          <p:cNvPr id="21" name="Text 19"/>
          <p:cNvSpPr/>
          <p:nvPr/>
        </p:nvSpPr>
        <p:spPr>
          <a:xfrm>
            <a:off x="7534656" y="3703320"/>
            <a:ext cx="1645920" cy="841248"/>
          </a:xfrm>
          <a:prstGeom prst="rect">
            <a:avLst/>
          </a:prstGeom>
          <a:noFill/>
          <a:ln/>
        </p:spPr>
        <p:txBody>
          <a:bodyPr wrap="square" lIns="0" tIns="0" rIns="0" bIns="0" rtlCol="0" anchor="t"/>
          <a:lstStyle/>
          <a:p>
            <a:pPr indent="0" marL="0">
              <a:buNone/>
            </a:pPr>
            <a:r>
              <a:rPr lang="en-US" sz="1900" b="1" dirty="0">
                <a:solidFill>
                  <a:srgbClr val="162D24"/>
                </a:solidFill>
                <a:latin typeface="Calibri" pitchFamily="34" charset="0"/>
                <a:ea typeface="Calibri" pitchFamily="34" charset="-122"/>
                <a:cs typeface="Calibri" pitchFamily="34" charset="-120"/>
              </a:rPr>
              <a:t>Data + safeguards</a:t>
            </a:r>
            <a:endParaRPr lang="en-US" sz="1900" dirty="0"/>
          </a:p>
        </p:txBody>
      </p:sp>
      <p:sp>
        <p:nvSpPr>
          <p:cNvPr id="22" name="Text 20"/>
          <p:cNvSpPr/>
          <p:nvPr/>
        </p:nvSpPr>
        <p:spPr>
          <a:xfrm>
            <a:off x="7534656" y="4663440"/>
            <a:ext cx="1645920" cy="86868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Sample and DLP,</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review, channel,</a:t>
            </a:r>
            <a:endParaRPr lang="en-US" sz="1600" dirty="0"/>
          </a:p>
          <a:p>
            <a:pPr indent="0" marL="0">
              <a:buNone/>
            </a:pPr>
            <a:r>
              <a:rPr lang="en-US" sz="1600" dirty="0">
                <a:solidFill>
                  <a:srgbClr val="162D24"/>
                </a:solidFill>
                <a:latin typeface="Calibri" pitchFamily="34" charset="0"/>
                <a:ea typeface="Calibri" pitchFamily="34" charset="-122"/>
                <a:cs typeface="Calibri" pitchFamily="34" charset="-120"/>
              </a:rPr>
              <a:t>team training</a:t>
            </a:r>
            <a:endParaRPr lang="en-US" sz="1600" dirty="0"/>
          </a:p>
        </p:txBody>
      </p:sp>
      <p:sp>
        <p:nvSpPr>
          <p:cNvPr id="23" name="Shape 21"/>
          <p:cNvSpPr/>
          <p:nvPr/>
        </p:nvSpPr>
        <p:spPr>
          <a:xfrm>
            <a:off x="9619488" y="2816352"/>
            <a:ext cx="2011680" cy="2926080"/>
          </a:xfrm>
          <a:prstGeom prst="roundRect">
            <a:avLst>
              <a:gd name="adj" fmla="val 5455"/>
            </a:avLst>
          </a:prstGeom>
          <a:solidFill>
            <a:srgbClr val="24553C"/>
          </a:solidFill>
          <a:ln w="12700">
            <a:solidFill>
              <a:srgbClr val="24553C"/>
            </a:solidFill>
            <a:prstDash val="solid"/>
          </a:ln>
        </p:spPr>
      </p:sp>
      <p:sp>
        <p:nvSpPr>
          <p:cNvPr id="24" name="Text 22"/>
          <p:cNvSpPr/>
          <p:nvPr/>
        </p:nvSpPr>
        <p:spPr>
          <a:xfrm>
            <a:off x="9802368" y="3044952"/>
            <a:ext cx="1645920" cy="384048"/>
          </a:xfrm>
          <a:prstGeom prst="rect">
            <a:avLst/>
          </a:prstGeom>
          <a:noFill/>
          <a:ln/>
        </p:spPr>
        <p:txBody>
          <a:bodyPr wrap="square" lIns="0" tIns="0" rIns="0" bIns="0" rtlCol="0" anchor="t"/>
          <a:lstStyle/>
          <a:p>
            <a:pPr indent="0" marL="0">
              <a:buNone/>
            </a:pPr>
            <a:r>
              <a:rPr lang="en-US" sz="2300" b="1" dirty="0">
                <a:solidFill>
                  <a:srgbClr val="FFFFFF"/>
                </a:solidFill>
                <a:latin typeface="Calibri" pitchFamily="34" charset="0"/>
                <a:ea typeface="Calibri" pitchFamily="34" charset="-122"/>
                <a:cs typeface="Calibri" pitchFamily="34" charset="-120"/>
              </a:rPr>
              <a:t>Day 0</a:t>
            </a:r>
            <a:endParaRPr lang="en-US" sz="2300" dirty="0"/>
          </a:p>
        </p:txBody>
      </p:sp>
      <p:sp>
        <p:nvSpPr>
          <p:cNvPr id="25" name="Text 23"/>
          <p:cNvSpPr/>
          <p:nvPr/>
        </p:nvSpPr>
        <p:spPr>
          <a:xfrm>
            <a:off x="9802368" y="3703320"/>
            <a:ext cx="1645920" cy="841248"/>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Dry run + decision</a:t>
            </a:r>
            <a:endParaRPr lang="en-US" sz="1900" dirty="0"/>
          </a:p>
        </p:txBody>
      </p:sp>
      <p:sp>
        <p:nvSpPr>
          <p:cNvPr id="26" name="Text 24"/>
          <p:cNvSpPr/>
          <p:nvPr/>
        </p:nvSpPr>
        <p:spPr>
          <a:xfrm>
            <a:off x="9802368" y="4663440"/>
            <a:ext cx="1645920" cy="8686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Test the path;</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record go/no-go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Day 1: protect one useful path</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Sample local-time agenda. Confirm time zone, breaks and accessibility.</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9</a:t>
            </a:r>
            <a:endParaRPr lang="en-US" sz="1100" dirty="0"/>
          </a:p>
        </p:txBody>
      </p:sp>
      <p:sp>
        <p:nvSpPr>
          <p:cNvPr id="7" name="Shape 5"/>
          <p:cNvSpPr/>
          <p:nvPr/>
        </p:nvSpPr>
        <p:spPr>
          <a:xfrm>
            <a:off x="548640" y="2633472"/>
            <a:ext cx="6912864" cy="411480"/>
          </a:xfrm>
          <a:prstGeom prst="rect">
            <a:avLst>
              <a:gd name="adj" fmla="val 26667"/>
            </a:avLst>
          </a:prstGeom>
          <a:solidFill>
            <a:srgbClr val="FFFFFF"/>
          </a:solidFill>
          <a:ln w="12700">
            <a:solidFill>
              <a:srgbClr val="FFFFFF"/>
            </a:solidFill>
            <a:prstDash val="solid"/>
          </a:ln>
        </p:spPr>
      </p:sp>
      <p:sp>
        <p:nvSpPr>
          <p:cNvPr id="8" name="Text 6"/>
          <p:cNvSpPr/>
          <p:nvPr/>
        </p:nvSpPr>
        <p:spPr>
          <a:xfrm>
            <a:off x="694944" y="2711196"/>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09:00-09:30</a:t>
            </a:r>
            <a:endParaRPr lang="en-US" sz="1600" dirty="0"/>
          </a:p>
        </p:txBody>
      </p:sp>
      <p:sp>
        <p:nvSpPr>
          <p:cNvPr id="9" name="Text 7"/>
          <p:cNvSpPr/>
          <p:nvPr/>
        </p:nvSpPr>
        <p:spPr>
          <a:xfrm>
            <a:off x="2340864" y="2711196"/>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Sponsor opening and safety</a:t>
            </a:r>
            <a:endParaRPr lang="en-US" sz="1600" dirty="0"/>
          </a:p>
        </p:txBody>
      </p:sp>
      <p:sp>
        <p:nvSpPr>
          <p:cNvPr id="10" name="Shape 8"/>
          <p:cNvSpPr/>
          <p:nvPr/>
        </p:nvSpPr>
        <p:spPr>
          <a:xfrm>
            <a:off x="548640" y="3118104"/>
            <a:ext cx="6912864" cy="411480"/>
          </a:xfrm>
          <a:prstGeom prst="rect">
            <a:avLst>
              <a:gd name="adj" fmla="val 26667"/>
            </a:avLst>
          </a:prstGeom>
          <a:solidFill>
            <a:srgbClr val="EAF2EB"/>
          </a:solidFill>
          <a:ln w="12700">
            <a:solidFill>
              <a:srgbClr val="EAF2EB"/>
            </a:solidFill>
            <a:prstDash val="solid"/>
          </a:ln>
        </p:spPr>
      </p:sp>
      <p:sp>
        <p:nvSpPr>
          <p:cNvPr id="11" name="Text 9"/>
          <p:cNvSpPr/>
          <p:nvPr/>
        </p:nvSpPr>
        <p:spPr>
          <a:xfrm>
            <a:off x="694944" y="3195828"/>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09:30-10:00</a:t>
            </a:r>
            <a:endParaRPr lang="en-US" sz="1600" dirty="0"/>
          </a:p>
        </p:txBody>
      </p:sp>
      <p:sp>
        <p:nvSpPr>
          <p:cNvPr id="12" name="Text 10"/>
          <p:cNvSpPr/>
          <p:nvPr/>
        </p:nvSpPr>
        <p:spPr>
          <a:xfrm>
            <a:off x="2340864" y="3195828"/>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Refresher and team scope</a:t>
            </a:r>
            <a:endParaRPr lang="en-US" sz="1600" dirty="0"/>
          </a:p>
        </p:txBody>
      </p:sp>
      <p:sp>
        <p:nvSpPr>
          <p:cNvPr id="13" name="Shape 11"/>
          <p:cNvSpPr/>
          <p:nvPr/>
        </p:nvSpPr>
        <p:spPr>
          <a:xfrm>
            <a:off x="548640" y="3602736"/>
            <a:ext cx="6912864" cy="411480"/>
          </a:xfrm>
          <a:prstGeom prst="rect">
            <a:avLst>
              <a:gd name="adj" fmla="val 26667"/>
            </a:avLst>
          </a:prstGeom>
          <a:solidFill>
            <a:srgbClr val="FFFFFF"/>
          </a:solidFill>
          <a:ln w="12700">
            <a:solidFill>
              <a:srgbClr val="FFFFFF"/>
            </a:solidFill>
            <a:prstDash val="solid"/>
          </a:ln>
        </p:spPr>
      </p:sp>
      <p:sp>
        <p:nvSpPr>
          <p:cNvPr id="14" name="Text 12"/>
          <p:cNvSpPr/>
          <p:nvPr/>
        </p:nvSpPr>
        <p:spPr>
          <a:xfrm>
            <a:off x="694944" y="3680460"/>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10:00-12:00</a:t>
            </a:r>
            <a:endParaRPr lang="en-US" sz="1600" dirty="0"/>
          </a:p>
        </p:txBody>
      </p:sp>
      <p:sp>
        <p:nvSpPr>
          <p:cNvPr id="15" name="Text 13"/>
          <p:cNvSpPr/>
          <p:nvPr/>
        </p:nvSpPr>
        <p:spPr>
          <a:xfrm>
            <a:off x="2340864" y="3680460"/>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Build, break and mentor check</a:t>
            </a:r>
            <a:endParaRPr lang="en-US" sz="1600" dirty="0"/>
          </a:p>
        </p:txBody>
      </p:sp>
      <p:sp>
        <p:nvSpPr>
          <p:cNvPr id="16" name="Shape 14"/>
          <p:cNvSpPr/>
          <p:nvPr/>
        </p:nvSpPr>
        <p:spPr>
          <a:xfrm>
            <a:off x="548640" y="4087368"/>
            <a:ext cx="6912864" cy="411480"/>
          </a:xfrm>
          <a:prstGeom prst="rect">
            <a:avLst>
              <a:gd name="adj" fmla="val 26667"/>
            </a:avLst>
          </a:prstGeom>
          <a:solidFill>
            <a:srgbClr val="EAF2EB"/>
          </a:solidFill>
          <a:ln w="12700">
            <a:solidFill>
              <a:srgbClr val="EAF2EB"/>
            </a:solidFill>
            <a:prstDash val="solid"/>
          </a:ln>
        </p:spPr>
      </p:sp>
      <p:sp>
        <p:nvSpPr>
          <p:cNvPr id="17" name="Text 15"/>
          <p:cNvSpPr/>
          <p:nvPr/>
        </p:nvSpPr>
        <p:spPr>
          <a:xfrm>
            <a:off x="694944" y="4165092"/>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12:00-13:00</a:t>
            </a:r>
            <a:endParaRPr lang="en-US" sz="1600" dirty="0"/>
          </a:p>
        </p:txBody>
      </p:sp>
      <p:sp>
        <p:nvSpPr>
          <p:cNvPr id="18" name="Text 16"/>
          <p:cNvSpPr/>
          <p:nvPr/>
        </p:nvSpPr>
        <p:spPr>
          <a:xfrm>
            <a:off x="2340864" y="4165092"/>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Lunch / async catch-up</a:t>
            </a:r>
            <a:endParaRPr lang="en-US" sz="1600" dirty="0"/>
          </a:p>
        </p:txBody>
      </p:sp>
      <p:sp>
        <p:nvSpPr>
          <p:cNvPr id="19" name="Shape 17"/>
          <p:cNvSpPr/>
          <p:nvPr/>
        </p:nvSpPr>
        <p:spPr>
          <a:xfrm>
            <a:off x="548640" y="4572000"/>
            <a:ext cx="6912864" cy="411480"/>
          </a:xfrm>
          <a:prstGeom prst="rect">
            <a:avLst>
              <a:gd name="adj" fmla="val 26667"/>
            </a:avLst>
          </a:prstGeom>
          <a:solidFill>
            <a:srgbClr val="FFFFFF"/>
          </a:solidFill>
          <a:ln w="12700">
            <a:solidFill>
              <a:srgbClr val="FFFFFF"/>
            </a:solidFill>
            <a:prstDash val="solid"/>
          </a:ln>
        </p:spPr>
      </p:sp>
      <p:sp>
        <p:nvSpPr>
          <p:cNvPr id="20" name="Text 18"/>
          <p:cNvSpPr/>
          <p:nvPr/>
        </p:nvSpPr>
        <p:spPr>
          <a:xfrm>
            <a:off x="694944" y="4649724"/>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13:00-14:30</a:t>
            </a:r>
            <a:endParaRPr lang="en-US" sz="1600" dirty="0"/>
          </a:p>
        </p:txBody>
      </p:sp>
      <p:sp>
        <p:nvSpPr>
          <p:cNvPr id="21" name="Text 19"/>
          <p:cNvSpPr/>
          <p:nvPr/>
        </p:nvSpPr>
        <p:spPr>
          <a:xfrm>
            <a:off x="2340864" y="4649724"/>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Build and business review</a:t>
            </a:r>
            <a:endParaRPr lang="en-US" sz="1600" dirty="0"/>
          </a:p>
        </p:txBody>
      </p:sp>
      <p:sp>
        <p:nvSpPr>
          <p:cNvPr id="22" name="Shape 20"/>
          <p:cNvSpPr/>
          <p:nvPr/>
        </p:nvSpPr>
        <p:spPr>
          <a:xfrm>
            <a:off x="548640" y="5056632"/>
            <a:ext cx="6912864" cy="411480"/>
          </a:xfrm>
          <a:prstGeom prst="rect">
            <a:avLst>
              <a:gd name="adj" fmla="val 26667"/>
            </a:avLst>
          </a:prstGeom>
          <a:solidFill>
            <a:srgbClr val="EAF2EB"/>
          </a:solidFill>
          <a:ln w="12700">
            <a:solidFill>
              <a:srgbClr val="EAF2EB"/>
            </a:solidFill>
            <a:prstDash val="solid"/>
          </a:ln>
        </p:spPr>
      </p:sp>
      <p:sp>
        <p:nvSpPr>
          <p:cNvPr id="23" name="Text 21"/>
          <p:cNvSpPr/>
          <p:nvPr/>
        </p:nvSpPr>
        <p:spPr>
          <a:xfrm>
            <a:off x="694944" y="5134356"/>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14:30-15:30</a:t>
            </a:r>
            <a:endParaRPr lang="en-US" sz="1600" dirty="0"/>
          </a:p>
        </p:txBody>
      </p:sp>
      <p:sp>
        <p:nvSpPr>
          <p:cNvPr id="24" name="Text 22"/>
          <p:cNvSpPr/>
          <p:nvPr/>
        </p:nvSpPr>
        <p:spPr>
          <a:xfrm>
            <a:off x="2340864" y="5134356"/>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Blocker decisions</a:t>
            </a:r>
            <a:endParaRPr lang="en-US" sz="1600" dirty="0"/>
          </a:p>
        </p:txBody>
      </p:sp>
      <p:sp>
        <p:nvSpPr>
          <p:cNvPr id="25" name="Shape 23"/>
          <p:cNvSpPr/>
          <p:nvPr/>
        </p:nvSpPr>
        <p:spPr>
          <a:xfrm>
            <a:off x="548640" y="5541264"/>
            <a:ext cx="6912864" cy="411480"/>
          </a:xfrm>
          <a:prstGeom prst="rect">
            <a:avLst>
              <a:gd name="adj" fmla="val 26667"/>
            </a:avLst>
          </a:prstGeom>
          <a:solidFill>
            <a:srgbClr val="FFFFFF"/>
          </a:solidFill>
          <a:ln w="12700">
            <a:solidFill>
              <a:srgbClr val="FFFFFF"/>
            </a:solidFill>
            <a:prstDash val="solid"/>
          </a:ln>
        </p:spPr>
      </p:sp>
      <p:sp>
        <p:nvSpPr>
          <p:cNvPr id="26" name="Text 24"/>
          <p:cNvSpPr/>
          <p:nvPr/>
        </p:nvSpPr>
        <p:spPr>
          <a:xfrm>
            <a:off x="694944" y="5618988"/>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15:30-16:30</a:t>
            </a:r>
            <a:endParaRPr lang="en-US" sz="1600" dirty="0"/>
          </a:p>
        </p:txBody>
      </p:sp>
      <p:sp>
        <p:nvSpPr>
          <p:cNvPr id="27" name="Text 25"/>
          <p:cNvSpPr/>
          <p:nvPr/>
        </p:nvSpPr>
        <p:spPr>
          <a:xfrm>
            <a:off x="2340864" y="5618988"/>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Working path and fallback</a:t>
            </a:r>
            <a:endParaRPr lang="en-US" sz="1600" dirty="0"/>
          </a:p>
        </p:txBody>
      </p:sp>
      <p:sp>
        <p:nvSpPr>
          <p:cNvPr id="28" name="Shape 26"/>
          <p:cNvSpPr/>
          <p:nvPr/>
        </p:nvSpPr>
        <p:spPr>
          <a:xfrm>
            <a:off x="7808976" y="2651760"/>
            <a:ext cx="3822192" cy="3273552"/>
          </a:xfrm>
          <a:prstGeom prst="roundRect">
            <a:avLst>
              <a:gd name="adj" fmla="val 3352"/>
            </a:avLst>
          </a:prstGeom>
          <a:solidFill>
            <a:srgbClr val="EAF2EB"/>
          </a:solidFill>
          <a:ln w="12700">
            <a:solidFill>
              <a:srgbClr val="EAF2EB"/>
            </a:solidFill>
            <a:prstDash val="solid"/>
          </a:ln>
        </p:spPr>
      </p:sp>
      <p:sp>
        <p:nvSpPr>
          <p:cNvPr id="29" name="Text 27"/>
          <p:cNvSpPr/>
          <p:nvPr/>
        </p:nvSpPr>
        <p:spPr>
          <a:xfrm>
            <a:off x="8037576" y="2862072"/>
            <a:ext cx="3364992"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CHECKPOINT</a:t>
            </a:r>
            <a:endParaRPr lang="en-US" sz="2300" dirty="0"/>
          </a:p>
        </p:txBody>
      </p:sp>
      <p:sp>
        <p:nvSpPr>
          <p:cNvPr id="30" name="Text 28"/>
          <p:cNvSpPr/>
          <p:nvPr/>
        </p:nvSpPr>
        <p:spPr>
          <a:xfrm>
            <a:off x="8037576" y="3557016"/>
            <a:ext cx="3364992" cy="2176272"/>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What works now?</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What is blocked?</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Who decides?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What is the permitted fallback?</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Day 2: test, then show the evidence</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For a three-day event, move this final-day rhythm to Day 3.</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10</a:t>
            </a:r>
            <a:endParaRPr lang="en-US" sz="1100" dirty="0"/>
          </a:p>
        </p:txBody>
      </p:sp>
      <p:sp>
        <p:nvSpPr>
          <p:cNvPr id="7" name="Shape 5"/>
          <p:cNvSpPr/>
          <p:nvPr/>
        </p:nvSpPr>
        <p:spPr>
          <a:xfrm>
            <a:off x="548640" y="2633472"/>
            <a:ext cx="6912864" cy="411480"/>
          </a:xfrm>
          <a:prstGeom prst="rect">
            <a:avLst>
              <a:gd name="adj" fmla="val 26667"/>
            </a:avLst>
          </a:prstGeom>
          <a:solidFill>
            <a:srgbClr val="FFFFFF"/>
          </a:solidFill>
          <a:ln w="12700">
            <a:solidFill>
              <a:srgbClr val="FFFFFF"/>
            </a:solidFill>
            <a:prstDash val="solid"/>
          </a:ln>
        </p:spPr>
      </p:sp>
      <p:sp>
        <p:nvSpPr>
          <p:cNvPr id="8" name="Text 6"/>
          <p:cNvSpPr/>
          <p:nvPr/>
        </p:nvSpPr>
        <p:spPr>
          <a:xfrm>
            <a:off x="694944" y="2711196"/>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09:00-09:30</a:t>
            </a:r>
            <a:endParaRPr lang="en-US" sz="1600" dirty="0"/>
          </a:p>
        </p:txBody>
      </p:sp>
      <p:sp>
        <p:nvSpPr>
          <p:cNvPr id="9" name="Text 7"/>
          <p:cNvSpPr/>
          <p:nvPr/>
        </p:nvSpPr>
        <p:spPr>
          <a:xfrm>
            <a:off x="2340864" y="2711196"/>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Working-path checkpoint</a:t>
            </a:r>
            <a:endParaRPr lang="en-US" sz="1600" dirty="0"/>
          </a:p>
        </p:txBody>
      </p:sp>
      <p:sp>
        <p:nvSpPr>
          <p:cNvPr id="10" name="Shape 8"/>
          <p:cNvSpPr/>
          <p:nvPr/>
        </p:nvSpPr>
        <p:spPr>
          <a:xfrm>
            <a:off x="548640" y="3118104"/>
            <a:ext cx="6912864" cy="411480"/>
          </a:xfrm>
          <a:prstGeom prst="rect">
            <a:avLst>
              <a:gd name="adj" fmla="val 26667"/>
            </a:avLst>
          </a:prstGeom>
          <a:solidFill>
            <a:srgbClr val="EAF2EB"/>
          </a:solidFill>
          <a:ln w="12700">
            <a:solidFill>
              <a:srgbClr val="EAF2EB"/>
            </a:solidFill>
            <a:prstDash val="solid"/>
          </a:ln>
        </p:spPr>
      </p:sp>
      <p:sp>
        <p:nvSpPr>
          <p:cNvPr id="11" name="Text 9"/>
          <p:cNvSpPr/>
          <p:nvPr/>
        </p:nvSpPr>
        <p:spPr>
          <a:xfrm>
            <a:off x="694944" y="3195828"/>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09:30-10:00</a:t>
            </a:r>
            <a:endParaRPr lang="en-US" sz="1600" dirty="0"/>
          </a:p>
        </p:txBody>
      </p:sp>
      <p:sp>
        <p:nvSpPr>
          <p:cNvPr id="12" name="Text 10"/>
          <p:cNvSpPr/>
          <p:nvPr/>
        </p:nvSpPr>
        <p:spPr>
          <a:xfrm>
            <a:off x="2340864" y="3195828"/>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Finish the agreed slice</a:t>
            </a:r>
            <a:endParaRPr lang="en-US" sz="1600" dirty="0"/>
          </a:p>
        </p:txBody>
      </p:sp>
      <p:sp>
        <p:nvSpPr>
          <p:cNvPr id="13" name="Shape 11"/>
          <p:cNvSpPr/>
          <p:nvPr/>
        </p:nvSpPr>
        <p:spPr>
          <a:xfrm>
            <a:off x="548640" y="3602736"/>
            <a:ext cx="6912864" cy="411480"/>
          </a:xfrm>
          <a:prstGeom prst="rect">
            <a:avLst>
              <a:gd name="adj" fmla="val 26667"/>
            </a:avLst>
          </a:prstGeom>
          <a:solidFill>
            <a:srgbClr val="FFFFFF"/>
          </a:solidFill>
          <a:ln w="12700">
            <a:solidFill>
              <a:srgbClr val="FFFFFF"/>
            </a:solidFill>
            <a:prstDash val="solid"/>
          </a:ln>
        </p:spPr>
      </p:sp>
      <p:sp>
        <p:nvSpPr>
          <p:cNvPr id="14" name="Text 12"/>
          <p:cNvSpPr/>
          <p:nvPr/>
        </p:nvSpPr>
        <p:spPr>
          <a:xfrm>
            <a:off x="694944" y="3680460"/>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10:00-12:00</a:t>
            </a:r>
            <a:endParaRPr lang="en-US" sz="1600" dirty="0"/>
          </a:p>
        </p:txBody>
      </p:sp>
      <p:sp>
        <p:nvSpPr>
          <p:cNvPr id="15" name="Text 13"/>
          <p:cNvSpPr/>
          <p:nvPr/>
        </p:nvSpPr>
        <p:spPr>
          <a:xfrm>
            <a:off x="2340864" y="3680460"/>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Test, fix, break and freeze</a:t>
            </a:r>
            <a:endParaRPr lang="en-US" sz="1600" dirty="0"/>
          </a:p>
        </p:txBody>
      </p:sp>
      <p:sp>
        <p:nvSpPr>
          <p:cNvPr id="16" name="Shape 14"/>
          <p:cNvSpPr/>
          <p:nvPr/>
        </p:nvSpPr>
        <p:spPr>
          <a:xfrm>
            <a:off x="548640" y="4087368"/>
            <a:ext cx="6912864" cy="411480"/>
          </a:xfrm>
          <a:prstGeom prst="rect">
            <a:avLst>
              <a:gd name="adj" fmla="val 26667"/>
            </a:avLst>
          </a:prstGeom>
          <a:solidFill>
            <a:srgbClr val="EAF2EB"/>
          </a:solidFill>
          <a:ln w="12700">
            <a:solidFill>
              <a:srgbClr val="EAF2EB"/>
            </a:solidFill>
            <a:prstDash val="solid"/>
          </a:ln>
        </p:spPr>
      </p:sp>
      <p:sp>
        <p:nvSpPr>
          <p:cNvPr id="17" name="Text 15"/>
          <p:cNvSpPr/>
          <p:nvPr/>
        </p:nvSpPr>
        <p:spPr>
          <a:xfrm>
            <a:off x="694944" y="4165092"/>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12:00-13:00</a:t>
            </a:r>
            <a:endParaRPr lang="en-US" sz="1600" dirty="0"/>
          </a:p>
        </p:txBody>
      </p:sp>
      <p:sp>
        <p:nvSpPr>
          <p:cNvPr id="18" name="Text 16"/>
          <p:cNvSpPr/>
          <p:nvPr/>
        </p:nvSpPr>
        <p:spPr>
          <a:xfrm>
            <a:off x="2340864" y="4165092"/>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Lunch / async catch-up</a:t>
            </a:r>
            <a:endParaRPr lang="en-US" sz="1600" dirty="0"/>
          </a:p>
        </p:txBody>
      </p:sp>
      <p:sp>
        <p:nvSpPr>
          <p:cNvPr id="19" name="Shape 17"/>
          <p:cNvSpPr/>
          <p:nvPr/>
        </p:nvSpPr>
        <p:spPr>
          <a:xfrm>
            <a:off x="548640" y="4572000"/>
            <a:ext cx="6912864" cy="411480"/>
          </a:xfrm>
          <a:prstGeom prst="rect">
            <a:avLst>
              <a:gd name="adj" fmla="val 26667"/>
            </a:avLst>
          </a:prstGeom>
          <a:solidFill>
            <a:srgbClr val="FFFFFF"/>
          </a:solidFill>
          <a:ln w="12700">
            <a:solidFill>
              <a:srgbClr val="FFFFFF"/>
            </a:solidFill>
            <a:prstDash val="solid"/>
          </a:ln>
        </p:spPr>
      </p:sp>
      <p:sp>
        <p:nvSpPr>
          <p:cNvPr id="20" name="Text 18"/>
          <p:cNvSpPr/>
          <p:nvPr/>
        </p:nvSpPr>
        <p:spPr>
          <a:xfrm>
            <a:off x="694944" y="4649724"/>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13:00-14:30</a:t>
            </a:r>
            <a:endParaRPr lang="en-US" sz="1600" dirty="0"/>
          </a:p>
        </p:txBody>
      </p:sp>
      <p:sp>
        <p:nvSpPr>
          <p:cNvPr id="21" name="Text 19"/>
          <p:cNvSpPr/>
          <p:nvPr/>
        </p:nvSpPr>
        <p:spPr>
          <a:xfrm>
            <a:off x="2340864" y="4649724"/>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Demos and backup recording</a:t>
            </a:r>
            <a:endParaRPr lang="en-US" sz="1600" dirty="0"/>
          </a:p>
        </p:txBody>
      </p:sp>
      <p:sp>
        <p:nvSpPr>
          <p:cNvPr id="22" name="Shape 20"/>
          <p:cNvSpPr/>
          <p:nvPr/>
        </p:nvSpPr>
        <p:spPr>
          <a:xfrm>
            <a:off x="548640" y="5056632"/>
            <a:ext cx="6912864" cy="411480"/>
          </a:xfrm>
          <a:prstGeom prst="rect">
            <a:avLst>
              <a:gd name="adj" fmla="val 26667"/>
            </a:avLst>
          </a:prstGeom>
          <a:solidFill>
            <a:srgbClr val="EAF2EB"/>
          </a:solidFill>
          <a:ln w="12700">
            <a:solidFill>
              <a:srgbClr val="EAF2EB"/>
            </a:solidFill>
            <a:prstDash val="solid"/>
          </a:ln>
        </p:spPr>
      </p:sp>
      <p:sp>
        <p:nvSpPr>
          <p:cNvPr id="23" name="Text 21"/>
          <p:cNvSpPr/>
          <p:nvPr/>
        </p:nvSpPr>
        <p:spPr>
          <a:xfrm>
            <a:off x="694944" y="5134356"/>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14:30-15:30</a:t>
            </a:r>
            <a:endParaRPr lang="en-US" sz="1600" dirty="0"/>
          </a:p>
        </p:txBody>
      </p:sp>
      <p:sp>
        <p:nvSpPr>
          <p:cNvPr id="24" name="Text 22"/>
          <p:cNvSpPr/>
          <p:nvPr/>
        </p:nvSpPr>
        <p:spPr>
          <a:xfrm>
            <a:off x="2340864" y="5134356"/>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Showcase and judging</a:t>
            </a:r>
            <a:endParaRPr lang="en-US" sz="1600" dirty="0"/>
          </a:p>
        </p:txBody>
      </p:sp>
      <p:sp>
        <p:nvSpPr>
          <p:cNvPr id="25" name="Shape 23"/>
          <p:cNvSpPr/>
          <p:nvPr/>
        </p:nvSpPr>
        <p:spPr>
          <a:xfrm>
            <a:off x="548640" y="5541264"/>
            <a:ext cx="6912864" cy="411480"/>
          </a:xfrm>
          <a:prstGeom prst="rect">
            <a:avLst>
              <a:gd name="adj" fmla="val 26667"/>
            </a:avLst>
          </a:prstGeom>
          <a:solidFill>
            <a:srgbClr val="FFFFFF"/>
          </a:solidFill>
          <a:ln w="12700">
            <a:solidFill>
              <a:srgbClr val="FFFFFF"/>
            </a:solidFill>
            <a:prstDash val="solid"/>
          </a:ln>
        </p:spPr>
      </p:sp>
      <p:sp>
        <p:nvSpPr>
          <p:cNvPr id="26" name="Text 24"/>
          <p:cNvSpPr/>
          <p:nvPr/>
        </p:nvSpPr>
        <p:spPr>
          <a:xfrm>
            <a:off x="694944" y="5618988"/>
            <a:ext cx="1444752" cy="274320"/>
          </a:xfrm>
          <a:prstGeom prst="rect">
            <a:avLst/>
          </a:prstGeom>
          <a:noFill/>
          <a:ln/>
        </p:spPr>
        <p:txBody>
          <a:bodyPr wrap="square" lIns="0" tIns="0" rIns="0" bIns="0" rtlCol="0" anchor="t"/>
          <a:lstStyle/>
          <a:p>
            <a:pPr indent="0" marL="0">
              <a:buNone/>
            </a:pPr>
            <a:r>
              <a:rPr lang="en-US" sz="1600" b="1" dirty="0">
                <a:solidFill>
                  <a:srgbClr val="24553C"/>
                </a:solidFill>
                <a:latin typeface="Calibri" pitchFamily="34" charset="0"/>
                <a:ea typeface="Calibri" pitchFamily="34" charset="-122"/>
                <a:cs typeface="Calibri" pitchFamily="34" charset="-120"/>
              </a:rPr>
              <a:t>15:30-16:30</a:t>
            </a:r>
            <a:endParaRPr lang="en-US" sz="1600" dirty="0"/>
          </a:p>
        </p:txBody>
      </p:sp>
      <p:sp>
        <p:nvSpPr>
          <p:cNvPr id="27" name="Text 25"/>
          <p:cNvSpPr/>
          <p:nvPr/>
        </p:nvSpPr>
        <p:spPr>
          <a:xfrm>
            <a:off x="2340864" y="5618988"/>
            <a:ext cx="4892040" cy="274320"/>
          </a:xfrm>
          <a:prstGeom prst="rect">
            <a:avLst/>
          </a:prstGeom>
          <a:noFill/>
          <a:ln/>
        </p:spPr>
        <p:txBody>
          <a:bodyPr wrap="square" lIns="0" tIns="0" rIns="0" bIns="0" rtlCol="0" anchor="t"/>
          <a:lstStyle/>
          <a:p>
            <a:pPr indent="0" marL="0">
              <a:buNone/>
            </a:pPr>
            <a:r>
              <a:rPr lang="en-US" sz="1600" dirty="0">
                <a:solidFill>
                  <a:srgbClr val="162D24"/>
                </a:solidFill>
                <a:latin typeface="Calibri" pitchFamily="34" charset="0"/>
                <a:ea typeface="Calibri" pitchFamily="34" charset="-122"/>
                <a:cs typeface="Calibri" pitchFamily="34" charset="-120"/>
              </a:rPr>
              <a:t>Owners, dates and retrospective</a:t>
            </a:r>
            <a:endParaRPr lang="en-US" sz="1600" dirty="0"/>
          </a:p>
        </p:txBody>
      </p:sp>
      <p:sp>
        <p:nvSpPr>
          <p:cNvPr id="28" name="Shape 26"/>
          <p:cNvSpPr/>
          <p:nvPr/>
        </p:nvSpPr>
        <p:spPr>
          <a:xfrm>
            <a:off x="7808976" y="2651760"/>
            <a:ext cx="3822192" cy="3273552"/>
          </a:xfrm>
          <a:prstGeom prst="roundRect">
            <a:avLst>
              <a:gd name="adj" fmla="val 3352"/>
            </a:avLst>
          </a:prstGeom>
          <a:solidFill>
            <a:srgbClr val="EAF2EB"/>
          </a:solidFill>
          <a:ln w="12700">
            <a:solidFill>
              <a:srgbClr val="EAF2EB"/>
            </a:solidFill>
            <a:prstDash val="solid"/>
          </a:ln>
        </p:spPr>
      </p:sp>
      <p:sp>
        <p:nvSpPr>
          <p:cNvPr id="29" name="Text 27"/>
          <p:cNvSpPr/>
          <p:nvPr/>
        </p:nvSpPr>
        <p:spPr>
          <a:xfrm>
            <a:off x="8037576" y="2862072"/>
            <a:ext cx="3364992"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CHECKPOINT</a:t>
            </a:r>
            <a:endParaRPr lang="en-US" sz="2300" dirty="0"/>
          </a:p>
        </p:txBody>
      </p:sp>
      <p:sp>
        <p:nvSpPr>
          <p:cNvPr id="30" name="Text 28"/>
          <p:cNvSpPr/>
          <p:nvPr/>
        </p:nvSpPr>
        <p:spPr>
          <a:xfrm>
            <a:off x="8037576" y="3557016"/>
            <a:ext cx="3364992" cy="2176272"/>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Freeze new features.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Label mocks clearly.</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Use a backup recording.</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Do not debug live.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A blocker needs an owner and a decision</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Keep a dated log rather than silently changing the plan.</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11</a:t>
            </a:r>
            <a:endParaRPr lang="en-US" sz="1100" dirty="0"/>
          </a:p>
        </p:txBody>
      </p:sp>
      <p:sp>
        <p:nvSpPr>
          <p:cNvPr id="7" name="Shape 5"/>
          <p:cNvSpPr/>
          <p:nvPr/>
        </p:nvSpPr>
        <p:spPr>
          <a:xfrm>
            <a:off x="548640" y="2724912"/>
            <a:ext cx="3493008" cy="2697480"/>
          </a:xfrm>
          <a:prstGeom prst="roundRect">
            <a:avLst>
              <a:gd name="adj" fmla="val 4068"/>
            </a:avLst>
          </a:prstGeom>
          <a:solidFill>
            <a:srgbClr val="EAF2EB"/>
          </a:solidFill>
          <a:ln w="12700">
            <a:solidFill>
              <a:srgbClr val="EAF2EB"/>
            </a:solidFill>
            <a:prstDash val="solid"/>
          </a:ln>
        </p:spPr>
      </p:sp>
      <p:sp>
        <p:nvSpPr>
          <p:cNvPr id="8" name="Text 6"/>
          <p:cNvSpPr/>
          <p:nvPr/>
        </p:nvSpPr>
        <p:spPr>
          <a:xfrm>
            <a:off x="777240"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RECORD</a:t>
            </a:r>
            <a:endParaRPr lang="en-US" sz="2300" dirty="0"/>
          </a:p>
        </p:txBody>
      </p:sp>
      <p:sp>
        <p:nvSpPr>
          <p:cNvPr id="9" name="Text 7"/>
          <p:cNvSpPr/>
          <p:nvPr/>
        </p:nvSpPr>
        <p:spPr>
          <a:xfrm>
            <a:off x="777240" y="3630168"/>
            <a:ext cx="3035808" cy="160020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Case and impact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Evidence and time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Safety concern?</a:t>
            </a:r>
            <a:endParaRPr lang="en-US" sz="1900" dirty="0"/>
          </a:p>
        </p:txBody>
      </p:sp>
      <p:sp>
        <p:nvSpPr>
          <p:cNvPr id="10" name="Shape 8"/>
          <p:cNvSpPr/>
          <p:nvPr/>
        </p:nvSpPr>
        <p:spPr>
          <a:xfrm>
            <a:off x="4352544" y="2724912"/>
            <a:ext cx="3493008" cy="2697480"/>
          </a:xfrm>
          <a:prstGeom prst="roundRect">
            <a:avLst>
              <a:gd name="adj" fmla="val 4068"/>
            </a:avLst>
          </a:prstGeom>
          <a:solidFill>
            <a:srgbClr val="FFFFFF"/>
          </a:solidFill>
          <a:ln w="12700">
            <a:solidFill>
              <a:srgbClr val="FFFFFF"/>
            </a:solidFill>
            <a:prstDash val="solid"/>
          </a:ln>
        </p:spPr>
      </p:sp>
      <p:sp>
        <p:nvSpPr>
          <p:cNvPr id="11" name="Text 9"/>
          <p:cNvSpPr/>
          <p:nvPr/>
        </p:nvSpPr>
        <p:spPr>
          <a:xfrm>
            <a:off x="4581144"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DECIDE</a:t>
            </a:r>
            <a:endParaRPr lang="en-US" sz="2300" dirty="0"/>
          </a:p>
        </p:txBody>
      </p:sp>
      <p:sp>
        <p:nvSpPr>
          <p:cNvPr id="12" name="Text 10"/>
          <p:cNvSpPr/>
          <p:nvPr/>
        </p:nvSpPr>
        <p:spPr>
          <a:xfrm>
            <a:off x="4581144" y="3630168"/>
            <a:ext cx="3035808" cy="160020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Named decision owner</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Resolution due time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Permitted fallback</a:t>
            </a:r>
            <a:endParaRPr lang="en-US" sz="1900" dirty="0"/>
          </a:p>
        </p:txBody>
      </p:sp>
      <p:sp>
        <p:nvSpPr>
          <p:cNvPr id="13" name="Shape 11"/>
          <p:cNvSpPr/>
          <p:nvPr/>
        </p:nvSpPr>
        <p:spPr>
          <a:xfrm>
            <a:off x="8156448" y="2724912"/>
            <a:ext cx="3493008" cy="2697480"/>
          </a:xfrm>
          <a:prstGeom prst="roundRect">
            <a:avLst>
              <a:gd name="adj" fmla="val 4068"/>
            </a:avLst>
          </a:prstGeom>
          <a:solidFill>
            <a:srgbClr val="EAF2EB"/>
          </a:solidFill>
          <a:ln w="12700">
            <a:solidFill>
              <a:srgbClr val="EAF2EB"/>
            </a:solidFill>
            <a:prstDash val="solid"/>
          </a:ln>
        </p:spPr>
      </p:sp>
      <p:sp>
        <p:nvSpPr>
          <p:cNvPr id="14" name="Text 12"/>
          <p:cNvSpPr/>
          <p:nvPr/>
        </p:nvSpPr>
        <p:spPr>
          <a:xfrm>
            <a:off x="8385048" y="2935224"/>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RE-CHECK</a:t>
            </a:r>
            <a:endParaRPr lang="en-US" sz="2300" dirty="0"/>
          </a:p>
        </p:txBody>
      </p:sp>
      <p:sp>
        <p:nvSpPr>
          <p:cNvPr id="15" name="Text 13"/>
          <p:cNvSpPr/>
          <p:nvPr/>
        </p:nvSpPr>
        <p:spPr>
          <a:xfrm>
            <a:off x="8385048" y="3630168"/>
            <a:ext cx="3035808" cy="1600200"/>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Scope and approvals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Tests and dependencies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People to inform</a:t>
            </a:r>
            <a:endParaRPr lang="en-US" sz="1900" dirty="0"/>
          </a:p>
        </p:txBody>
      </p:sp>
      <p:sp>
        <p:nvSpPr>
          <p:cNvPr id="16" name="Text 14"/>
          <p:cNvSpPr/>
          <p:nvPr/>
        </p:nvSpPr>
        <p:spPr>
          <a:xfrm>
            <a:off x="594360" y="5733288"/>
            <a:ext cx="10972800" cy="457200"/>
          </a:xfrm>
          <a:prstGeom prst="rect">
            <a:avLst/>
          </a:prstGeom>
          <a:noFill/>
          <a:ln/>
        </p:spPr>
        <p:txBody>
          <a:bodyPr wrap="square" lIns="0" tIns="0" rIns="0" bIns="0" rtlCol="0" anchor="t"/>
          <a:lstStyle/>
          <a:p>
            <a:pPr indent="0" marL="0">
              <a:buNone/>
            </a:pPr>
            <a:r>
              <a:rPr lang="en-US" sz="1800" b="1" dirty="0">
                <a:solidFill>
                  <a:srgbClr val="162D24"/>
                </a:solidFill>
                <a:latin typeface="Calibri" pitchFamily="34" charset="0"/>
                <a:ea typeface="Calibri" pitchFamily="34" charset="-122"/>
                <a:cs typeface="Calibri" pitchFamily="34" charset="-120"/>
              </a:rPr>
              <a:t>If separate copies conflict, compare changes. Preserve the decision history and other people's work.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Show proof, not promises</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Use all six test categories. Record Pass, Fail or Not run honestly.</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12</a:t>
            </a:r>
            <a:endParaRPr lang="en-US" sz="1100" dirty="0"/>
          </a:p>
        </p:txBody>
      </p:sp>
      <p:sp>
        <p:nvSpPr>
          <p:cNvPr id="7" name="Shape 5"/>
          <p:cNvSpPr/>
          <p:nvPr/>
        </p:nvSpPr>
        <p:spPr>
          <a:xfrm>
            <a:off x="548640" y="2734056"/>
            <a:ext cx="3493008" cy="2670048"/>
          </a:xfrm>
          <a:prstGeom prst="roundRect">
            <a:avLst>
              <a:gd name="adj" fmla="val 4110"/>
            </a:avLst>
          </a:prstGeom>
          <a:solidFill>
            <a:srgbClr val="EAF2EB"/>
          </a:solidFill>
          <a:ln w="12700">
            <a:solidFill>
              <a:srgbClr val="EAF2EB"/>
            </a:solidFill>
            <a:prstDash val="solid"/>
          </a:ln>
        </p:spPr>
      </p:sp>
      <p:sp>
        <p:nvSpPr>
          <p:cNvPr id="8" name="Text 6"/>
          <p:cNvSpPr/>
          <p:nvPr/>
        </p:nvSpPr>
        <p:spPr>
          <a:xfrm>
            <a:off x="777240" y="2944368"/>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USEFUL</a:t>
            </a:r>
            <a:endParaRPr lang="en-US" sz="2300" dirty="0"/>
          </a:p>
        </p:txBody>
      </p:sp>
      <p:sp>
        <p:nvSpPr>
          <p:cNvPr id="9" name="Text 7"/>
          <p:cNvSpPr/>
          <p:nvPr/>
        </p:nvSpPr>
        <p:spPr>
          <a:xfrm>
            <a:off x="777240" y="3639312"/>
            <a:ext cx="3035808" cy="15727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Expected useful path</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Correct, supported answer</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Process-owner review</a:t>
            </a:r>
            <a:endParaRPr lang="en-US" sz="1900" dirty="0"/>
          </a:p>
        </p:txBody>
      </p:sp>
      <p:sp>
        <p:nvSpPr>
          <p:cNvPr id="10" name="Shape 8"/>
          <p:cNvSpPr/>
          <p:nvPr/>
        </p:nvSpPr>
        <p:spPr>
          <a:xfrm>
            <a:off x="4352544" y="2734056"/>
            <a:ext cx="3493008" cy="2670048"/>
          </a:xfrm>
          <a:prstGeom prst="roundRect">
            <a:avLst>
              <a:gd name="adj" fmla="val 4110"/>
            </a:avLst>
          </a:prstGeom>
          <a:solidFill>
            <a:srgbClr val="FFFFFF"/>
          </a:solidFill>
          <a:ln w="12700">
            <a:solidFill>
              <a:srgbClr val="FFFFFF"/>
            </a:solidFill>
            <a:prstDash val="solid"/>
          </a:ln>
        </p:spPr>
      </p:sp>
      <p:sp>
        <p:nvSpPr>
          <p:cNvPr id="11" name="Text 9"/>
          <p:cNvSpPr/>
          <p:nvPr/>
        </p:nvSpPr>
        <p:spPr>
          <a:xfrm>
            <a:off x="4581144" y="2944368"/>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BOUNDED</a:t>
            </a:r>
            <a:endParaRPr lang="en-US" sz="2300" dirty="0"/>
          </a:p>
        </p:txBody>
      </p:sp>
      <p:sp>
        <p:nvSpPr>
          <p:cNvPr id="12" name="Text 10"/>
          <p:cNvSpPr/>
          <p:nvPr/>
        </p:nvSpPr>
        <p:spPr>
          <a:xfrm>
            <a:off x="4581144" y="3639312"/>
            <a:ext cx="3035808" cy="15727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Missing / denied knowledge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Out-of-scope request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Misleading instructions</a:t>
            </a:r>
            <a:endParaRPr lang="en-US" sz="1900" dirty="0"/>
          </a:p>
        </p:txBody>
      </p:sp>
      <p:sp>
        <p:nvSpPr>
          <p:cNvPr id="13" name="Shape 11"/>
          <p:cNvSpPr/>
          <p:nvPr/>
        </p:nvSpPr>
        <p:spPr>
          <a:xfrm>
            <a:off x="8156448" y="2734056"/>
            <a:ext cx="3493008" cy="2670048"/>
          </a:xfrm>
          <a:prstGeom prst="roundRect">
            <a:avLst>
              <a:gd name="adj" fmla="val 4110"/>
            </a:avLst>
          </a:prstGeom>
          <a:solidFill>
            <a:srgbClr val="EAF2EB"/>
          </a:solidFill>
          <a:ln w="12700">
            <a:solidFill>
              <a:srgbClr val="EAF2EB"/>
            </a:solidFill>
            <a:prstDash val="solid"/>
          </a:ln>
        </p:spPr>
      </p:sp>
      <p:sp>
        <p:nvSpPr>
          <p:cNvPr id="14" name="Text 12"/>
          <p:cNvSpPr/>
          <p:nvPr/>
        </p:nvSpPr>
        <p:spPr>
          <a:xfrm>
            <a:off x="8385048" y="2944368"/>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CONTROLLED</a:t>
            </a:r>
            <a:endParaRPr lang="en-US" sz="2300" dirty="0"/>
          </a:p>
        </p:txBody>
      </p:sp>
      <p:sp>
        <p:nvSpPr>
          <p:cNvPr id="15" name="Text 13"/>
          <p:cNvSpPr/>
          <p:nvPr/>
        </p:nvSpPr>
        <p:spPr>
          <a:xfrm>
            <a:off x="8385048" y="3639312"/>
            <a:ext cx="3035808" cy="15727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Human approval for action</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Or an explicit read-only limit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Evidence and retest owner</a:t>
            </a:r>
            <a:endParaRPr lang="en-US" sz="1900" dirty="0"/>
          </a:p>
        </p:txBody>
      </p:sp>
      <p:sp>
        <p:nvSpPr>
          <p:cNvPr id="16" name="Text 14"/>
          <p:cNvSpPr/>
          <p:nvPr/>
        </p:nvSpPr>
        <p:spPr>
          <a:xfrm>
            <a:off x="594360" y="5742432"/>
            <a:ext cx="10972800" cy="457200"/>
          </a:xfrm>
          <a:prstGeom prst="rect">
            <a:avLst/>
          </a:prstGeom>
          <a:noFill/>
          <a:ln/>
        </p:spPr>
        <p:txBody>
          <a:bodyPr wrap="square" lIns="0" tIns="0" rIns="0" bIns="0" rtlCol="0" anchor="t"/>
          <a:lstStyle/>
          <a:p>
            <a:pPr indent="0" marL="0">
              <a:buNone/>
            </a:pPr>
            <a:r>
              <a:rPr lang="en-US" sz="1800" b="1" dirty="0">
                <a:solidFill>
                  <a:srgbClr val="162D24"/>
                </a:solidFill>
                <a:latin typeface="Calibri" pitchFamily="34" charset="0"/>
                <a:ea typeface="Calibri" pitchFamily="34" charset="-122"/>
                <a:cs typeface="Calibri" pitchFamily="34" charset="-120"/>
              </a:rPr>
              <a:t>A demo is not a quality benchmark. No invented accuracy, savings, approvals or production readiness.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No orphaned prototypes</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Every case leaves with a decision, accepted ownership and a calendar date.</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13</a:t>
            </a:r>
            <a:endParaRPr lang="en-US" sz="1100" dirty="0"/>
          </a:p>
        </p:txBody>
      </p:sp>
      <p:sp>
        <p:nvSpPr>
          <p:cNvPr id="7" name="Shape 5"/>
          <p:cNvSpPr/>
          <p:nvPr/>
        </p:nvSpPr>
        <p:spPr>
          <a:xfrm>
            <a:off x="548640" y="2706624"/>
            <a:ext cx="6675120" cy="2898648"/>
          </a:xfrm>
          <a:prstGeom prst="roundRect">
            <a:avLst>
              <a:gd name="adj" fmla="val 3785"/>
            </a:avLst>
          </a:prstGeom>
          <a:solidFill>
            <a:srgbClr val="EAF2EB"/>
          </a:solidFill>
          <a:ln w="12700">
            <a:solidFill>
              <a:srgbClr val="EAF2EB"/>
            </a:solidFill>
            <a:prstDash val="solid"/>
          </a:ln>
        </p:spPr>
      </p:sp>
      <p:sp>
        <p:nvSpPr>
          <p:cNvPr id="8" name="Text 6"/>
          <p:cNvSpPr/>
          <p:nvPr/>
        </p:nvSpPr>
        <p:spPr>
          <a:xfrm>
            <a:off x="777240" y="2916936"/>
            <a:ext cx="621792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EXIT PACKAGE</a:t>
            </a:r>
            <a:endParaRPr lang="en-US" sz="2300" dirty="0"/>
          </a:p>
        </p:txBody>
      </p:sp>
      <p:sp>
        <p:nvSpPr>
          <p:cNvPr id="9" name="Text 7"/>
          <p:cNvSpPr/>
          <p:nvPr/>
        </p:nvSpPr>
        <p:spPr>
          <a:xfrm>
            <a:off x="777240" y="3611880"/>
            <a:ext cx="6217920" cy="18013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What was built and demonstrated</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Demo or blocker; tests and limitations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Business, technical and delivery owners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Next milestone, date and pilot/cleanup plan</a:t>
            </a:r>
            <a:endParaRPr lang="en-US" sz="1900" dirty="0"/>
          </a:p>
        </p:txBody>
      </p:sp>
      <p:sp>
        <p:nvSpPr>
          <p:cNvPr id="10" name="Shape 8"/>
          <p:cNvSpPr/>
          <p:nvPr/>
        </p:nvSpPr>
        <p:spPr>
          <a:xfrm>
            <a:off x="7562088" y="2706624"/>
            <a:ext cx="4069080" cy="2898648"/>
          </a:xfrm>
          <a:prstGeom prst="roundRect">
            <a:avLst>
              <a:gd name="adj" fmla="val 3785"/>
            </a:avLst>
          </a:prstGeom>
          <a:solidFill>
            <a:srgbClr val="FFFFFF"/>
          </a:solidFill>
          <a:ln w="12700">
            <a:solidFill>
              <a:srgbClr val="FFFFFF"/>
            </a:solidFill>
            <a:prstDash val="solid"/>
          </a:ln>
        </p:spPr>
      </p:sp>
      <p:sp>
        <p:nvSpPr>
          <p:cNvPr id="11" name="Text 9"/>
          <p:cNvSpPr/>
          <p:nvPr/>
        </p:nvSpPr>
        <p:spPr>
          <a:xfrm>
            <a:off x="7790688" y="2916936"/>
            <a:ext cx="361188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DECISION OPTIONS</a:t>
            </a:r>
            <a:endParaRPr lang="en-US" sz="2300" dirty="0"/>
          </a:p>
        </p:txBody>
      </p:sp>
      <p:sp>
        <p:nvSpPr>
          <p:cNvPr id="12" name="Text 10"/>
          <p:cNvSpPr/>
          <p:nvPr/>
        </p:nvSpPr>
        <p:spPr>
          <a:xfrm>
            <a:off x="7790688" y="3611880"/>
            <a:ext cx="3611880" cy="180136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Stop / Archive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Customer-led</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Partner-led pilot</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Microsoft-supported candidate</a:t>
            </a:r>
            <a:endParaRPr lang="en-US" sz="1900" dirty="0"/>
          </a:p>
        </p:txBody>
      </p:sp>
      <p:sp>
        <p:nvSpPr>
          <p:cNvPr id="13" name="Text 11"/>
          <p:cNvSpPr/>
          <p:nvPr/>
        </p:nvSpPr>
        <p:spPr>
          <a:xfrm>
            <a:off x="594360" y="5833872"/>
            <a:ext cx="10972800" cy="438912"/>
          </a:xfrm>
          <a:prstGeom prst="rect">
            <a:avLst/>
          </a:prstGeom>
          <a:noFill/>
          <a:ln/>
        </p:spPr>
        <p:txBody>
          <a:bodyPr wrap="square" lIns="0" tIns="0" rIns="0" bIns="0" rtlCol="0" anchor="t"/>
          <a:lstStyle/>
          <a:p>
            <a:pPr indent="0" marL="0">
              <a:buNone/>
            </a:pPr>
            <a:r>
              <a:rPr lang="en-US" sz="1700" b="1" dirty="0">
                <a:solidFill>
                  <a:srgbClr val="162D24"/>
                </a:solidFill>
                <a:latin typeface="Calibri" pitchFamily="34" charset="0"/>
                <a:ea typeface="Calibri" pitchFamily="34" charset="-122"/>
                <a:cs typeface="Calibri" pitchFamily="34" charset="-120"/>
              </a:rPr>
              <a:t>Confirm support eligibility separately. Plan retention/access/resource cleanup and a 30-day value check.</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Practice with a fictional case</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Shipping FAQ helper. No customer data, real approvals or measured savings.</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14</a:t>
            </a:r>
            <a:endParaRPr lang="en-US" sz="1100" dirty="0"/>
          </a:p>
        </p:txBody>
      </p:sp>
      <p:sp>
        <p:nvSpPr>
          <p:cNvPr id="7" name="Shape 5"/>
          <p:cNvSpPr/>
          <p:nvPr/>
        </p:nvSpPr>
        <p:spPr>
          <a:xfrm>
            <a:off x="548640" y="2697480"/>
            <a:ext cx="5394960" cy="2944368"/>
          </a:xfrm>
          <a:prstGeom prst="roundRect">
            <a:avLst>
              <a:gd name="adj" fmla="val 3727"/>
            </a:avLst>
          </a:prstGeom>
          <a:solidFill>
            <a:srgbClr val="EAF2EB"/>
          </a:solidFill>
          <a:ln w="12700">
            <a:solidFill>
              <a:srgbClr val="EAF2EB"/>
            </a:solidFill>
            <a:prstDash val="solid"/>
          </a:ln>
        </p:spPr>
      </p:sp>
      <p:sp>
        <p:nvSpPr>
          <p:cNvPr id="8" name="Text 6"/>
          <p:cNvSpPr/>
          <p:nvPr/>
        </p:nvSpPr>
        <p:spPr>
          <a:xfrm>
            <a:off x="777240"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THE DEMO SLICE</a:t>
            </a:r>
            <a:endParaRPr lang="en-US" sz="2300" dirty="0"/>
          </a:p>
        </p:txBody>
      </p:sp>
      <p:sp>
        <p:nvSpPr>
          <p:cNvPr id="9" name="Text 7"/>
          <p:cNvSpPr/>
          <p:nvPr/>
        </p:nvSpPr>
        <p:spPr>
          <a:xfrm>
            <a:off x="777240" y="3602736"/>
            <a:ext cx="4937760" cy="184708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Question -&gt; search five fictional FAQs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-&gt; source-linked answer draft.</a:t>
            </a:r>
            <a:endParaRPr lang="en-US" sz="1900" dirty="0"/>
          </a:p>
          <a:p>
            <a:pPr indent="0" marL="0">
              <a:buNone/>
            </a:pP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Read-only. No shipment updates,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refunds or customer messages.</a:t>
            </a:r>
            <a:endParaRPr lang="en-US" sz="1900" dirty="0"/>
          </a:p>
        </p:txBody>
      </p:sp>
      <p:sp>
        <p:nvSpPr>
          <p:cNvPr id="10" name="Shape 8"/>
          <p:cNvSpPr/>
          <p:nvPr/>
        </p:nvSpPr>
        <p:spPr>
          <a:xfrm>
            <a:off x="6245352" y="2697480"/>
            <a:ext cx="5394960" cy="2944368"/>
          </a:xfrm>
          <a:prstGeom prst="roundRect">
            <a:avLst>
              <a:gd name="adj" fmla="val 3727"/>
            </a:avLst>
          </a:prstGeom>
          <a:solidFill>
            <a:srgbClr val="FFFFFF"/>
          </a:solidFill>
          <a:ln w="12700">
            <a:solidFill>
              <a:srgbClr val="FFFFFF"/>
            </a:solidFill>
            <a:prstDash val="solid"/>
          </a:ln>
        </p:spPr>
      </p:sp>
      <p:sp>
        <p:nvSpPr>
          <p:cNvPr id="11" name="Text 9"/>
          <p:cNvSpPr/>
          <p:nvPr/>
        </p:nvSpPr>
        <p:spPr>
          <a:xfrm>
            <a:off x="6473952" y="2907792"/>
            <a:ext cx="4937760"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WHAT IS STILL UNKNOWN?</a:t>
            </a:r>
            <a:endParaRPr lang="en-US" sz="2300" dirty="0"/>
          </a:p>
        </p:txBody>
      </p:sp>
      <p:sp>
        <p:nvSpPr>
          <p:cNvPr id="12" name="Text 10"/>
          <p:cNvSpPr/>
          <p:nvPr/>
        </p:nvSpPr>
        <p:spPr>
          <a:xfrm>
            <a:off x="6473952" y="3602736"/>
            <a:ext cx="4937760" cy="1847088"/>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Real owner and attendance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Sample permission and access</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Baseline and actual benefit</a:t>
            </a:r>
            <a:endParaRPr lang="en-US" sz="1900" dirty="0"/>
          </a:p>
          <a:p>
            <a:pPr indent="0" marL="0">
              <a:buNone/>
            </a:pP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Resolve before selecting the case.</a:t>
            </a:r>
            <a:endParaRPr lang="en-US" sz="1900" dirty="0"/>
          </a:p>
        </p:txBody>
      </p:sp>
      <p:sp>
        <p:nvSpPr>
          <p:cNvPr id="13" name="Text 11"/>
          <p:cNvSpPr/>
          <p:nvPr/>
        </p:nvSpPr>
        <p:spPr>
          <a:xfrm>
            <a:off x="594360" y="5888736"/>
            <a:ext cx="10972800" cy="347472"/>
          </a:xfrm>
          <a:prstGeom prst="rect">
            <a:avLst/>
          </a:prstGeom>
          <a:noFill/>
          <a:ln/>
        </p:spPr>
        <p:txBody>
          <a:bodyPr wrap="square" lIns="0" tIns="0" rIns="0" bIns="0" rtlCol="0" anchor="t"/>
          <a:lstStyle/>
          <a:p>
            <a:pPr indent="0" marL="0">
              <a:buNone/>
            </a:pPr>
            <a:r>
              <a:rPr lang="en-US" sz="1700" b="1" dirty="0">
                <a:solidFill>
                  <a:srgbClr val="162D24"/>
                </a:solidFill>
                <a:latin typeface="Calibri" pitchFamily="34" charset="0"/>
                <a:ea typeface="Calibri" pitchFamily="34" charset="-122"/>
                <a:cs typeface="Calibri" pitchFamily="34" charset="-120"/>
              </a:rPr>
              <a:t>Activity: compare simple FAQ search first. Write the next review action, owner and calendar date.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4B6256"/>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162D24"/>
                </a:solidFill>
                <a:latin typeface="Trebuchet MS" pitchFamily="34" charset="0"/>
                <a:ea typeface="Trebuchet MS" pitchFamily="34" charset="-122"/>
                <a:cs typeface="Trebuchet MS" pitchFamily="34" charset="-120"/>
              </a:rPr>
              <a:t>Use guidance; still confirm permission</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4B6256"/>
                </a:solidFill>
                <a:latin typeface="Calibri" pitchFamily="34" charset="0"/>
                <a:ea typeface="Calibri" pitchFamily="34" charset="-122"/>
                <a:cs typeface="Calibri" pitchFamily="34" charset="-120"/>
              </a:rPr>
              <a:t>The public sources inform the materials. Your internal decisions remain separate.</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4B6256"/>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4B6256"/>
                </a:solidFill>
                <a:latin typeface="Calibri" pitchFamily="34" charset="0"/>
                <a:ea typeface="Calibri" pitchFamily="34" charset="-122"/>
                <a:cs typeface="Calibri" pitchFamily="34" charset="-120"/>
              </a:rPr>
              <a:t>15</a:t>
            </a:r>
            <a:endParaRPr lang="en-US" sz="1100" dirty="0"/>
          </a:p>
        </p:txBody>
      </p:sp>
      <p:sp>
        <p:nvSpPr>
          <p:cNvPr id="7" name="Shape 5"/>
          <p:cNvSpPr/>
          <p:nvPr/>
        </p:nvSpPr>
        <p:spPr>
          <a:xfrm>
            <a:off x="548640" y="2688336"/>
            <a:ext cx="5394960" cy="768096"/>
          </a:xfrm>
          <a:prstGeom prst="roundRect">
            <a:avLst>
              <a:gd name="adj" fmla="val 14286"/>
            </a:avLst>
          </a:prstGeom>
          <a:solidFill>
            <a:srgbClr val="FFFFFF"/>
          </a:solidFill>
          <a:ln w="12700">
            <a:solidFill>
              <a:srgbClr val="FFFFFF"/>
            </a:solidFill>
            <a:prstDash val="solid"/>
          </a:ln>
        </p:spPr>
      </p:sp>
      <p:sp>
        <p:nvSpPr>
          <p:cNvPr id="8" name="Text 6">
            <a:hlinkClick r:id="rId1" tooltip=""/>
          </p:cNvPr>
          <p:cNvSpPr/>
          <p:nvPr/>
        </p:nvSpPr>
        <p:spPr>
          <a:xfrm>
            <a:off x="758952" y="2880360"/>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Organize hackathons</a:t>
            </a:r>
            <a:endParaRPr lang="en-US" sz="1800" dirty="0"/>
          </a:p>
        </p:txBody>
      </p:sp>
      <p:sp>
        <p:nvSpPr>
          <p:cNvPr id="9" name="Shape 7"/>
          <p:cNvSpPr/>
          <p:nvPr/>
        </p:nvSpPr>
        <p:spPr>
          <a:xfrm>
            <a:off x="6254496" y="2688336"/>
            <a:ext cx="5394960" cy="768096"/>
          </a:xfrm>
          <a:prstGeom prst="roundRect">
            <a:avLst>
              <a:gd name="adj" fmla="val 14286"/>
            </a:avLst>
          </a:prstGeom>
          <a:solidFill>
            <a:srgbClr val="EAF2EB"/>
          </a:solidFill>
          <a:ln w="12700">
            <a:solidFill>
              <a:srgbClr val="EAF2EB"/>
            </a:solidFill>
            <a:prstDash val="solid"/>
          </a:ln>
        </p:spPr>
      </p:sp>
      <p:sp>
        <p:nvSpPr>
          <p:cNvPr id="10" name="Text 8">
            <a:hlinkClick r:id="rId2" tooltip=""/>
          </p:cNvPr>
          <p:cNvSpPr/>
          <p:nvPr/>
        </p:nvSpPr>
        <p:spPr>
          <a:xfrm>
            <a:off x="6464808" y="2880360"/>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Envision high-value use cases</a:t>
            </a:r>
            <a:endParaRPr lang="en-US" sz="1800" dirty="0"/>
          </a:p>
        </p:txBody>
      </p:sp>
      <p:sp>
        <p:nvSpPr>
          <p:cNvPr id="11" name="Shape 9"/>
          <p:cNvSpPr/>
          <p:nvPr/>
        </p:nvSpPr>
        <p:spPr>
          <a:xfrm>
            <a:off x="548640" y="3730752"/>
            <a:ext cx="5394960" cy="768096"/>
          </a:xfrm>
          <a:prstGeom prst="roundRect">
            <a:avLst>
              <a:gd name="adj" fmla="val 14286"/>
            </a:avLst>
          </a:prstGeom>
          <a:solidFill>
            <a:srgbClr val="FFFFFF"/>
          </a:solidFill>
          <a:ln w="12700">
            <a:solidFill>
              <a:srgbClr val="FFFFFF"/>
            </a:solidFill>
            <a:prstDash val="solid"/>
          </a:ln>
        </p:spPr>
      </p:sp>
      <p:sp>
        <p:nvSpPr>
          <p:cNvPr id="12" name="Text 10">
            <a:hlinkClick r:id="rId3" tooltip=""/>
          </p:cNvPr>
          <p:cNvSpPr/>
          <p:nvPr/>
        </p:nvSpPr>
        <p:spPr>
          <a:xfrm>
            <a:off x="758952" y="3922776"/>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Copilot Studio licensing and subscriptions</a:t>
            </a:r>
            <a:endParaRPr lang="en-US" sz="1800" dirty="0"/>
          </a:p>
        </p:txBody>
      </p:sp>
      <p:sp>
        <p:nvSpPr>
          <p:cNvPr id="13" name="Shape 11"/>
          <p:cNvSpPr/>
          <p:nvPr/>
        </p:nvSpPr>
        <p:spPr>
          <a:xfrm>
            <a:off x="6254496" y="3730752"/>
            <a:ext cx="5394960" cy="768096"/>
          </a:xfrm>
          <a:prstGeom prst="roundRect">
            <a:avLst>
              <a:gd name="adj" fmla="val 14286"/>
            </a:avLst>
          </a:prstGeom>
          <a:solidFill>
            <a:srgbClr val="EAF2EB"/>
          </a:solidFill>
          <a:ln w="12700">
            <a:solidFill>
              <a:srgbClr val="EAF2EB"/>
            </a:solidFill>
            <a:prstDash val="solid"/>
          </a:ln>
        </p:spPr>
      </p:sp>
      <p:sp>
        <p:nvSpPr>
          <p:cNvPr id="14" name="Text 12">
            <a:hlinkClick r:id="rId4" tooltip=""/>
          </p:cNvPr>
          <p:cNvSpPr/>
          <p:nvPr/>
        </p:nvSpPr>
        <p:spPr>
          <a:xfrm>
            <a:off x="6464808" y="3922776"/>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Configure data policies for agents</a:t>
            </a:r>
            <a:endParaRPr lang="en-US" sz="1800" dirty="0"/>
          </a:p>
        </p:txBody>
      </p:sp>
      <p:sp>
        <p:nvSpPr>
          <p:cNvPr id="15" name="Shape 13"/>
          <p:cNvSpPr/>
          <p:nvPr/>
        </p:nvSpPr>
        <p:spPr>
          <a:xfrm>
            <a:off x="548640" y="4773168"/>
            <a:ext cx="5394960" cy="768096"/>
          </a:xfrm>
          <a:prstGeom prst="roundRect">
            <a:avLst>
              <a:gd name="adj" fmla="val 14286"/>
            </a:avLst>
          </a:prstGeom>
          <a:solidFill>
            <a:srgbClr val="FFFFFF"/>
          </a:solidFill>
          <a:ln w="12700">
            <a:solidFill>
              <a:srgbClr val="FFFFFF"/>
            </a:solidFill>
            <a:prstDash val="solid"/>
          </a:ln>
        </p:spPr>
      </p:sp>
      <p:sp>
        <p:nvSpPr>
          <p:cNvPr id="16" name="Text 14">
            <a:hlinkClick r:id="rId5" tooltip=""/>
          </p:cNvPr>
          <p:cNvSpPr/>
          <p:nvPr/>
        </p:nvSpPr>
        <p:spPr>
          <a:xfrm>
            <a:off x="758952" y="4965192"/>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Responsible AI policies</a:t>
            </a:r>
            <a:endParaRPr lang="en-US" sz="1800" dirty="0"/>
          </a:p>
        </p:txBody>
      </p:sp>
      <p:sp>
        <p:nvSpPr>
          <p:cNvPr id="17" name="Shape 15"/>
          <p:cNvSpPr/>
          <p:nvPr/>
        </p:nvSpPr>
        <p:spPr>
          <a:xfrm>
            <a:off x="6254496" y="4773168"/>
            <a:ext cx="5394960" cy="768096"/>
          </a:xfrm>
          <a:prstGeom prst="roundRect">
            <a:avLst>
              <a:gd name="adj" fmla="val 14286"/>
            </a:avLst>
          </a:prstGeom>
          <a:solidFill>
            <a:srgbClr val="EAF2EB"/>
          </a:solidFill>
          <a:ln w="12700">
            <a:solidFill>
              <a:srgbClr val="EAF2EB"/>
            </a:solidFill>
            <a:prstDash val="solid"/>
          </a:ln>
        </p:spPr>
      </p:sp>
      <p:sp>
        <p:nvSpPr>
          <p:cNvPr id="18" name="Text 16">
            <a:hlinkClick r:id="rId6" tooltip=""/>
          </p:cNvPr>
          <p:cNvSpPr/>
          <p:nvPr/>
        </p:nvSpPr>
        <p:spPr>
          <a:xfrm>
            <a:off x="6464808" y="4965192"/>
            <a:ext cx="4956048" cy="429768"/>
          </a:xfrm>
          <a:prstGeom prst="rect">
            <a:avLst/>
          </a:prstGeom>
          <a:noFill/>
          <a:ln/>
        </p:spPr>
        <p:txBody>
          <a:bodyPr wrap="square" lIns="0" tIns="0" rIns="0" bIns="0" rtlCol="0" anchor="t"/>
          <a:lstStyle/>
          <a:p>
            <a:pPr indent="0" marL="0">
              <a:buNone/>
            </a:pPr>
            <a:r>
              <a:rPr lang="en-US" sz="1800" b="1" u="sng" dirty="0">
                <a:solidFill>
                  <a:srgbClr val="24553C"/>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Measure and communicate business value</a:t>
            </a:r>
            <a:endParaRPr lang="en-US" sz="1800" dirty="0"/>
          </a:p>
        </p:txBody>
      </p:sp>
      <p:sp>
        <p:nvSpPr>
          <p:cNvPr id="19" name="Text 17"/>
          <p:cNvSpPr/>
          <p:nvPr/>
        </p:nvSpPr>
        <p:spPr>
          <a:xfrm>
            <a:off x="594360" y="5998464"/>
            <a:ext cx="10972800" cy="228600"/>
          </a:xfrm>
          <a:prstGeom prst="rect">
            <a:avLst/>
          </a:prstGeom>
          <a:noFill/>
          <a:ln/>
        </p:spPr>
        <p:txBody>
          <a:bodyPr wrap="square" lIns="0" tIns="0" rIns="0" bIns="0" rtlCol="0" anchor="t"/>
          <a:lstStyle/>
          <a:p>
            <a:pPr indent="0" marL="0">
              <a:buNone/>
            </a:pPr>
            <a:r>
              <a:rPr lang="en-US" sz="1600" dirty="0">
                <a:solidFill>
                  <a:srgbClr val="4B6256"/>
                </a:solidFill>
                <a:latin typeface="Calibri" pitchFamily="34" charset="0"/>
                <a:ea typeface="Calibri" pitchFamily="34" charset="-122"/>
                <a:cs typeface="Calibri" pitchFamily="34" charset="-120"/>
              </a:rPr>
              <a:t>Full reference list: workbook page 14. Check current product terms and the relevant internal approver.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D24"/>
        </a:solidFill>
      </p:bgPr>
    </p:bg>
    <p:spTree>
      <p:nvGrpSpPr>
        <p:cNvPr id="1" name=""/>
        <p:cNvGrpSpPr/>
        <p:nvPr/>
      </p:nvGrpSpPr>
      <p:grpSpPr>
        <a:xfrm>
          <a:off x="0" y="0"/>
          <a:ext cx="0" cy="0"/>
          <a:chOff x="0" y="0"/>
          <a:chExt cx="0" cy="0"/>
        </a:xfrm>
      </p:grpSpPr>
      <p:sp>
        <p:nvSpPr>
          <p:cNvPr id="2" name="Text 0"/>
          <p:cNvSpPr/>
          <p:nvPr/>
        </p:nvSpPr>
        <p:spPr>
          <a:xfrm>
            <a:off x="548640" y="320040"/>
            <a:ext cx="10881360" cy="228600"/>
          </a:xfrm>
          <a:prstGeom prst="rect">
            <a:avLst/>
          </a:prstGeom>
          <a:noFill/>
          <a:ln/>
        </p:spPr>
        <p:txBody>
          <a:bodyPr wrap="square" lIns="0" tIns="0" rIns="0" bIns="0" rtlCol="0" anchor="t"/>
          <a:lstStyle/>
          <a:p>
            <a:pPr indent="0" marL="0">
              <a:buNone/>
            </a:pPr>
            <a:r>
              <a:rPr lang="en-US" sz="1100" b="1" spc="130" kern="0" dirty="0">
                <a:solidFill>
                  <a:srgbClr val="C4DACB"/>
                </a:solidFill>
                <a:latin typeface="Calibri" pitchFamily="34" charset="0"/>
                <a:ea typeface="Calibri" pitchFamily="34" charset="-122"/>
                <a:cs typeface="Calibri" pitchFamily="34" charset="-120"/>
              </a:rPr>
              <a:t>HACKATHON FACILITATOR / NO-INSTALL WORKSHOP</a:t>
            </a:r>
            <a:endParaRPr lang="en-US" sz="1100" dirty="0"/>
          </a:p>
        </p:txBody>
      </p:sp>
      <p:sp>
        <p:nvSpPr>
          <p:cNvPr id="3" name="Text 1"/>
          <p:cNvSpPr/>
          <p:nvPr/>
        </p:nvSpPr>
        <p:spPr>
          <a:xfrm>
            <a:off x="548640" y="859536"/>
            <a:ext cx="11064240" cy="868680"/>
          </a:xfrm>
          <a:prstGeom prst="rect">
            <a:avLst/>
          </a:prstGeom>
          <a:noFill/>
          <a:ln/>
        </p:spPr>
        <p:txBody>
          <a:bodyPr wrap="square" lIns="0" tIns="0" rIns="0" bIns="0" rtlCol="0" anchor="t"/>
          <a:lstStyle/>
          <a:p>
            <a:pPr indent="0" marL="0">
              <a:buNone/>
            </a:pPr>
            <a:r>
              <a:rPr lang="en-US" sz="3600" b="1" dirty="0">
                <a:solidFill>
                  <a:srgbClr val="FFFFFF"/>
                </a:solidFill>
                <a:latin typeface="Trebuchet MS" pitchFamily="34" charset="0"/>
                <a:ea typeface="Trebuchet MS" pitchFamily="34" charset="-122"/>
                <a:cs typeface="Trebuchet MS" pitchFamily="34" charset="-120"/>
              </a:rPr>
              <a:t>Leave with three concrete things</a:t>
            </a:r>
            <a:endParaRPr lang="en-US" sz="3600" dirty="0"/>
          </a:p>
        </p:txBody>
      </p:sp>
      <p:sp>
        <p:nvSpPr>
          <p:cNvPr id="4" name="Text 2"/>
          <p:cNvSpPr/>
          <p:nvPr/>
        </p:nvSpPr>
        <p:spPr>
          <a:xfrm>
            <a:off x="548640" y="1773936"/>
            <a:ext cx="10972800" cy="457200"/>
          </a:xfrm>
          <a:prstGeom prst="rect">
            <a:avLst/>
          </a:prstGeom>
          <a:noFill/>
          <a:ln/>
        </p:spPr>
        <p:txBody>
          <a:bodyPr wrap="square" lIns="0" tIns="0" rIns="0" bIns="0" rtlCol="0" anchor="t"/>
          <a:lstStyle/>
          <a:p>
            <a:pPr indent="0" marL="0">
              <a:buNone/>
            </a:pPr>
            <a:r>
              <a:rPr lang="en-US" sz="1900" dirty="0">
                <a:solidFill>
                  <a:srgbClr val="D9E6DC"/>
                </a:solidFill>
                <a:latin typeface="Calibri" pitchFamily="34" charset="0"/>
                <a:ea typeface="Calibri" pitchFamily="34" charset="-122"/>
                <a:cs typeface="Calibri" pitchFamily="34" charset="-120"/>
              </a:rPr>
              <a:t>You can start today with the files. The Copilot agent is optional.</a:t>
            </a:r>
            <a:endParaRPr lang="en-US" sz="1900" dirty="0"/>
          </a:p>
        </p:txBody>
      </p:sp>
      <p:sp>
        <p:nvSpPr>
          <p:cNvPr id="5" name="Text 3"/>
          <p:cNvSpPr/>
          <p:nvPr/>
        </p:nvSpPr>
        <p:spPr>
          <a:xfrm>
            <a:off x="548640" y="6428232"/>
            <a:ext cx="8412480" cy="182880"/>
          </a:xfrm>
          <a:prstGeom prst="rect">
            <a:avLst/>
          </a:prstGeom>
          <a:noFill/>
          <a:ln/>
        </p:spPr>
        <p:txBody>
          <a:bodyPr wrap="square" lIns="0" tIns="0" rIns="0" bIns="0" rtlCol="0" anchor="t"/>
          <a:lstStyle/>
          <a:p>
            <a:pPr indent="0" marL="0">
              <a:buNone/>
            </a:pPr>
            <a:r>
              <a:rPr lang="en-US" sz="1000" dirty="0">
                <a:solidFill>
                  <a:srgbClr val="C4DACB"/>
                </a:solidFill>
                <a:latin typeface="Calibri" pitchFamily="34" charset="0"/>
                <a:ea typeface="Calibri" pitchFamily="34" charset="-122"/>
                <a:cs typeface="Calibri" pitchFamily="34" charset="-120"/>
              </a:rPr>
              <a:t>Project defaults, not corporate approval | v0.1.2</a:t>
            </a:r>
            <a:endParaRPr lang="en-US" sz="1000" dirty="0"/>
          </a:p>
        </p:txBody>
      </p:sp>
      <p:sp>
        <p:nvSpPr>
          <p:cNvPr id="6" name="Text 4"/>
          <p:cNvSpPr/>
          <p:nvPr/>
        </p:nvSpPr>
        <p:spPr>
          <a:xfrm>
            <a:off x="11064240" y="6409944"/>
            <a:ext cx="548640" cy="228600"/>
          </a:xfrm>
          <a:prstGeom prst="rect">
            <a:avLst/>
          </a:prstGeom>
          <a:noFill/>
          <a:ln/>
        </p:spPr>
        <p:txBody>
          <a:bodyPr wrap="square" lIns="0" tIns="0" rIns="0" bIns="0" rtlCol="0" anchor="t"/>
          <a:lstStyle/>
          <a:p>
            <a:pPr algn="r" indent="0" marL="0">
              <a:buNone/>
            </a:pPr>
            <a:r>
              <a:rPr lang="en-US" sz="1100" dirty="0">
                <a:solidFill>
                  <a:srgbClr val="C4DACB"/>
                </a:solidFill>
                <a:latin typeface="Calibri" pitchFamily="34" charset="0"/>
                <a:ea typeface="Calibri" pitchFamily="34" charset="-122"/>
                <a:cs typeface="Calibri" pitchFamily="34" charset="-120"/>
              </a:rPr>
              <a:t>16</a:t>
            </a:r>
            <a:endParaRPr lang="en-US" sz="1100" dirty="0"/>
          </a:p>
        </p:txBody>
      </p:sp>
      <p:sp>
        <p:nvSpPr>
          <p:cNvPr id="7" name="Shape 5"/>
          <p:cNvSpPr/>
          <p:nvPr/>
        </p:nvSpPr>
        <p:spPr>
          <a:xfrm>
            <a:off x="548640" y="2743200"/>
            <a:ext cx="3493008" cy="2359152"/>
          </a:xfrm>
          <a:prstGeom prst="roundRect">
            <a:avLst>
              <a:gd name="adj" fmla="val 4651"/>
            </a:avLst>
          </a:prstGeom>
          <a:solidFill>
            <a:srgbClr val="24553C"/>
          </a:solidFill>
          <a:ln w="12700">
            <a:solidFill>
              <a:srgbClr val="24553C"/>
            </a:solidFill>
            <a:prstDash val="solid"/>
          </a:ln>
        </p:spPr>
      </p:sp>
      <p:sp>
        <p:nvSpPr>
          <p:cNvPr id="8" name="Text 6"/>
          <p:cNvSpPr/>
          <p:nvPr/>
        </p:nvSpPr>
        <p:spPr>
          <a:xfrm>
            <a:off x="777240" y="2953512"/>
            <a:ext cx="3035808" cy="502920"/>
          </a:xfrm>
          <a:prstGeom prst="rect">
            <a:avLst/>
          </a:prstGeom>
          <a:noFill/>
          <a:ln/>
        </p:spPr>
        <p:txBody>
          <a:bodyPr wrap="square" lIns="0" tIns="0" rIns="0" bIns="0" rtlCol="0" anchor="t"/>
          <a:lstStyle/>
          <a:p>
            <a:pPr indent="0" marL="0">
              <a:buNone/>
            </a:pPr>
            <a:r>
              <a:rPr lang="en-US" sz="2300" b="1" dirty="0">
                <a:solidFill>
                  <a:srgbClr val="FFFFFF"/>
                </a:solidFill>
                <a:latin typeface="Trebuchet MS" pitchFamily="34" charset="0"/>
                <a:ea typeface="Trebuchet MS" pitchFamily="34" charset="-122"/>
                <a:cs typeface="Trebuchet MS" pitchFamily="34" charset="-120"/>
              </a:rPr>
              <a:t>A WORKING COPY</a:t>
            </a:r>
            <a:endParaRPr lang="en-US" sz="2300" dirty="0"/>
          </a:p>
        </p:txBody>
      </p:sp>
      <p:sp>
        <p:nvSpPr>
          <p:cNvPr id="9" name="Text 7"/>
          <p:cNvSpPr/>
          <p:nvPr/>
        </p:nvSpPr>
        <p:spPr>
          <a:xfrm>
            <a:off x="777240" y="3648456"/>
            <a:ext cx="3035808" cy="1261872"/>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Word templates saved</a:t>
            </a:r>
            <a:endParaRPr lang="en-US" sz="1900" dirty="0"/>
          </a:p>
          <a:p>
            <a:pPr indent="0" marL="0">
              <a:buNone/>
            </a:pPr>
            <a:r>
              <a:rPr lang="en-US" sz="1900" dirty="0">
                <a:solidFill>
                  <a:srgbClr val="FFFFFF"/>
                </a:solidFill>
                <a:latin typeface="Calibri" pitchFamily="34" charset="0"/>
                <a:ea typeface="Calibri" pitchFamily="34" charset="-122"/>
                <a:cs typeface="Calibri" pitchFamily="34" charset="-120"/>
              </a:rPr>
              <a:t>in an approved location.</a:t>
            </a:r>
            <a:endParaRPr lang="en-US" sz="1900" dirty="0"/>
          </a:p>
        </p:txBody>
      </p:sp>
      <p:sp>
        <p:nvSpPr>
          <p:cNvPr id="10" name="Shape 8"/>
          <p:cNvSpPr/>
          <p:nvPr/>
        </p:nvSpPr>
        <p:spPr>
          <a:xfrm>
            <a:off x="4352544" y="2743200"/>
            <a:ext cx="3493008" cy="2359152"/>
          </a:xfrm>
          <a:prstGeom prst="roundRect">
            <a:avLst>
              <a:gd name="adj" fmla="val 4651"/>
            </a:avLst>
          </a:prstGeom>
          <a:solidFill>
            <a:srgbClr val="DCE9DD"/>
          </a:solidFill>
          <a:ln w="12700">
            <a:solidFill>
              <a:srgbClr val="DCE9DD"/>
            </a:solidFill>
            <a:prstDash val="solid"/>
          </a:ln>
        </p:spPr>
      </p:sp>
      <p:sp>
        <p:nvSpPr>
          <p:cNvPr id="11" name="Text 9"/>
          <p:cNvSpPr/>
          <p:nvPr/>
        </p:nvSpPr>
        <p:spPr>
          <a:xfrm>
            <a:off x="4581144" y="2953512"/>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ONE USEFUL PATH</a:t>
            </a:r>
            <a:endParaRPr lang="en-US" sz="2300" dirty="0"/>
          </a:p>
        </p:txBody>
      </p:sp>
      <p:sp>
        <p:nvSpPr>
          <p:cNvPr id="12" name="Text 10"/>
          <p:cNvSpPr/>
          <p:nvPr/>
        </p:nvSpPr>
        <p:spPr>
          <a:xfrm>
            <a:off x="4581144" y="3648456"/>
            <a:ext cx="3035808" cy="1261872"/>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A bounded case with</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visible missing evidence.</a:t>
            </a:r>
            <a:endParaRPr lang="en-US" sz="1900" dirty="0"/>
          </a:p>
        </p:txBody>
      </p:sp>
      <p:sp>
        <p:nvSpPr>
          <p:cNvPr id="13" name="Shape 11"/>
          <p:cNvSpPr/>
          <p:nvPr/>
        </p:nvSpPr>
        <p:spPr>
          <a:xfrm>
            <a:off x="8156448" y="2743200"/>
            <a:ext cx="3493008" cy="2359152"/>
          </a:xfrm>
          <a:prstGeom prst="roundRect">
            <a:avLst>
              <a:gd name="adj" fmla="val 4651"/>
            </a:avLst>
          </a:prstGeom>
          <a:solidFill>
            <a:srgbClr val="F0EDDD"/>
          </a:solidFill>
          <a:ln w="12700">
            <a:solidFill>
              <a:srgbClr val="F0EDDD"/>
            </a:solidFill>
            <a:prstDash val="solid"/>
          </a:ln>
        </p:spPr>
      </p:sp>
      <p:sp>
        <p:nvSpPr>
          <p:cNvPr id="14" name="Text 12"/>
          <p:cNvSpPr/>
          <p:nvPr/>
        </p:nvSpPr>
        <p:spPr>
          <a:xfrm>
            <a:off x="8385048" y="2953512"/>
            <a:ext cx="3035808" cy="502920"/>
          </a:xfrm>
          <a:prstGeom prst="rect">
            <a:avLst/>
          </a:prstGeom>
          <a:noFill/>
          <a:ln/>
        </p:spPr>
        <p:txBody>
          <a:bodyPr wrap="square" lIns="0" tIns="0" rIns="0" bIns="0" rtlCol="0" anchor="t"/>
          <a:lstStyle/>
          <a:p>
            <a:pPr indent="0" marL="0">
              <a:buNone/>
            </a:pPr>
            <a:r>
              <a:rPr lang="en-US" sz="2300" b="1" dirty="0">
                <a:solidFill>
                  <a:srgbClr val="24553C"/>
                </a:solidFill>
                <a:latin typeface="Trebuchet MS" pitchFamily="34" charset="0"/>
                <a:ea typeface="Trebuchet MS" pitchFamily="34" charset="-122"/>
                <a:cs typeface="Trebuchet MS" pitchFamily="34" charset="-120"/>
              </a:rPr>
              <a:t>AN OWNER + DATE</a:t>
            </a:r>
            <a:endParaRPr lang="en-US" sz="2300" dirty="0"/>
          </a:p>
        </p:txBody>
      </p:sp>
      <p:sp>
        <p:nvSpPr>
          <p:cNvPr id="15" name="Text 13"/>
          <p:cNvSpPr/>
          <p:nvPr/>
        </p:nvSpPr>
        <p:spPr>
          <a:xfrm>
            <a:off x="8385048" y="3648456"/>
            <a:ext cx="3035808" cy="1261872"/>
          </a:xfrm>
          <a:prstGeom prst="rect">
            <a:avLst/>
          </a:prstGeom>
          <a:noFill/>
          <a:ln/>
        </p:spPr>
        <p:txBody>
          <a:bodyPr wrap="square" lIns="0" tIns="0" rIns="0" bIns="0" rtlCol="0" anchor="t"/>
          <a:lstStyle/>
          <a:p>
            <a:pPr indent="0" marL="0">
              <a:buNone/>
            </a:pPr>
            <a:r>
              <a:rPr lang="en-US" sz="1900" dirty="0">
                <a:solidFill>
                  <a:srgbClr val="162D24"/>
                </a:solidFill>
                <a:latin typeface="Calibri" pitchFamily="34" charset="0"/>
                <a:ea typeface="Calibri" pitchFamily="34" charset="-122"/>
                <a:cs typeface="Calibri" pitchFamily="34" charset="-120"/>
              </a:rPr>
              <a:t>Someone accepts the</a:t>
            </a:r>
            <a:endParaRPr lang="en-US" sz="1900" dirty="0"/>
          </a:p>
          <a:p>
            <a:pPr indent="0" marL="0">
              <a:buNone/>
            </a:pPr>
            <a:r>
              <a:rPr lang="en-US" sz="1900" dirty="0">
                <a:solidFill>
                  <a:srgbClr val="162D24"/>
                </a:solidFill>
                <a:latin typeface="Calibri" pitchFamily="34" charset="0"/>
                <a:ea typeface="Calibri" pitchFamily="34" charset="-122"/>
                <a:cs typeface="Calibri" pitchFamily="34" charset="-120"/>
              </a:rPr>
              <a:t>very next action.</a:t>
            </a:r>
            <a:endParaRPr lang="en-US" sz="1900" dirty="0"/>
          </a:p>
        </p:txBody>
      </p:sp>
      <p:sp>
        <p:nvSpPr>
          <p:cNvPr id="16" name="Text 14">
            <a:hlinkClick r:id="rId1" tooltip=""/>
          </p:cNvPr>
          <p:cNvSpPr/>
          <p:nvPr/>
        </p:nvSpPr>
        <p:spPr>
          <a:xfrm>
            <a:off x="594360" y="5513832"/>
            <a:ext cx="10789920" cy="347472"/>
          </a:xfrm>
          <a:prstGeom prst="rect">
            <a:avLst/>
          </a:prstGeom>
          <a:noFill/>
          <a:ln/>
        </p:spPr>
        <p:txBody>
          <a:bodyPr wrap="square" lIns="0" tIns="0" rIns="0" bIns="0" rtlCol="0" anchor="t"/>
          <a:lstStyle/>
          <a:p>
            <a:pPr indent="0" marL="0">
              <a:buNone/>
            </a:pPr>
            <a:r>
              <a:rPr lang="en-US" sz="2300" b="1"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Download the playbook, slides and PDFs</a:t>
            </a:r>
            <a:endParaRPr lang="en-US" sz="2300" dirty="0"/>
          </a:p>
        </p:txBody>
      </p:sp>
      <p:sp>
        <p:nvSpPr>
          <p:cNvPr id="17" name="Text 15">
            <a:hlinkClick r:id="rId2" tooltip=""/>
          </p:cNvPr>
          <p:cNvSpPr/>
          <p:nvPr/>
        </p:nvSpPr>
        <p:spPr>
          <a:xfrm>
            <a:off x="594360" y="5961888"/>
            <a:ext cx="10789920" cy="256032"/>
          </a:xfrm>
          <a:prstGeom prst="rect">
            <a:avLst/>
          </a:prstGeom>
          <a:noFill/>
          <a:ln/>
        </p:spPr>
        <p:txBody>
          <a:bodyPr wrap="square" lIns="0" tIns="0" rIns="0" bIns="0" rtlCol="0" anchor="t"/>
          <a:lstStyle/>
          <a:p>
            <a:pPr indent="0" marL="0">
              <a:buNone/>
            </a:pPr>
            <a:r>
              <a:rPr lang="en-US" sz="1500" u="sng" dirty="0">
                <a:solidFill>
                  <a:srgbClr val="D9E6D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Public repository: HorvathDaniel-2002 / hackathon-facilitator-agent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Hackathon Facilitator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Facilitator - Workshop</dc:title>
  <dc:subject>No-install hackathon facilitation workshop</dc:subject>
  <dc:creator>Hackathon Facilitator contributors</dc:creator>
  <cp:lastModifiedBy>Hackathon Facilitator contributors</cp:lastModifiedBy>
  <cp:revision>1</cp:revision>
  <dcterms:created xsi:type="dcterms:W3CDTF">2026-09-12T07:42:34Z</dcterms:created>
  <dcterms:modified xsi:type="dcterms:W3CDTF">2026-09-12T07:42:34Z</dcterms:modified>
</cp:coreProperties>
</file>