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Welcome. This is a practical facilitation aid, not software to install or a promise of technical delivery.
Introduce the sponsor, facilitator and process owners. Ask what one useful result would make the event worthwhile.
The editable Word workbook contains the detailed templates. This deck supports a planning discussion and checkpoints; adapt the timings to your event.
Only fictional examples belong in public materials. Keep completed plans and approval evidence in your approved workspace.
These are project-authored defaults, not Microsoft corporate policy or production approval.
Public reference: Organize hackathons - https://learn.microsoft.com/en-us/power-platform/guidance/adoption/hackathons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Activity, 2 minutes: everyone opens the playbook or has a printed copy. Appoint the owner of the working copy.
Word and PowerPoint files need an application that supports those formats. PDF is the browser/printing alternative. No developer environment, agent installation or Copilot subscription is needed for manual use.
Bracketed fields are intentional prompts to replace, not pre-approved answers. PowerPoint speaker notes are visible in Notes view or Presenter View.
The repository includes the full web app in app/ and an optional Copilot agent. Follow the repository README. Kanban is the default landing page; Dashboard is optional. Mock AI is the default, not a benchmark. Entra SSO is unavailable.
Only fictional examples belong in public materials. Keep completed plans and approval evidence in your approved workspace.
These are project-authored defaults, not Microsoft corporate policy or production approval.
Public reference: Responsible AI policies - https://learn.microsoft.com/en-us/azure/cloud-adoption-framework/ai/responsible-ai-policies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4 for a 10-minute manual Kanban activity. These are the six exact progress labels in the app.
Each card carries one progress stage and one independent delivery route. Review actual evidence rather than moving everything forward for the showcase.
In production requires the handoff Business owner and Production evidence / reference for an external operational state. A card move does not deploy. Parked means paused/stopped, not silently forgotten.
Workbook: pages 2-6 for alignment/selection/Kanban, 7-8 preparation, 9-11 running/testing, 12-13 handoff/closure.
Only fictional examples belong in public materials. Keep completed plans and approval evidence in your approved workspace.
These are project-authored defaults, not Microsoft corporate policy or production approval.
Public reference: Organize hackathons - https://learn.microsoft.com/en-us/power-platform/guidance/adoption/hackathons
Public reference: Manage AI agents across your organization - https://learn.microsoft.com/en-us/azure/cloud-adoption-framework/ai-agents/integrate-manage-operate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2. Give each group 5 minutes to draft and 5 minutes to compare.
Confirm dates/time zone, remote participation, accessibility, breaks, mentors and who can stop unsafe work.
Record sponsor acceptance with a date and evidence reference. A filled-in worksheet is not a substitute for a sponsor decision. This manual alignment activity is not an app page.
Only fictional examples belong in public materials. Keep completed plans and approval evidence in your approved workspace.
These are project-authored defaults, not Microsoft corporate policy or production approval.
Public reference: Organize hackathons - https://learn.microsoft.com/en-us/power-platform/guidance/adoption/hackathons
Public reference: Envision and uncover high-value Power Platform use cases - https://learn.microsoft.com/en-us/power-platform/guidance/adoption/solution-envisioning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3. Ask each team to describe the path without naming a product first.
Write the intended user, business owner, sample permission, success test, baseline, human review, dependencies and exclusions.
If three MVP options are listed, select one. Brand images alone do not demonstrate a requirement for computer vision. If platform evidence is missing, leave it undecided.
Only fictional examples belong in public materials. Keep completed plans and approval evidence in your approved workspace.
These are project-authored defaults, not Microsoft corporate policy or production approval.
Public reference: Technology plan for AI agents - https://learn.microsoft.com/en-us/azure/cloud-adoption-framework/ai-agents/technology-solutions-plan-strategy
Public reference: Envision and uncover high-value Power Platform use cases - https://learn.microsoft.com/en-us/power-platform/guidance/adoption/solution-envisioning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5. These eight checks are local methodology controls, not an official Microsoft standard.
The first four require explicit factual confirmation. The remaining four also require human judgment on delivery feasibility.
Ask for a real approval reference or tested evidence, not an AI-generated statement. If scope/data/channel changes, re-check the affected evidence.
Only fictional examples belong in public materials. Keep completed plans and approval evidence in your approved workspace.
These are project-authored defaults, not Microsoft corporate policy or production approval.
Public reference: Knowledge sources summary - https://learn.microsoft.com/en-us/microsoft-copilot-studio/knowledge-copilot-studio
Public reference: Responsible AI policies - https://learn.microsoft.com/en-us/azure/cloud-adoption-framework/ai/responsible-ai-policies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6. Review the evidence for each dimension before assigning a number.
Formula: value x .40 + feasibility x .30 + data readiness x .20 + reuse x .10. Example 4,3,3,4 = 3.5. High &gt;=4, Medium &gt;=3 and &lt;4, Low &lt;3. These are project defaults, not a Microsoft rubric.
Unknown evidence stays unscored, not invented. The companion application's mock evaluator is not a reliable portfolio ranking. This exercise is manual and does not need the app.
Only fictional examples belong in public materials. Keep completed plans and approval evidence in your approved workspace.
These are project-authored defaults, not Microsoft corporate policy or production approval.
Public reference: Measure and communicate business value - https://learn.microsoft.com/en-us/power-platform/guidance/adoption/business-value
Public reference: Envision and uncover high-value Power Platform use cases - https://learn.microsoft.com/en-us/power-platform/guidance/adoption/solution-envisioning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pages 7-8. Every check needs status, owner, due date, evidence, approver/date and scope.
Ask an administrator about licensing and publishing rights. Copilot Studio trial supports test chat but not publishing. A permitted recording or mock is better than bypassing policy.
DLP means data-loss-prevention policy. Never disable it to rescue the schedule. Test access with an intended participant, including denied information, not only an admin account.
Only fictional examples belong in public materials. Keep completed plans and approval evidence in your approved workspace.
These are project-authored defaults, not Microsoft corporate policy or production approval.
Public reference: Copilot Studio licensing and subscriptions - https://learn.microsoft.com/en-us/microsoft-copilot-studio/requirements-licensing-subscriptions
Public reference: Work with Power Platform environments - https://learn.microsoft.com/en-us/microsoft-copilot-studio/environments-first-run-experience
Public reference: Configure data policies for agents - https://learn.microsoft.com/en-us/microsoft-copilot-studio/admin-data-loss-prevention
Public reference: Connect and configure an agent for Teams and Microsoft 365 Copilot - https://learn.microsoft.com/en-us/microsoft-copilot-studio/publication-add-bot-to-microsoft-teams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pages 9-10. Treat the sample times as manual planning defaults, not an app milestone feature or a fixed commitment.
Confirm fallback by end of Day 1. Mentors guide instead of taking over the team's keyboard. Record blocker ownership and a decision due time.
If unsafe access or data use is discovered, stop that affected activity and notify the designated contact. Do not mark the check as passed just to preserve the agenda.
Only fictional examples belong in public materials. Keep completed plans and approval evidence in your approved workspace.
These are project-authored defaults, not Microsoft corporate policy or production approval.
Public reference: Organize hackathons - https://learn.microsoft.com/en-us/power-platform/guidance/adoption/hackathons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pages 9 and 11. Test before polishing the presentation. Preserve failures and not-run tests.
Readout: problem, useful path, evidence, demonstrated outcome versus estimated benefit, limitations, then a next-step/pilot ask.
Check the permitted audience for screenshots and recordings. The prototype is not approved for production by virtue of being demoed.
Only fictional examples belong in public materials. Keep completed plans and approval evidence in your approved workspace.
These are project-authored defaults, not Microsoft corporate policy or production approval.
Public reference: Organize hackathons - https://learn.microsoft.com/en-us/power-platform/guidance/adoption/hackathons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pages 4, 10 and 12. Group the same fictional cards by these five delivery labels, leaving their progress unchanged. Copilot / Cowork is one combined route.
The app's cards and overview open the shared handoff panel; do not maintain separate conflicting owner or next-action records. Manual teams should use one shared card/handoff record too.
Record blockers, decisions and learning with an accountable owner and date. Preserve earlier decisions and compare conflicting edits.
CAF means Cloud Accelerate Factory, not Cloud Adoption Framework. It is a delivery route, not proof of submission, approval, funding or guaranteed support. Confirm eligibility, readiness and availability with the program owner. Existing submission history/evidence stays when a route changes.
Only fictional examples belong in public materials. Keep completed plans and approval evidence in your approved workspace.
These are project-authored defaults, not Microsoft corporate policy or production approval.
Public reference: Technology plan for AI agents - https://learn.microsoft.com/en-us/azure/cloud-adoption-framework/ai-agents/technology-solutions-plan-strategy
Public reference: Manage AI agents across your organization - https://learn.microsoft.com/en-us/azure/cloud-adoption-framework/ai-agents/integrate-manage-operate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11. The six categories are useful path; missing/denied information; out-of-scope; adversarial/misleading input; wrong/unsupported answer; consequential-action approval.
For each test capture expected and observed behavior, reviewer/date, evidence and any retest action.
If reporting a rate, state numerator, denominator, sample, conditions and review method. Software tests or a plausible response do not establish model accuracy.
Only fictional examples belong in public materials. Keep completed plans and approval evidence in your approved workspace.
These are project-authored defaults, not Microsoft corporate policy or production approval.
Public reference: Knowledge sources summary - https://learn.microsoft.com/en-us/microsoft-copilot-studio/knowledge-copilot-studio
Public reference: Responsible AI policies - https://learn.microsoft.com/en-us/azure/cloud-adoption-framework/ai/responsible-ai-policies
Public reference: Measure and communicate business value - https://learn.microsoft.com/en-us/power-platform/guidance/adoption/business-value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pages 12-13. Even a parked/stopped case needs an owner, learning record and dated cleanup action.
Four closure checks: test evidence; demo/judging readout; exit ownership; retention/cleanup ownership. Continuing cases also need cohort, scope, success criteria, funding and risk review.
In production and Submitted to CAF require the shared handoff Business owner and the corresponding Production evidence / reference or CAF submission reference. CAF statuses are Not submitted or Submitted to CAF (external); CAF submitted on is optional. The Submitted to CAF badge requires persisted owner and reference.
These record external actions; neither the workbook nor the app deploys or submits. Closing an exit package is not production. Keep sensitive evidence private. Preserve submission history when changing route.
CAF means Cloud Accelerate Factory, not Cloud Adoption Framework. Record production readiness separately from a demo. CAF route selection alone is not submission or acceptance. Confirm eligibility, readiness and availability with the program owner.
At the value check-in, compare a documented baseline with actual pilot results; retain costs, failures, sample size and limitations. The 30-day timing is a project default.
Only fictional examples belong in public materials. Keep completed plans and approval evidence in your approved workspace.
These are project-authored defaults, not Microsoft corporate policy or production approval.
Public reference: Manage AI agents across your organization - https://learn.microsoft.com/en-us/azure/cloud-adoption-framework/ai-agents/integrate-manage-operate
Public reference: Measure and communicate business value - https://learn.microsoft.com/en-us/power-platform/guidance/adoption/business-value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Use workbook page 14. Give teams 5 minutes to discuss the example. It is intentionally not ready for selection.
The invented example is a teaching aid. Do not mistake the description of five synthetic FAQs for actual approval to use a chosen data source.
Expected tests: answer covered questions with the correct source, acknowledge uncovered questions and preserve the intended access boundary. Baseline and achieved savings are unmeasured.
Only fictional examples belong in public materials. Keep completed plans and approval evidence in your approved workspace.
These are project-authored defaults, not Microsoft corporate policy or production approval.
Public reference: Technology plan for AI agents - https://learn.microsoft.com/en-us/azure/cloud-adoption-framework/ai-agents/technology-solutions-plan-strategy
Public reference: Knowledge sources summary - https://learn.microsoft.com/en-us/microsoft-copilot-studio/knowledge-copilot-studio
Public reference: Measure and communicate business value - https://learn.microsoft.com/en-us/power-platform/guidance/adoption/business-value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The full 12-source list is in the Word/PDF workbook. Public reference pack review date: 9 September 2026.
Weights, schedule, eight qualification conditions and the runbook are local project controls, not official Microsoft corporate requirements.
Public availability of this material is not Microsoft endorsement, a product listing or an official hackathon submission.
Only fictional examples belong in public materials. Keep completed plans and approval evidence in your approved workspace.
These are project-authored defaults, not Microsoft corporate policy or production approval.
Public reference: Organize hackathons - https://learn.microsoft.com/en-us/power-platform/guidance/adoption/hackathons
Public reference: Envision and uncover high-value Power Platform use cases - https://learn.microsoft.com/en-us/power-platform/guidance/adoption/solution-envisioning
Public reference: Copilot Studio licensing and subscriptions - https://learn.microsoft.com/en-us/microsoft-copilot-studio/requirements-licensing-subscriptions
Public reference: Configure data policies for agents - https://learn.microsoft.com/en-us/microsoft-copilot-studio/admin-data-loss-prevention
Public reference: Responsible AI policies - https://learn.microsoft.com/en-us/azure/cloud-adoption-framework/ai/responsible-ai-policies
Public reference: Measure and communicate business value - https://learn.microsoft.com/en-us/power-platform/guidance/adoption/business-value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NOTES - usable without the app or Copilot agent.
Close the discussion by asking each team to state one action, an accountable person and a calendar date.
No technical setup is required for the materials. The full public app lives under app/; app and optional agent setup are in the repository README. Kanban is default and Dashboard optional; mock AI is not a benchmark, and Entra SSO is unavailable.
Use synthetic examples when sharing public feedback. Do not upload completed customer workbooks or private approval references to public GitHub.
Only fictional examples belong in public materials. Keep completed plans and approval evidence in your approved workspace.
These are project-authored defaults, not Microsoft corporate policy or production approval.
Workbook and downloads: https://github.com/HorvathDaniel-2002/hackathon-facilitator-agent/releases/latest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learn.microsoft.com/en-us/power-platform/guidance/adoption/hackathons" TargetMode="External"/><Relationship Id="rId2" Type="http://schemas.openxmlformats.org/officeDocument/2006/relationships/hyperlink" Target="https://learn.microsoft.com/en-us/power-platform/guidance/adoption/solution-envisioning" TargetMode="External"/><Relationship Id="rId3" Type="http://schemas.openxmlformats.org/officeDocument/2006/relationships/hyperlink" Target="https://learn.microsoft.com/en-us/microsoft-copilot-studio/requirements-licensing-subscriptions" TargetMode="External"/><Relationship Id="rId4" Type="http://schemas.openxmlformats.org/officeDocument/2006/relationships/hyperlink" Target="https://learn.microsoft.com/en-us/microsoft-copilot-studio/admin-data-loss-prevention" TargetMode="External"/><Relationship Id="rId5" Type="http://schemas.openxmlformats.org/officeDocument/2006/relationships/hyperlink" Target="https://learn.microsoft.com/en-us/azure/cloud-adoption-framework/ai/responsible-ai-policies" TargetMode="External"/><Relationship Id="rId6" Type="http://schemas.openxmlformats.org/officeDocument/2006/relationships/hyperlink" Target="https://learn.microsoft.com/en-us/power-platform/guidance/adoption/business-value" TargetMode="External"/><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github.com/HorvathDaniel-2002/hackathon-facilitator-agent/releases/latest" TargetMode="External"/><Relationship Id="rId2" Type="http://schemas.openxmlformats.org/officeDocument/2006/relationships/hyperlink" Target="https://github.com/HorvathDaniel-2002/hackathon-facilitator-agent"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B50"/>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C6D9F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1152144"/>
          </a:xfrm>
          <a:prstGeom prst="rect">
            <a:avLst/>
          </a:prstGeom>
          <a:noFill/>
          <a:ln/>
        </p:spPr>
        <p:txBody>
          <a:bodyPr wrap="square" lIns="0" tIns="0" rIns="0" bIns="0" rtlCol="0" anchor="t"/>
          <a:lstStyle/>
          <a:p>
            <a:pPr indent="0" marL="0">
              <a:buNone/>
            </a:pPr>
            <a:r>
              <a:rPr lang="en-US" sz="3600" b="1" dirty="0">
                <a:solidFill>
                  <a:srgbClr val="FFFFFF"/>
                </a:solidFill>
                <a:latin typeface="Trebuchet MS" pitchFamily="34" charset="0"/>
                <a:ea typeface="Trebuchet MS" pitchFamily="34" charset="-122"/>
                <a:cs typeface="Trebuchet MS" pitchFamily="34" charset="-120"/>
              </a:rPr>
              <a:t>Make progress visible.</a:t>
            </a:r>
            <a:endParaRPr lang="en-US" sz="3600" dirty="0"/>
          </a:p>
          <a:p>
            <a:pPr indent="0" marL="0">
              <a:buNone/>
            </a:pPr>
            <a:r>
              <a:rPr lang="en-US" sz="3600" b="1" dirty="0">
                <a:solidFill>
                  <a:srgbClr val="FFFFFF"/>
                </a:solidFill>
                <a:latin typeface="Trebuchet MS" pitchFamily="34" charset="0"/>
                <a:ea typeface="Trebuchet MS" pitchFamily="34" charset="-122"/>
                <a:cs typeface="Trebuchet MS" pitchFamily="34" charset="-120"/>
              </a:rPr>
              <a:t>Make ownership real.</a:t>
            </a:r>
            <a:endParaRPr lang="en-US" sz="3600" dirty="0"/>
          </a:p>
        </p:txBody>
      </p:sp>
      <p:sp>
        <p:nvSpPr>
          <p:cNvPr id="4" name="Text 2"/>
          <p:cNvSpPr/>
          <p:nvPr/>
        </p:nvSpPr>
        <p:spPr>
          <a:xfrm>
            <a:off x="548640" y="2130552"/>
            <a:ext cx="10972800" cy="457200"/>
          </a:xfrm>
          <a:prstGeom prst="rect">
            <a:avLst/>
          </a:prstGeom>
          <a:noFill/>
          <a:ln/>
        </p:spPr>
        <p:txBody>
          <a:bodyPr wrap="square" lIns="0" tIns="0" rIns="0" bIns="0" rtlCol="0" anchor="t"/>
          <a:lstStyle/>
          <a:p>
            <a:pPr indent="0" marL="0">
              <a:buNone/>
            </a:pPr>
            <a:r>
              <a:rPr lang="en-US" sz="1900" dirty="0">
                <a:solidFill>
                  <a:srgbClr val="DCE8FC"/>
                </a:solidFill>
                <a:latin typeface="Calibri" pitchFamily="34" charset="0"/>
                <a:ea typeface="Calibri" pitchFamily="34" charset="-122"/>
                <a:cs typeface="Calibri" pitchFamily="34" charset="-120"/>
              </a:rPr>
              <a:t>A Kanban-first workshop. Use Word, PowerPoint or paper; no app required.</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C6D9F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C6D9FC"/>
                </a:solidFill>
                <a:latin typeface="Calibri" pitchFamily="34" charset="0"/>
                <a:ea typeface="Calibri" pitchFamily="34" charset="-122"/>
                <a:cs typeface="Calibri" pitchFamily="34" charset="-120"/>
              </a:rPr>
              <a:t>1</a:t>
            </a:r>
            <a:endParaRPr lang="en-US" sz="1100" dirty="0"/>
          </a:p>
        </p:txBody>
      </p:sp>
      <p:sp>
        <p:nvSpPr>
          <p:cNvPr id="7" name="Shape 5"/>
          <p:cNvSpPr/>
          <p:nvPr/>
        </p:nvSpPr>
        <p:spPr>
          <a:xfrm>
            <a:off x="548640" y="2852928"/>
            <a:ext cx="3493008" cy="2423160"/>
          </a:xfrm>
          <a:prstGeom prst="roundRect">
            <a:avLst>
              <a:gd name="adj" fmla="val 4528"/>
            </a:avLst>
          </a:prstGeom>
          <a:solidFill>
            <a:srgbClr val="1559B7"/>
          </a:solidFill>
          <a:ln w="12700">
            <a:solidFill>
              <a:srgbClr val="1559B7"/>
            </a:solidFill>
            <a:prstDash val="solid"/>
          </a:ln>
        </p:spPr>
      </p:sp>
      <p:sp>
        <p:nvSpPr>
          <p:cNvPr id="8" name="Text 6"/>
          <p:cNvSpPr/>
          <p:nvPr/>
        </p:nvSpPr>
        <p:spPr>
          <a:xfrm>
            <a:off x="777240" y="3063240"/>
            <a:ext cx="3035808" cy="502920"/>
          </a:xfrm>
          <a:prstGeom prst="rect">
            <a:avLst/>
          </a:prstGeom>
          <a:noFill/>
          <a:ln/>
        </p:spPr>
        <p:txBody>
          <a:bodyPr wrap="square" lIns="0" tIns="0" rIns="0" bIns="0" rtlCol="0" anchor="t"/>
          <a:lstStyle/>
          <a:p>
            <a:pPr indent="0" marL="0">
              <a:buNone/>
            </a:pPr>
            <a:r>
              <a:rPr lang="en-US" sz="2300" b="1" dirty="0">
                <a:solidFill>
                  <a:srgbClr val="FFFFFF"/>
                </a:solidFill>
                <a:latin typeface="Trebuchet MS" pitchFamily="34" charset="0"/>
                <a:ea typeface="Trebuchet MS" pitchFamily="34" charset="-122"/>
                <a:cs typeface="Trebuchet MS" pitchFamily="34" charset="-120"/>
              </a:rPr>
              <a:t>ALIGN</a:t>
            </a:r>
            <a:endParaRPr lang="en-US" sz="2300" dirty="0"/>
          </a:p>
        </p:txBody>
      </p:sp>
      <p:sp>
        <p:nvSpPr>
          <p:cNvPr id="9" name="Text 7"/>
          <p:cNvSpPr/>
          <p:nvPr/>
        </p:nvSpPr>
        <p:spPr>
          <a:xfrm>
            <a:off x="777240" y="3758184"/>
            <a:ext cx="3035808" cy="1325880"/>
          </a:xfrm>
          <a:prstGeom prst="rect">
            <a:avLst/>
          </a:prstGeom>
          <a:noFill/>
          <a:ln/>
        </p:spPr>
        <p:txBody>
          <a:bodyPr wrap="square" lIns="0" tIns="0" rIns="0" bIns="0" rtlCol="0" anchor="t"/>
          <a:lstStyle/>
          <a:p>
            <a:pPr indent="0" marL="0">
              <a:buNone/>
            </a:pPr>
            <a:r>
              <a:rPr lang="en-US" sz="1900" dirty="0">
                <a:solidFill>
                  <a:srgbClr val="FFFFFF"/>
                </a:solidFill>
                <a:latin typeface="Calibri" pitchFamily="34" charset="0"/>
                <a:ea typeface="Calibri" pitchFamily="34" charset="-122"/>
                <a:cs typeface="Calibri" pitchFamily="34" charset="-120"/>
              </a:rPr>
              <a:t>Agree the outcome.</a:t>
            </a:r>
            <a:endParaRPr lang="en-US" sz="1900" dirty="0"/>
          </a:p>
          <a:p>
            <a:pPr indent="0" marL="0">
              <a:buNone/>
            </a:pPr>
            <a:r>
              <a:rPr lang="en-US" sz="1900" dirty="0">
                <a:solidFill>
                  <a:srgbClr val="FFFFFF"/>
                </a:solidFill>
                <a:latin typeface="Calibri" pitchFamily="34" charset="0"/>
                <a:ea typeface="Calibri" pitchFamily="34" charset="-122"/>
                <a:cs typeface="Calibri" pitchFamily="34" charset="-120"/>
              </a:rPr>
              <a:t>Choose one useful path.</a:t>
            </a:r>
            <a:endParaRPr lang="en-US" sz="1900" dirty="0"/>
          </a:p>
        </p:txBody>
      </p:sp>
      <p:sp>
        <p:nvSpPr>
          <p:cNvPr id="10" name="Shape 8"/>
          <p:cNvSpPr/>
          <p:nvPr/>
        </p:nvSpPr>
        <p:spPr>
          <a:xfrm>
            <a:off x="4352544" y="2852928"/>
            <a:ext cx="3493008" cy="2423160"/>
          </a:xfrm>
          <a:prstGeom prst="roundRect">
            <a:avLst>
              <a:gd name="adj" fmla="val 4528"/>
            </a:avLst>
          </a:prstGeom>
          <a:solidFill>
            <a:srgbClr val="D7E5FC"/>
          </a:solidFill>
          <a:ln w="12700">
            <a:solidFill>
              <a:srgbClr val="D7E5FC"/>
            </a:solidFill>
            <a:prstDash val="solid"/>
          </a:ln>
        </p:spPr>
      </p:sp>
      <p:sp>
        <p:nvSpPr>
          <p:cNvPr id="11" name="Text 9"/>
          <p:cNvSpPr/>
          <p:nvPr/>
        </p:nvSpPr>
        <p:spPr>
          <a:xfrm>
            <a:off x="4581144" y="3063240"/>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MOVE</a:t>
            </a:r>
            <a:endParaRPr lang="en-US" sz="2300" dirty="0"/>
          </a:p>
        </p:txBody>
      </p:sp>
      <p:sp>
        <p:nvSpPr>
          <p:cNvPr id="12" name="Text 10"/>
          <p:cNvSpPr/>
          <p:nvPr/>
        </p:nvSpPr>
        <p:spPr>
          <a:xfrm>
            <a:off x="4581144" y="3758184"/>
            <a:ext cx="3035808" cy="132588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See stage and route.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Show evidence and limits.</a:t>
            </a:r>
            <a:endParaRPr lang="en-US" sz="1900" dirty="0"/>
          </a:p>
        </p:txBody>
      </p:sp>
      <p:sp>
        <p:nvSpPr>
          <p:cNvPr id="13" name="Shape 11"/>
          <p:cNvSpPr/>
          <p:nvPr/>
        </p:nvSpPr>
        <p:spPr>
          <a:xfrm>
            <a:off x="8156448" y="2852928"/>
            <a:ext cx="3493008" cy="2423160"/>
          </a:xfrm>
          <a:prstGeom prst="roundRect">
            <a:avLst>
              <a:gd name="adj" fmla="val 4528"/>
            </a:avLst>
          </a:prstGeom>
          <a:solidFill>
            <a:srgbClr val="EFF5FF"/>
          </a:solidFill>
          <a:ln w="12700">
            <a:solidFill>
              <a:srgbClr val="EFF5FF"/>
            </a:solidFill>
            <a:prstDash val="solid"/>
          </a:ln>
        </p:spPr>
      </p:sp>
      <p:sp>
        <p:nvSpPr>
          <p:cNvPr id="14" name="Text 12"/>
          <p:cNvSpPr/>
          <p:nvPr/>
        </p:nvSpPr>
        <p:spPr>
          <a:xfrm>
            <a:off x="8385048" y="3063240"/>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HAND OVER</a:t>
            </a:r>
            <a:endParaRPr lang="en-US" sz="2300" dirty="0"/>
          </a:p>
        </p:txBody>
      </p:sp>
      <p:sp>
        <p:nvSpPr>
          <p:cNvPr id="15" name="Text 13"/>
          <p:cNvSpPr/>
          <p:nvPr/>
        </p:nvSpPr>
        <p:spPr>
          <a:xfrm>
            <a:off x="8385048" y="3758184"/>
            <a:ext cx="3035808" cy="132588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Name an owner.</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Set a next action + date.</a:t>
            </a:r>
            <a:endParaRPr lang="en-US" sz="1900" dirty="0"/>
          </a:p>
        </p:txBody>
      </p:sp>
      <p:sp>
        <p:nvSpPr>
          <p:cNvPr id="16" name="Text 14"/>
          <p:cNvSpPr/>
          <p:nvPr/>
        </p:nvSpPr>
        <p:spPr>
          <a:xfrm>
            <a:off x="594360" y="5577840"/>
            <a:ext cx="10789920" cy="3200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Daniel Horvath / dahorvath@microsoft.com</a:t>
            </a:r>
            <a:endParaRPr lang="en-US" sz="1900" dirty="0"/>
          </a:p>
        </p:txBody>
      </p:sp>
      <p:sp>
        <p:nvSpPr>
          <p:cNvPr id="17" name="Text 15"/>
          <p:cNvSpPr/>
          <p:nvPr/>
        </p:nvSpPr>
        <p:spPr>
          <a:xfrm>
            <a:off x="594360" y="5989320"/>
            <a:ext cx="10789920" cy="256032"/>
          </a:xfrm>
          <a:prstGeom prst="rect">
            <a:avLst/>
          </a:prstGeom>
          <a:noFill/>
          <a:ln/>
        </p:spPr>
        <p:txBody>
          <a:bodyPr wrap="square" lIns="0" tIns="0" rIns="0" bIns="0" rtlCol="0" anchor="t"/>
          <a:lstStyle/>
          <a:p>
            <a:pPr indent="0" marL="0">
              <a:buNone/>
            </a:pPr>
            <a:r>
              <a:rPr lang="en-US" sz="1400" dirty="0">
                <a:solidFill>
                  <a:srgbClr val="DCE8FC"/>
                </a:solidFill>
                <a:latin typeface="Calibri" pitchFamily="34" charset="0"/>
                <a:ea typeface="Calibri" pitchFamily="34" charset="-122"/>
                <a:cs typeface="Calibri" pitchFamily="34" charset="-120"/>
              </a:rPr>
              <a:t>Prepared 24 September 2026. Fictional examples. No Microsoft endorsement.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Use the files. Add software only if useful.</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Manual facilitation needs no app, agent, Copilot subscription or developer setup.</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2</a:t>
            </a:r>
            <a:endParaRPr lang="en-US" sz="1100" dirty="0"/>
          </a:p>
        </p:txBody>
      </p:sp>
      <p:sp>
        <p:nvSpPr>
          <p:cNvPr id="7" name="Shape 5"/>
          <p:cNvSpPr/>
          <p:nvPr/>
        </p:nvSpPr>
        <p:spPr>
          <a:xfrm>
            <a:off x="548640" y="2724912"/>
            <a:ext cx="3493008" cy="2651760"/>
          </a:xfrm>
          <a:prstGeom prst="roundRect">
            <a:avLst>
              <a:gd name="adj" fmla="val 4138"/>
            </a:avLst>
          </a:prstGeom>
          <a:solidFill>
            <a:srgbClr val="FFFFFF"/>
          </a:solidFill>
          <a:ln w="12700">
            <a:solidFill>
              <a:srgbClr val="FFFFFF"/>
            </a:solidFill>
            <a:prstDash val="solid"/>
          </a:ln>
        </p:spPr>
      </p:sp>
      <p:sp>
        <p:nvSpPr>
          <p:cNvPr id="8" name="Text 6"/>
          <p:cNvSpPr/>
          <p:nvPr/>
        </p:nvSpPr>
        <p:spPr>
          <a:xfrm>
            <a:off x="777240" y="2935224"/>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WORD</a:t>
            </a:r>
            <a:endParaRPr lang="en-US" sz="2300" dirty="0"/>
          </a:p>
        </p:txBody>
      </p:sp>
      <p:sp>
        <p:nvSpPr>
          <p:cNvPr id="9" name="Text 7"/>
          <p:cNvSpPr/>
          <p:nvPr/>
        </p:nvSpPr>
        <p:spPr>
          <a:xfrm>
            <a:off x="777240" y="3630168"/>
            <a:ext cx="3035808" cy="155448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Fill the templates.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Duplicate a page per team.</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Keep decisions together.</a:t>
            </a:r>
            <a:endParaRPr lang="en-US" sz="1900" dirty="0"/>
          </a:p>
        </p:txBody>
      </p:sp>
      <p:sp>
        <p:nvSpPr>
          <p:cNvPr id="10" name="Shape 8"/>
          <p:cNvSpPr/>
          <p:nvPr/>
        </p:nvSpPr>
        <p:spPr>
          <a:xfrm>
            <a:off x="4352544" y="2724912"/>
            <a:ext cx="3493008" cy="2651760"/>
          </a:xfrm>
          <a:prstGeom prst="roundRect">
            <a:avLst>
              <a:gd name="adj" fmla="val 4138"/>
            </a:avLst>
          </a:prstGeom>
          <a:solidFill>
            <a:srgbClr val="FFFFFF"/>
          </a:solidFill>
          <a:ln w="12700">
            <a:solidFill>
              <a:srgbClr val="FFFFFF"/>
            </a:solidFill>
            <a:prstDash val="solid"/>
          </a:ln>
        </p:spPr>
      </p:sp>
      <p:sp>
        <p:nvSpPr>
          <p:cNvPr id="11" name="Text 9"/>
          <p:cNvSpPr/>
          <p:nvPr/>
        </p:nvSpPr>
        <p:spPr>
          <a:xfrm>
            <a:off x="4581144" y="2935224"/>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POWERPOINT</a:t>
            </a:r>
            <a:endParaRPr lang="en-US" sz="2300" dirty="0"/>
          </a:p>
        </p:txBody>
      </p:sp>
      <p:sp>
        <p:nvSpPr>
          <p:cNvPr id="12" name="Text 10"/>
          <p:cNvSpPr/>
          <p:nvPr/>
        </p:nvSpPr>
        <p:spPr>
          <a:xfrm>
            <a:off x="4581144" y="3630168"/>
            <a:ext cx="3035808" cy="155448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Lead the conversation.</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Edit the slides.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Use the speaker notes.</a:t>
            </a:r>
            <a:endParaRPr lang="en-US" sz="1900" dirty="0"/>
          </a:p>
        </p:txBody>
      </p:sp>
      <p:sp>
        <p:nvSpPr>
          <p:cNvPr id="13" name="Shape 11"/>
          <p:cNvSpPr/>
          <p:nvPr/>
        </p:nvSpPr>
        <p:spPr>
          <a:xfrm>
            <a:off x="8156448" y="2724912"/>
            <a:ext cx="3493008" cy="2651760"/>
          </a:xfrm>
          <a:prstGeom prst="roundRect">
            <a:avLst>
              <a:gd name="adj" fmla="val 4138"/>
            </a:avLst>
          </a:prstGeom>
          <a:solidFill>
            <a:srgbClr val="FFFFFF"/>
          </a:solidFill>
          <a:ln w="12700">
            <a:solidFill>
              <a:srgbClr val="FFFFFF"/>
            </a:solidFill>
            <a:prstDash val="solid"/>
          </a:ln>
        </p:spPr>
      </p:sp>
      <p:sp>
        <p:nvSpPr>
          <p:cNvPr id="14" name="Text 12"/>
          <p:cNvSpPr/>
          <p:nvPr/>
        </p:nvSpPr>
        <p:spPr>
          <a:xfrm>
            <a:off x="8385048" y="2935224"/>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PDF</a:t>
            </a:r>
            <a:endParaRPr lang="en-US" sz="2300" dirty="0"/>
          </a:p>
        </p:txBody>
      </p:sp>
      <p:sp>
        <p:nvSpPr>
          <p:cNvPr id="15" name="Text 13"/>
          <p:cNvSpPr/>
          <p:nvPr/>
        </p:nvSpPr>
        <p:spPr>
          <a:xfrm>
            <a:off x="8385048" y="3630168"/>
            <a:ext cx="3035808" cy="155448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Read or print.</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Share an approved copy.</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No agent or Copilot needed.</a:t>
            </a:r>
            <a:endParaRPr lang="en-US" sz="1900" dirty="0"/>
          </a:p>
        </p:txBody>
      </p:sp>
      <p:sp>
        <p:nvSpPr>
          <p:cNvPr id="16" name="Text 14"/>
          <p:cNvSpPr/>
          <p:nvPr/>
        </p:nvSpPr>
        <p:spPr>
          <a:xfrm>
            <a:off x="594360" y="5669280"/>
            <a:ext cx="10972800" cy="502920"/>
          </a:xfrm>
          <a:prstGeom prst="rect">
            <a:avLst/>
          </a:prstGeom>
          <a:noFill/>
          <a:ln/>
        </p:spPr>
        <p:txBody>
          <a:bodyPr wrap="square" lIns="0" tIns="0" rIns="0" bIns="0" rtlCol="0" anchor="t"/>
          <a:lstStyle/>
          <a:p>
            <a:pPr indent="0" marL="0">
              <a:buNone/>
            </a:pPr>
            <a:r>
              <a:rPr lang="en-US" sz="1800" b="1" dirty="0">
                <a:solidFill>
                  <a:srgbClr val="102B50"/>
                </a:solidFill>
                <a:latin typeface="Calibri" pitchFamily="34" charset="0"/>
                <a:ea typeface="Calibri" pitchFamily="34" charset="-122"/>
                <a:cs typeface="Calibri" pitchFamily="34" charset="-120"/>
              </a:rPr>
              <a:t>Optional public app under app/ + Copilot agent: follow the repository README. Keep real data private.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Start on Kanban: where is the work?</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Progress is one view. Delivery route is a separate way to group the same cards.</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3</a:t>
            </a:r>
            <a:endParaRPr lang="en-US" sz="1100" dirty="0"/>
          </a:p>
        </p:txBody>
      </p:sp>
      <p:sp>
        <p:nvSpPr>
          <p:cNvPr id="7" name="Shape 5"/>
          <p:cNvSpPr/>
          <p:nvPr/>
        </p:nvSpPr>
        <p:spPr>
          <a:xfrm>
            <a:off x="548640" y="2743200"/>
            <a:ext cx="1636776" cy="2258568"/>
          </a:xfrm>
          <a:prstGeom prst="roundRect">
            <a:avLst>
              <a:gd name="adj" fmla="val 6704"/>
            </a:avLst>
          </a:prstGeom>
          <a:solidFill>
            <a:srgbClr val="FFFFFF"/>
          </a:solidFill>
          <a:ln w="12700">
            <a:solidFill>
              <a:srgbClr val="FFFFFF"/>
            </a:solidFill>
            <a:prstDash val="solid"/>
          </a:ln>
        </p:spPr>
      </p:sp>
      <p:sp>
        <p:nvSpPr>
          <p:cNvPr id="8" name="Text 6"/>
          <p:cNvSpPr/>
          <p:nvPr/>
        </p:nvSpPr>
        <p:spPr>
          <a:xfrm>
            <a:off x="694944" y="2926080"/>
            <a:ext cx="1335024" cy="475488"/>
          </a:xfrm>
          <a:prstGeom prst="rect">
            <a:avLst/>
          </a:prstGeom>
          <a:noFill/>
          <a:ln/>
        </p:spPr>
        <p:txBody>
          <a:bodyPr wrap="square" lIns="0" tIns="0" rIns="0" bIns="0" rtlCol="0" anchor="t"/>
          <a:lstStyle/>
          <a:p>
            <a:pPr indent="0" marL="0">
              <a:buNone/>
            </a:pPr>
            <a:r>
              <a:rPr lang="en-US" sz="3000" b="1" dirty="0">
                <a:solidFill>
                  <a:srgbClr val="1559B7"/>
                </a:solidFill>
                <a:latin typeface="Calibri" pitchFamily="34" charset="0"/>
                <a:ea typeface="Calibri" pitchFamily="34" charset="-122"/>
                <a:cs typeface="Calibri" pitchFamily="34" charset="-120"/>
              </a:rPr>
              <a:t>01</a:t>
            </a:r>
            <a:endParaRPr lang="en-US" sz="3000" dirty="0"/>
          </a:p>
        </p:txBody>
      </p:sp>
      <p:sp>
        <p:nvSpPr>
          <p:cNvPr id="9" name="Text 7"/>
          <p:cNvSpPr/>
          <p:nvPr/>
        </p:nvSpPr>
        <p:spPr>
          <a:xfrm>
            <a:off x="694944" y="3639312"/>
            <a:ext cx="1344168" cy="713232"/>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Intake</a:t>
            </a:r>
            <a:endParaRPr lang="en-US" sz="1900" dirty="0"/>
          </a:p>
        </p:txBody>
      </p:sp>
      <p:sp>
        <p:nvSpPr>
          <p:cNvPr id="10" name="Text 8"/>
          <p:cNvSpPr/>
          <p:nvPr/>
        </p:nvSpPr>
        <p:spPr>
          <a:xfrm>
            <a:off x="694944" y="4443984"/>
            <a:ext cx="1344168" cy="365760"/>
          </a:xfrm>
          <a:prstGeom prst="rect">
            <a:avLst/>
          </a:prstGeom>
          <a:noFill/>
          <a:ln/>
        </p:spPr>
        <p:txBody>
          <a:bodyPr wrap="square" lIns="0" tIns="0" rIns="0" bIns="0" rtlCol="0" anchor="t"/>
          <a:lstStyle/>
          <a:p>
            <a:pPr indent="0" marL="0">
              <a:buNone/>
            </a:pPr>
            <a:r>
              <a:rPr lang="en-US" sz="1300" dirty="0">
                <a:solidFill>
                  <a:srgbClr val="102B50"/>
                </a:solidFill>
                <a:latin typeface="Calibri" pitchFamily="34" charset="0"/>
                <a:ea typeface="Calibri" pitchFamily="34" charset="-122"/>
                <a:cs typeface="Calibri" pitchFamily="34" charset="-120"/>
              </a:rPr>
              <a:t>Capture the idea</a:t>
            </a:r>
            <a:endParaRPr lang="en-US" sz="1300" dirty="0"/>
          </a:p>
        </p:txBody>
      </p:sp>
      <p:sp>
        <p:nvSpPr>
          <p:cNvPr id="11" name="Shape 9"/>
          <p:cNvSpPr/>
          <p:nvPr/>
        </p:nvSpPr>
        <p:spPr>
          <a:xfrm>
            <a:off x="2441448" y="2743200"/>
            <a:ext cx="1636776" cy="2258568"/>
          </a:xfrm>
          <a:prstGeom prst="roundRect">
            <a:avLst>
              <a:gd name="adj" fmla="val 6704"/>
            </a:avLst>
          </a:prstGeom>
          <a:solidFill>
            <a:srgbClr val="E8F0FC"/>
          </a:solidFill>
          <a:ln w="12700">
            <a:solidFill>
              <a:srgbClr val="E8F0FC"/>
            </a:solidFill>
            <a:prstDash val="solid"/>
          </a:ln>
        </p:spPr>
      </p:sp>
      <p:sp>
        <p:nvSpPr>
          <p:cNvPr id="12" name="Text 10"/>
          <p:cNvSpPr/>
          <p:nvPr/>
        </p:nvSpPr>
        <p:spPr>
          <a:xfrm>
            <a:off x="2587752" y="2926080"/>
            <a:ext cx="1335024" cy="475488"/>
          </a:xfrm>
          <a:prstGeom prst="rect">
            <a:avLst/>
          </a:prstGeom>
          <a:noFill/>
          <a:ln/>
        </p:spPr>
        <p:txBody>
          <a:bodyPr wrap="square" lIns="0" tIns="0" rIns="0" bIns="0" rtlCol="0" anchor="t"/>
          <a:lstStyle/>
          <a:p>
            <a:pPr indent="0" marL="0">
              <a:buNone/>
            </a:pPr>
            <a:r>
              <a:rPr lang="en-US" sz="3000" b="1" dirty="0">
                <a:solidFill>
                  <a:srgbClr val="1559B7"/>
                </a:solidFill>
                <a:latin typeface="Calibri" pitchFamily="34" charset="0"/>
                <a:ea typeface="Calibri" pitchFamily="34" charset="-122"/>
                <a:cs typeface="Calibri" pitchFamily="34" charset="-120"/>
              </a:rPr>
              <a:t>02</a:t>
            </a:r>
            <a:endParaRPr lang="en-US" sz="3000" dirty="0"/>
          </a:p>
        </p:txBody>
      </p:sp>
      <p:sp>
        <p:nvSpPr>
          <p:cNvPr id="13" name="Text 11"/>
          <p:cNvSpPr/>
          <p:nvPr/>
        </p:nvSpPr>
        <p:spPr>
          <a:xfrm>
            <a:off x="2587752" y="3639312"/>
            <a:ext cx="1344168" cy="713232"/>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Assessing</a:t>
            </a:r>
            <a:endParaRPr lang="en-US" sz="1900" dirty="0"/>
          </a:p>
        </p:txBody>
      </p:sp>
      <p:sp>
        <p:nvSpPr>
          <p:cNvPr id="14" name="Text 12"/>
          <p:cNvSpPr/>
          <p:nvPr/>
        </p:nvSpPr>
        <p:spPr>
          <a:xfrm>
            <a:off x="2587752" y="4443984"/>
            <a:ext cx="1344168" cy="365760"/>
          </a:xfrm>
          <a:prstGeom prst="rect">
            <a:avLst/>
          </a:prstGeom>
          <a:noFill/>
          <a:ln/>
        </p:spPr>
        <p:txBody>
          <a:bodyPr wrap="square" lIns="0" tIns="0" rIns="0" bIns="0" rtlCol="0" anchor="t"/>
          <a:lstStyle/>
          <a:p>
            <a:pPr indent="0" marL="0">
              <a:buNone/>
            </a:pPr>
            <a:r>
              <a:rPr lang="en-US" sz="1300" dirty="0">
                <a:solidFill>
                  <a:srgbClr val="102B50"/>
                </a:solidFill>
                <a:latin typeface="Calibri" pitchFamily="34" charset="0"/>
                <a:ea typeface="Calibri" pitchFamily="34" charset="-122"/>
                <a:cs typeface="Calibri" pitchFamily="34" charset="-120"/>
              </a:rPr>
              <a:t>Scope + evidence</a:t>
            </a:r>
            <a:endParaRPr lang="en-US" sz="1300" dirty="0"/>
          </a:p>
        </p:txBody>
      </p:sp>
      <p:sp>
        <p:nvSpPr>
          <p:cNvPr id="15" name="Shape 13"/>
          <p:cNvSpPr/>
          <p:nvPr/>
        </p:nvSpPr>
        <p:spPr>
          <a:xfrm>
            <a:off x="4334256" y="2743200"/>
            <a:ext cx="1636776" cy="2258568"/>
          </a:xfrm>
          <a:prstGeom prst="roundRect">
            <a:avLst>
              <a:gd name="adj" fmla="val 6704"/>
            </a:avLst>
          </a:prstGeom>
          <a:solidFill>
            <a:srgbClr val="FFFFFF"/>
          </a:solidFill>
          <a:ln w="12700">
            <a:solidFill>
              <a:srgbClr val="FFFFFF"/>
            </a:solidFill>
            <a:prstDash val="solid"/>
          </a:ln>
        </p:spPr>
      </p:sp>
      <p:sp>
        <p:nvSpPr>
          <p:cNvPr id="16" name="Text 14"/>
          <p:cNvSpPr/>
          <p:nvPr/>
        </p:nvSpPr>
        <p:spPr>
          <a:xfrm>
            <a:off x="4480560" y="2926080"/>
            <a:ext cx="1335024" cy="475488"/>
          </a:xfrm>
          <a:prstGeom prst="rect">
            <a:avLst/>
          </a:prstGeom>
          <a:noFill/>
          <a:ln/>
        </p:spPr>
        <p:txBody>
          <a:bodyPr wrap="square" lIns="0" tIns="0" rIns="0" bIns="0" rtlCol="0" anchor="t"/>
          <a:lstStyle/>
          <a:p>
            <a:pPr indent="0" marL="0">
              <a:buNone/>
            </a:pPr>
            <a:r>
              <a:rPr lang="en-US" sz="3000" b="1" dirty="0">
                <a:solidFill>
                  <a:srgbClr val="1559B7"/>
                </a:solidFill>
                <a:latin typeface="Calibri" pitchFamily="34" charset="0"/>
                <a:ea typeface="Calibri" pitchFamily="34" charset="-122"/>
                <a:cs typeface="Calibri" pitchFamily="34" charset="-120"/>
              </a:rPr>
              <a:t>03</a:t>
            </a:r>
            <a:endParaRPr lang="en-US" sz="3000" dirty="0"/>
          </a:p>
        </p:txBody>
      </p:sp>
      <p:sp>
        <p:nvSpPr>
          <p:cNvPr id="17" name="Text 15"/>
          <p:cNvSpPr/>
          <p:nvPr/>
        </p:nvSpPr>
        <p:spPr>
          <a:xfrm>
            <a:off x="4480560" y="3639312"/>
            <a:ext cx="1344168" cy="713232"/>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Building</a:t>
            </a:r>
            <a:endParaRPr lang="en-US" sz="1900" dirty="0"/>
          </a:p>
        </p:txBody>
      </p:sp>
      <p:sp>
        <p:nvSpPr>
          <p:cNvPr id="18" name="Text 16"/>
          <p:cNvSpPr/>
          <p:nvPr/>
        </p:nvSpPr>
        <p:spPr>
          <a:xfrm>
            <a:off x="4480560" y="4443984"/>
            <a:ext cx="1344168" cy="365760"/>
          </a:xfrm>
          <a:prstGeom prst="rect">
            <a:avLst/>
          </a:prstGeom>
          <a:noFill/>
          <a:ln/>
        </p:spPr>
        <p:txBody>
          <a:bodyPr wrap="square" lIns="0" tIns="0" rIns="0" bIns="0" rtlCol="0" anchor="t"/>
          <a:lstStyle/>
          <a:p>
            <a:pPr indent="0" marL="0">
              <a:buNone/>
            </a:pPr>
            <a:r>
              <a:rPr lang="en-US" sz="1300" dirty="0">
                <a:solidFill>
                  <a:srgbClr val="102B50"/>
                </a:solidFill>
                <a:latin typeface="Calibri" pitchFamily="34" charset="0"/>
                <a:ea typeface="Calibri" pitchFamily="34" charset="-122"/>
                <a:cs typeface="Calibri" pitchFamily="34" charset="-120"/>
              </a:rPr>
              <a:t>One useful path</a:t>
            </a:r>
            <a:endParaRPr lang="en-US" sz="1300" dirty="0"/>
          </a:p>
        </p:txBody>
      </p:sp>
      <p:sp>
        <p:nvSpPr>
          <p:cNvPr id="19" name="Shape 17"/>
          <p:cNvSpPr/>
          <p:nvPr/>
        </p:nvSpPr>
        <p:spPr>
          <a:xfrm>
            <a:off x="6227064" y="2743200"/>
            <a:ext cx="1636776" cy="2258568"/>
          </a:xfrm>
          <a:prstGeom prst="roundRect">
            <a:avLst>
              <a:gd name="adj" fmla="val 6704"/>
            </a:avLst>
          </a:prstGeom>
          <a:solidFill>
            <a:srgbClr val="E8F0FC"/>
          </a:solidFill>
          <a:ln w="12700">
            <a:solidFill>
              <a:srgbClr val="E8F0FC"/>
            </a:solidFill>
            <a:prstDash val="solid"/>
          </a:ln>
        </p:spPr>
      </p:sp>
      <p:sp>
        <p:nvSpPr>
          <p:cNvPr id="20" name="Text 18"/>
          <p:cNvSpPr/>
          <p:nvPr/>
        </p:nvSpPr>
        <p:spPr>
          <a:xfrm>
            <a:off x="6373368" y="2926080"/>
            <a:ext cx="1335024" cy="475488"/>
          </a:xfrm>
          <a:prstGeom prst="rect">
            <a:avLst/>
          </a:prstGeom>
          <a:noFill/>
          <a:ln/>
        </p:spPr>
        <p:txBody>
          <a:bodyPr wrap="square" lIns="0" tIns="0" rIns="0" bIns="0" rtlCol="0" anchor="t"/>
          <a:lstStyle/>
          <a:p>
            <a:pPr indent="0" marL="0">
              <a:buNone/>
            </a:pPr>
            <a:r>
              <a:rPr lang="en-US" sz="3000" b="1" dirty="0">
                <a:solidFill>
                  <a:srgbClr val="1559B7"/>
                </a:solidFill>
                <a:latin typeface="Calibri" pitchFamily="34" charset="0"/>
                <a:ea typeface="Calibri" pitchFamily="34" charset="-122"/>
                <a:cs typeface="Calibri" pitchFamily="34" charset="-120"/>
              </a:rPr>
              <a:t>04</a:t>
            </a:r>
            <a:endParaRPr lang="en-US" sz="3000" dirty="0"/>
          </a:p>
        </p:txBody>
      </p:sp>
      <p:sp>
        <p:nvSpPr>
          <p:cNvPr id="21" name="Text 19"/>
          <p:cNvSpPr/>
          <p:nvPr/>
        </p:nvSpPr>
        <p:spPr>
          <a:xfrm>
            <a:off x="6373368" y="3639312"/>
            <a:ext cx="1344168" cy="713232"/>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Pilot</a:t>
            </a:r>
            <a:endParaRPr lang="en-US" sz="1900" dirty="0"/>
          </a:p>
        </p:txBody>
      </p:sp>
      <p:sp>
        <p:nvSpPr>
          <p:cNvPr id="22" name="Text 20"/>
          <p:cNvSpPr/>
          <p:nvPr/>
        </p:nvSpPr>
        <p:spPr>
          <a:xfrm>
            <a:off x="6373368" y="4443984"/>
            <a:ext cx="1344168" cy="365760"/>
          </a:xfrm>
          <a:prstGeom prst="rect">
            <a:avLst/>
          </a:prstGeom>
          <a:noFill/>
          <a:ln/>
        </p:spPr>
        <p:txBody>
          <a:bodyPr wrap="square" lIns="0" tIns="0" rIns="0" bIns="0" rtlCol="0" anchor="t"/>
          <a:lstStyle/>
          <a:p>
            <a:pPr indent="0" marL="0">
              <a:buNone/>
            </a:pPr>
            <a:r>
              <a:rPr lang="en-US" sz="1300" dirty="0">
                <a:solidFill>
                  <a:srgbClr val="102B50"/>
                </a:solidFill>
                <a:latin typeface="Calibri" pitchFamily="34" charset="0"/>
                <a:ea typeface="Calibri" pitchFamily="34" charset="-122"/>
                <a:cs typeface="Calibri" pitchFamily="34" charset="-120"/>
              </a:rPr>
              <a:t>Controlled trial</a:t>
            </a:r>
            <a:endParaRPr lang="en-US" sz="1300" dirty="0"/>
          </a:p>
        </p:txBody>
      </p:sp>
      <p:sp>
        <p:nvSpPr>
          <p:cNvPr id="23" name="Shape 21"/>
          <p:cNvSpPr/>
          <p:nvPr/>
        </p:nvSpPr>
        <p:spPr>
          <a:xfrm>
            <a:off x="8119872" y="2743200"/>
            <a:ext cx="1636776" cy="2258568"/>
          </a:xfrm>
          <a:prstGeom prst="roundRect">
            <a:avLst>
              <a:gd name="adj" fmla="val 6704"/>
            </a:avLst>
          </a:prstGeom>
          <a:solidFill>
            <a:srgbClr val="FFFFFF"/>
          </a:solidFill>
          <a:ln w="12700">
            <a:solidFill>
              <a:srgbClr val="FFFFFF"/>
            </a:solidFill>
            <a:prstDash val="solid"/>
          </a:ln>
        </p:spPr>
      </p:sp>
      <p:sp>
        <p:nvSpPr>
          <p:cNvPr id="24" name="Text 22"/>
          <p:cNvSpPr/>
          <p:nvPr/>
        </p:nvSpPr>
        <p:spPr>
          <a:xfrm>
            <a:off x="8266176" y="2926080"/>
            <a:ext cx="1335024" cy="475488"/>
          </a:xfrm>
          <a:prstGeom prst="rect">
            <a:avLst/>
          </a:prstGeom>
          <a:noFill/>
          <a:ln/>
        </p:spPr>
        <p:txBody>
          <a:bodyPr wrap="square" lIns="0" tIns="0" rIns="0" bIns="0" rtlCol="0" anchor="t"/>
          <a:lstStyle/>
          <a:p>
            <a:pPr indent="0" marL="0">
              <a:buNone/>
            </a:pPr>
            <a:r>
              <a:rPr lang="en-US" sz="3000" b="1" dirty="0">
                <a:solidFill>
                  <a:srgbClr val="1559B7"/>
                </a:solidFill>
                <a:latin typeface="Calibri" pitchFamily="34" charset="0"/>
                <a:ea typeface="Calibri" pitchFamily="34" charset="-122"/>
                <a:cs typeface="Calibri" pitchFamily="34" charset="-120"/>
              </a:rPr>
              <a:t>05</a:t>
            </a:r>
            <a:endParaRPr lang="en-US" sz="3000" dirty="0"/>
          </a:p>
        </p:txBody>
      </p:sp>
      <p:sp>
        <p:nvSpPr>
          <p:cNvPr id="25" name="Text 23"/>
          <p:cNvSpPr/>
          <p:nvPr/>
        </p:nvSpPr>
        <p:spPr>
          <a:xfrm>
            <a:off x="8266176" y="3639312"/>
            <a:ext cx="1344168" cy="713232"/>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In production</a:t>
            </a:r>
            <a:endParaRPr lang="en-US" sz="1900" dirty="0"/>
          </a:p>
        </p:txBody>
      </p:sp>
      <p:sp>
        <p:nvSpPr>
          <p:cNvPr id="26" name="Text 24"/>
          <p:cNvSpPr/>
          <p:nvPr/>
        </p:nvSpPr>
        <p:spPr>
          <a:xfrm>
            <a:off x="8266176" y="4443984"/>
            <a:ext cx="1344168" cy="365760"/>
          </a:xfrm>
          <a:prstGeom prst="rect">
            <a:avLst/>
          </a:prstGeom>
          <a:noFill/>
          <a:ln/>
        </p:spPr>
        <p:txBody>
          <a:bodyPr wrap="square" lIns="0" tIns="0" rIns="0" bIns="0" rtlCol="0" anchor="t"/>
          <a:lstStyle/>
          <a:p>
            <a:pPr indent="0" marL="0">
              <a:buNone/>
            </a:pPr>
            <a:r>
              <a:rPr lang="en-US" sz="1300" dirty="0">
                <a:solidFill>
                  <a:srgbClr val="102B50"/>
                </a:solidFill>
                <a:latin typeface="Calibri" pitchFamily="34" charset="0"/>
                <a:ea typeface="Calibri" pitchFamily="34" charset="-122"/>
                <a:cs typeface="Calibri" pitchFamily="34" charset="-120"/>
              </a:rPr>
              <a:t>Owner + evidence</a:t>
            </a:r>
            <a:endParaRPr lang="en-US" sz="1300" dirty="0"/>
          </a:p>
        </p:txBody>
      </p:sp>
      <p:sp>
        <p:nvSpPr>
          <p:cNvPr id="27" name="Shape 25"/>
          <p:cNvSpPr/>
          <p:nvPr/>
        </p:nvSpPr>
        <p:spPr>
          <a:xfrm>
            <a:off x="10012680" y="2743200"/>
            <a:ext cx="1636776" cy="2258568"/>
          </a:xfrm>
          <a:prstGeom prst="roundRect">
            <a:avLst>
              <a:gd name="adj" fmla="val 6704"/>
            </a:avLst>
          </a:prstGeom>
          <a:solidFill>
            <a:srgbClr val="E8F0FC"/>
          </a:solidFill>
          <a:ln w="12700">
            <a:solidFill>
              <a:srgbClr val="E8F0FC"/>
            </a:solidFill>
            <a:prstDash val="solid"/>
          </a:ln>
        </p:spPr>
      </p:sp>
      <p:sp>
        <p:nvSpPr>
          <p:cNvPr id="28" name="Text 26"/>
          <p:cNvSpPr/>
          <p:nvPr/>
        </p:nvSpPr>
        <p:spPr>
          <a:xfrm>
            <a:off x="10158984" y="2926080"/>
            <a:ext cx="1335024" cy="475488"/>
          </a:xfrm>
          <a:prstGeom prst="rect">
            <a:avLst/>
          </a:prstGeom>
          <a:noFill/>
          <a:ln/>
        </p:spPr>
        <p:txBody>
          <a:bodyPr wrap="square" lIns="0" tIns="0" rIns="0" bIns="0" rtlCol="0" anchor="t"/>
          <a:lstStyle/>
          <a:p>
            <a:pPr indent="0" marL="0">
              <a:buNone/>
            </a:pPr>
            <a:r>
              <a:rPr lang="en-US" sz="3000" b="1" dirty="0">
                <a:solidFill>
                  <a:srgbClr val="1559B7"/>
                </a:solidFill>
                <a:latin typeface="Calibri" pitchFamily="34" charset="0"/>
                <a:ea typeface="Calibri" pitchFamily="34" charset="-122"/>
                <a:cs typeface="Calibri" pitchFamily="34" charset="-120"/>
              </a:rPr>
              <a:t>06</a:t>
            </a:r>
            <a:endParaRPr lang="en-US" sz="3000" dirty="0"/>
          </a:p>
        </p:txBody>
      </p:sp>
      <p:sp>
        <p:nvSpPr>
          <p:cNvPr id="29" name="Text 27"/>
          <p:cNvSpPr/>
          <p:nvPr/>
        </p:nvSpPr>
        <p:spPr>
          <a:xfrm>
            <a:off x="10158984" y="3639312"/>
            <a:ext cx="1344168" cy="713232"/>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Parked</a:t>
            </a:r>
            <a:endParaRPr lang="en-US" sz="1900" dirty="0"/>
          </a:p>
        </p:txBody>
      </p:sp>
      <p:sp>
        <p:nvSpPr>
          <p:cNvPr id="30" name="Text 28"/>
          <p:cNvSpPr/>
          <p:nvPr/>
        </p:nvSpPr>
        <p:spPr>
          <a:xfrm>
            <a:off x="10158984" y="4443984"/>
            <a:ext cx="1344168" cy="365760"/>
          </a:xfrm>
          <a:prstGeom prst="rect">
            <a:avLst/>
          </a:prstGeom>
          <a:noFill/>
          <a:ln/>
        </p:spPr>
        <p:txBody>
          <a:bodyPr wrap="square" lIns="0" tIns="0" rIns="0" bIns="0" rtlCol="0" anchor="t"/>
          <a:lstStyle/>
          <a:p>
            <a:pPr indent="0" marL="0">
              <a:buNone/>
            </a:pPr>
            <a:r>
              <a:rPr lang="en-US" sz="1300" dirty="0">
                <a:solidFill>
                  <a:srgbClr val="102B50"/>
                </a:solidFill>
                <a:latin typeface="Calibri" pitchFamily="34" charset="0"/>
                <a:ea typeface="Calibri" pitchFamily="34" charset="-122"/>
                <a:cs typeface="Calibri" pitchFamily="34" charset="-120"/>
              </a:rPr>
              <a:t>Reason + next step</a:t>
            </a:r>
            <a:endParaRPr lang="en-US" sz="1300" dirty="0"/>
          </a:p>
        </p:txBody>
      </p:sp>
      <p:sp>
        <p:nvSpPr>
          <p:cNvPr id="31" name="Text 29"/>
          <p:cNvSpPr/>
          <p:nvPr/>
        </p:nvSpPr>
        <p:spPr>
          <a:xfrm>
            <a:off x="594360" y="5394960"/>
            <a:ext cx="10972800" cy="475488"/>
          </a:xfrm>
          <a:prstGeom prst="rect">
            <a:avLst/>
          </a:prstGeom>
          <a:noFill/>
          <a:ln/>
        </p:spPr>
        <p:txBody>
          <a:bodyPr wrap="square" lIns="0" tIns="0" rIns="0" bIns="0" rtlCol="0" anchor="t"/>
          <a:lstStyle/>
          <a:p>
            <a:pPr indent="0" marL="0">
              <a:buNone/>
            </a:pPr>
            <a:r>
              <a:rPr lang="en-US" sz="2100" b="1" dirty="0">
                <a:solidFill>
                  <a:srgbClr val="102B50"/>
                </a:solidFill>
                <a:latin typeface="Calibri" pitchFamily="34" charset="0"/>
                <a:ea typeface="Calibri" pitchFamily="34" charset="-122"/>
                <a:cs typeface="Calibri" pitchFamily="34" charset="-120"/>
              </a:rPr>
              <a:t>Activity: place one fictional card. Name the owner, next action and date. Keep unknowns visible.</a:t>
            </a:r>
            <a:endParaRPr lang="en-US" sz="2100" dirty="0"/>
          </a:p>
        </p:txBody>
      </p:sp>
      <p:sp>
        <p:nvSpPr>
          <p:cNvPr id="32" name="Text 30"/>
          <p:cNvSpPr/>
          <p:nvPr/>
        </p:nvSpPr>
        <p:spPr>
          <a:xfrm>
            <a:off x="594360" y="5961888"/>
            <a:ext cx="10972800" cy="274320"/>
          </a:xfrm>
          <a:prstGeom prst="rect">
            <a:avLst/>
          </a:prstGeom>
          <a:noFill/>
          <a:ln/>
        </p:spPr>
        <p:txBody>
          <a:bodyPr wrap="square" lIns="0" tIns="0" rIns="0" bIns="0" rtlCol="0" anchor="t"/>
          <a:lstStyle/>
          <a:p>
            <a:pPr indent="0" marL="0">
              <a:buNone/>
            </a:pPr>
            <a:r>
              <a:rPr lang="en-US" sz="1600" dirty="0">
                <a:solidFill>
                  <a:srgbClr val="495D7C"/>
                </a:solidFill>
                <a:latin typeface="Calibri" pitchFamily="34" charset="0"/>
                <a:ea typeface="Calibri" pitchFamily="34" charset="-122"/>
                <a:cs typeface="Calibri" pitchFamily="34" charset="-120"/>
              </a:rPr>
              <a:t>App: Kanban is the default; Dashboard is optional. Paper or a shared document works too.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Align the outcome before choosing tools</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Manual worksheet, not an app page. Write the answers; name the decision owner.</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4</a:t>
            </a:r>
            <a:endParaRPr lang="en-US" sz="1100" dirty="0"/>
          </a:p>
        </p:txBody>
      </p:sp>
      <p:sp>
        <p:nvSpPr>
          <p:cNvPr id="7" name="Shape 5"/>
          <p:cNvSpPr/>
          <p:nvPr/>
        </p:nvSpPr>
        <p:spPr>
          <a:xfrm>
            <a:off x="548640" y="2697480"/>
            <a:ext cx="5394960" cy="1389888"/>
          </a:xfrm>
          <a:prstGeom prst="roundRect">
            <a:avLst>
              <a:gd name="adj" fmla="val 7895"/>
            </a:avLst>
          </a:prstGeom>
          <a:solidFill>
            <a:srgbClr val="E8F0FC"/>
          </a:solidFill>
          <a:ln w="12700">
            <a:solidFill>
              <a:srgbClr val="E8F0FC"/>
            </a:solidFill>
            <a:prstDash val="solid"/>
          </a:ln>
        </p:spPr>
      </p:sp>
      <p:sp>
        <p:nvSpPr>
          <p:cNvPr id="8" name="Text 6"/>
          <p:cNvSpPr/>
          <p:nvPr/>
        </p:nvSpPr>
        <p:spPr>
          <a:xfrm>
            <a:off x="777240" y="2907792"/>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OUTCOME</a:t>
            </a:r>
            <a:endParaRPr lang="en-US" sz="2300" dirty="0"/>
          </a:p>
        </p:txBody>
      </p:sp>
      <p:sp>
        <p:nvSpPr>
          <p:cNvPr id="9" name="Text 7"/>
          <p:cNvSpPr/>
          <p:nvPr/>
        </p:nvSpPr>
        <p:spPr>
          <a:xfrm>
            <a:off x="777240" y="3602736"/>
            <a:ext cx="4937760" cy="29260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What changes for which users?</a:t>
            </a:r>
            <a:endParaRPr lang="en-US" sz="1900" dirty="0"/>
          </a:p>
        </p:txBody>
      </p:sp>
      <p:sp>
        <p:nvSpPr>
          <p:cNvPr id="10" name="Shape 8"/>
          <p:cNvSpPr/>
          <p:nvPr/>
        </p:nvSpPr>
        <p:spPr>
          <a:xfrm>
            <a:off x="6245352" y="2697480"/>
            <a:ext cx="5394960" cy="1389888"/>
          </a:xfrm>
          <a:prstGeom prst="roundRect">
            <a:avLst>
              <a:gd name="adj" fmla="val 7895"/>
            </a:avLst>
          </a:prstGeom>
          <a:solidFill>
            <a:srgbClr val="FFFFFF"/>
          </a:solidFill>
          <a:ln w="12700">
            <a:solidFill>
              <a:srgbClr val="FFFFFF"/>
            </a:solidFill>
            <a:prstDash val="solid"/>
          </a:ln>
        </p:spPr>
      </p:sp>
      <p:sp>
        <p:nvSpPr>
          <p:cNvPr id="11" name="Text 9"/>
          <p:cNvSpPr/>
          <p:nvPr/>
        </p:nvSpPr>
        <p:spPr>
          <a:xfrm>
            <a:off x="6473952" y="2907792"/>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PEOPLE</a:t>
            </a:r>
            <a:endParaRPr lang="en-US" sz="2300" dirty="0"/>
          </a:p>
        </p:txBody>
      </p:sp>
      <p:sp>
        <p:nvSpPr>
          <p:cNvPr id="12" name="Text 10"/>
          <p:cNvSpPr/>
          <p:nvPr/>
        </p:nvSpPr>
        <p:spPr>
          <a:xfrm>
            <a:off x="6473952" y="3602736"/>
            <a:ext cx="4937760" cy="29260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Who sponsors, builds, reviews and decides?</a:t>
            </a:r>
            <a:endParaRPr lang="en-US" sz="1900" dirty="0"/>
          </a:p>
        </p:txBody>
      </p:sp>
      <p:sp>
        <p:nvSpPr>
          <p:cNvPr id="13" name="Shape 11"/>
          <p:cNvSpPr/>
          <p:nvPr/>
        </p:nvSpPr>
        <p:spPr>
          <a:xfrm>
            <a:off x="548640" y="4407408"/>
            <a:ext cx="5394960" cy="1389888"/>
          </a:xfrm>
          <a:prstGeom prst="roundRect">
            <a:avLst>
              <a:gd name="adj" fmla="val 7895"/>
            </a:avLst>
          </a:prstGeom>
          <a:solidFill>
            <a:srgbClr val="FFFFFF"/>
          </a:solidFill>
          <a:ln w="12700">
            <a:solidFill>
              <a:srgbClr val="FFFFFF"/>
            </a:solidFill>
            <a:prstDash val="solid"/>
          </a:ln>
        </p:spPr>
      </p:sp>
      <p:sp>
        <p:nvSpPr>
          <p:cNvPr id="14" name="Text 12"/>
          <p:cNvSpPr/>
          <p:nvPr/>
        </p:nvSpPr>
        <p:spPr>
          <a:xfrm>
            <a:off x="777240" y="4617720"/>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BOUNDARIES</a:t>
            </a:r>
            <a:endParaRPr lang="en-US" sz="2300" dirty="0"/>
          </a:p>
        </p:txBody>
      </p:sp>
      <p:sp>
        <p:nvSpPr>
          <p:cNvPr id="15" name="Text 13"/>
          <p:cNvSpPr/>
          <p:nvPr/>
        </p:nvSpPr>
        <p:spPr>
          <a:xfrm>
            <a:off x="777240" y="5312664"/>
            <a:ext cx="4937760" cy="29260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What is not in scope? What data is permitted?</a:t>
            </a:r>
            <a:endParaRPr lang="en-US" sz="1900" dirty="0"/>
          </a:p>
        </p:txBody>
      </p:sp>
      <p:sp>
        <p:nvSpPr>
          <p:cNvPr id="16" name="Shape 14"/>
          <p:cNvSpPr/>
          <p:nvPr/>
        </p:nvSpPr>
        <p:spPr>
          <a:xfrm>
            <a:off x="6245352" y="4407408"/>
            <a:ext cx="5394960" cy="1389888"/>
          </a:xfrm>
          <a:prstGeom prst="roundRect">
            <a:avLst>
              <a:gd name="adj" fmla="val 7895"/>
            </a:avLst>
          </a:prstGeom>
          <a:solidFill>
            <a:srgbClr val="E8F0FC"/>
          </a:solidFill>
          <a:ln w="12700">
            <a:solidFill>
              <a:srgbClr val="E8F0FC"/>
            </a:solidFill>
            <a:prstDash val="solid"/>
          </a:ln>
        </p:spPr>
      </p:sp>
      <p:sp>
        <p:nvSpPr>
          <p:cNvPr id="17" name="Text 15"/>
          <p:cNvSpPr/>
          <p:nvPr/>
        </p:nvSpPr>
        <p:spPr>
          <a:xfrm>
            <a:off x="6473952" y="4617720"/>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PROOF</a:t>
            </a:r>
            <a:endParaRPr lang="en-US" sz="2300" dirty="0"/>
          </a:p>
        </p:txBody>
      </p:sp>
      <p:sp>
        <p:nvSpPr>
          <p:cNvPr id="18" name="Text 16"/>
          <p:cNvSpPr/>
          <p:nvPr/>
        </p:nvSpPr>
        <p:spPr>
          <a:xfrm>
            <a:off x="6473952" y="5312664"/>
            <a:ext cx="4937760" cy="29260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What would count as a useful result?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Make the case small enough to demo</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One input. One useful path. One reviewable output.</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5</a:t>
            </a:r>
            <a:endParaRPr lang="en-US" sz="1100" dirty="0"/>
          </a:p>
        </p:txBody>
      </p:sp>
      <p:sp>
        <p:nvSpPr>
          <p:cNvPr id="7" name="Shape 5"/>
          <p:cNvSpPr/>
          <p:nvPr/>
        </p:nvSpPr>
        <p:spPr>
          <a:xfrm>
            <a:off x="548640" y="2743200"/>
            <a:ext cx="3493008" cy="2395728"/>
          </a:xfrm>
          <a:prstGeom prst="roundRect">
            <a:avLst>
              <a:gd name="adj" fmla="val 4580"/>
            </a:avLst>
          </a:prstGeom>
          <a:solidFill>
            <a:srgbClr val="E8F0FC"/>
          </a:solidFill>
          <a:ln w="12700">
            <a:solidFill>
              <a:srgbClr val="E8F0FC"/>
            </a:solidFill>
            <a:prstDash val="solid"/>
          </a:ln>
        </p:spPr>
      </p:sp>
      <p:sp>
        <p:nvSpPr>
          <p:cNvPr id="8" name="Text 6"/>
          <p:cNvSpPr/>
          <p:nvPr/>
        </p:nvSpPr>
        <p:spPr>
          <a:xfrm>
            <a:off x="777240" y="2953512"/>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INPUT</a:t>
            </a:r>
            <a:endParaRPr lang="en-US" sz="2300" dirty="0"/>
          </a:p>
        </p:txBody>
      </p:sp>
      <p:sp>
        <p:nvSpPr>
          <p:cNvPr id="9" name="Text 7"/>
          <p:cNvSpPr/>
          <p:nvPr/>
        </p:nvSpPr>
        <p:spPr>
          <a:xfrm>
            <a:off x="777240" y="3648456"/>
            <a:ext cx="3035808" cy="129844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A permitted sample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with an approved source.</a:t>
            </a:r>
            <a:endParaRPr lang="en-US" sz="1900" dirty="0"/>
          </a:p>
        </p:txBody>
      </p:sp>
      <p:sp>
        <p:nvSpPr>
          <p:cNvPr id="10" name="Shape 8"/>
          <p:cNvSpPr/>
          <p:nvPr/>
        </p:nvSpPr>
        <p:spPr>
          <a:xfrm>
            <a:off x="4352544" y="2743200"/>
            <a:ext cx="3493008" cy="2395728"/>
          </a:xfrm>
          <a:prstGeom prst="roundRect">
            <a:avLst>
              <a:gd name="adj" fmla="val 4580"/>
            </a:avLst>
          </a:prstGeom>
          <a:solidFill>
            <a:srgbClr val="FFFFFF"/>
          </a:solidFill>
          <a:ln w="12700">
            <a:solidFill>
              <a:srgbClr val="FFFFFF"/>
            </a:solidFill>
            <a:prstDash val="solid"/>
          </a:ln>
        </p:spPr>
      </p:sp>
      <p:sp>
        <p:nvSpPr>
          <p:cNvPr id="11" name="Text 9"/>
          <p:cNvSpPr/>
          <p:nvPr/>
        </p:nvSpPr>
        <p:spPr>
          <a:xfrm>
            <a:off x="4581144" y="2953512"/>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USEFUL PATH</a:t>
            </a:r>
            <a:endParaRPr lang="en-US" sz="2300" dirty="0"/>
          </a:p>
        </p:txBody>
      </p:sp>
      <p:sp>
        <p:nvSpPr>
          <p:cNvPr id="12" name="Text 10"/>
          <p:cNvSpPr/>
          <p:nvPr/>
        </p:nvSpPr>
        <p:spPr>
          <a:xfrm>
            <a:off x="4581144" y="3648456"/>
            <a:ext cx="3035808" cy="129844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The smallest task that</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helps the intended user.</a:t>
            </a:r>
            <a:endParaRPr lang="en-US" sz="1900" dirty="0"/>
          </a:p>
        </p:txBody>
      </p:sp>
      <p:sp>
        <p:nvSpPr>
          <p:cNvPr id="13" name="Shape 11"/>
          <p:cNvSpPr/>
          <p:nvPr/>
        </p:nvSpPr>
        <p:spPr>
          <a:xfrm>
            <a:off x="8156448" y="2743200"/>
            <a:ext cx="3493008" cy="2395728"/>
          </a:xfrm>
          <a:prstGeom prst="roundRect">
            <a:avLst>
              <a:gd name="adj" fmla="val 4580"/>
            </a:avLst>
          </a:prstGeom>
          <a:solidFill>
            <a:srgbClr val="E8F0FC"/>
          </a:solidFill>
          <a:ln w="12700">
            <a:solidFill>
              <a:srgbClr val="E8F0FC"/>
            </a:solidFill>
            <a:prstDash val="solid"/>
          </a:ln>
        </p:spPr>
      </p:sp>
      <p:sp>
        <p:nvSpPr>
          <p:cNvPr id="14" name="Text 12"/>
          <p:cNvSpPr/>
          <p:nvPr/>
        </p:nvSpPr>
        <p:spPr>
          <a:xfrm>
            <a:off x="8385048" y="2953512"/>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OUTPUT</a:t>
            </a:r>
            <a:endParaRPr lang="en-US" sz="2300" dirty="0"/>
          </a:p>
        </p:txBody>
      </p:sp>
      <p:sp>
        <p:nvSpPr>
          <p:cNvPr id="15" name="Text 13"/>
          <p:cNvSpPr/>
          <p:nvPr/>
        </p:nvSpPr>
        <p:spPr>
          <a:xfrm>
            <a:off x="8385048" y="3648456"/>
            <a:ext cx="3035808" cy="129844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A result a human can</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check against a test.</a:t>
            </a:r>
            <a:endParaRPr lang="en-US" sz="1900" dirty="0"/>
          </a:p>
        </p:txBody>
      </p:sp>
      <p:sp>
        <p:nvSpPr>
          <p:cNvPr id="16" name="Text 14"/>
          <p:cNvSpPr/>
          <p:nvPr/>
        </p:nvSpPr>
        <p:spPr>
          <a:xfrm>
            <a:off x="594360" y="5486400"/>
            <a:ext cx="10972800" cy="548640"/>
          </a:xfrm>
          <a:prstGeom prst="rect">
            <a:avLst/>
          </a:prstGeom>
          <a:noFill/>
          <a:ln/>
        </p:spPr>
        <p:txBody>
          <a:bodyPr wrap="square" lIns="0" tIns="0" rIns="0" bIns="0" rtlCol="0" anchor="t"/>
          <a:lstStyle/>
          <a:p>
            <a:pPr indent="0" marL="0">
              <a:buNone/>
            </a:pPr>
            <a:r>
              <a:rPr lang="en-US" sz="2100" b="1" dirty="0">
                <a:solidFill>
                  <a:srgbClr val="102B50"/>
                </a:solidFill>
                <a:latin typeface="Calibri" pitchFamily="34" charset="0"/>
                <a:ea typeface="Calibri" pitchFamily="34" charset="-122"/>
                <a:cs typeface="Calibri" pitchFamily="34" charset="-120"/>
              </a:rPr>
              <a:t>Before custom build: could a simpler process, existing search or an approved feature solve this?</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Unknown is not ready</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Eight qualification checks. Record evidence, reviewer, date and scope.</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6</a:t>
            </a:r>
            <a:endParaRPr lang="en-US" sz="1100" dirty="0"/>
          </a:p>
        </p:txBody>
      </p:sp>
      <p:sp>
        <p:nvSpPr>
          <p:cNvPr id="7" name="Shape 5"/>
          <p:cNvSpPr/>
          <p:nvPr/>
        </p:nvSpPr>
        <p:spPr>
          <a:xfrm>
            <a:off x="548640" y="2697480"/>
            <a:ext cx="5394960" cy="2898648"/>
          </a:xfrm>
          <a:prstGeom prst="roundRect">
            <a:avLst>
              <a:gd name="adj" fmla="val 3785"/>
            </a:avLst>
          </a:prstGeom>
          <a:solidFill>
            <a:srgbClr val="E8F0FC"/>
          </a:solidFill>
          <a:ln w="12700">
            <a:solidFill>
              <a:srgbClr val="E8F0FC"/>
            </a:solidFill>
            <a:prstDash val="solid"/>
          </a:ln>
        </p:spPr>
      </p:sp>
      <p:sp>
        <p:nvSpPr>
          <p:cNvPr id="8" name="Text 6"/>
          <p:cNvSpPr/>
          <p:nvPr/>
        </p:nvSpPr>
        <p:spPr>
          <a:xfrm>
            <a:off x="777240" y="2907792"/>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FACTS TO CONFIRM</a:t>
            </a:r>
            <a:endParaRPr lang="en-US" sz="2300" dirty="0"/>
          </a:p>
        </p:txBody>
      </p:sp>
      <p:sp>
        <p:nvSpPr>
          <p:cNvPr id="9" name="Text 7"/>
          <p:cNvSpPr/>
          <p:nvPr/>
        </p:nvSpPr>
        <p:spPr>
          <a:xfrm>
            <a:off x="777240" y="3602736"/>
            <a:ext cx="4937760" cy="180136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Named business owner</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Process-owner attendance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Approved, usable sample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Human review or read-only boundary</a:t>
            </a:r>
            <a:endParaRPr lang="en-US" sz="1900" dirty="0"/>
          </a:p>
        </p:txBody>
      </p:sp>
      <p:sp>
        <p:nvSpPr>
          <p:cNvPr id="10" name="Shape 8"/>
          <p:cNvSpPr/>
          <p:nvPr/>
        </p:nvSpPr>
        <p:spPr>
          <a:xfrm>
            <a:off x="6245352" y="2697480"/>
            <a:ext cx="5394960" cy="2898648"/>
          </a:xfrm>
          <a:prstGeom prst="roundRect">
            <a:avLst>
              <a:gd name="adj" fmla="val 3785"/>
            </a:avLst>
          </a:prstGeom>
          <a:solidFill>
            <a:srgbClr val="FFFFFF"/>
          </a:solidFill>
          <a:ln w="12700">
            <a:solidFill>
              <a:srgbClr val="FFFFFF"/>
            </a:solidFill>
            <a:prstDash val="solid"/>
          </a:ln>
        </p:spPr>
      </p:sp>
      <p:sp>
        <p:nvSpPr>
          <p:cNvPr id="11" name="Text 9"/>
          <p:cNvSpPr/>
          <p:nvPr/>
        </p:nvSpPr>
        <p:spPr>
          <a:xfrm>
            <a:off x="6473952" y="2907792"/>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JUDGMENTS TO REVIEW</a:t>
            </a:r>
            <a:endParaRPr lang="en-US" sz="2300" dirty="0"/>
          </a:p>
        </p:txBody>
      </p:sp>
      <p:sp>
        <p:nvSpPr>
          <p:cNvPr id="12" name="Text 10"/>
          <p:cNvSpPr/>
          <p:nvPr/>
        </p:nvSpPr>
        <p:spPr>
          <a:xfrm>
            <a:off x="6473952" y="3602736"/>
            <a:ext cx="4937760" cy="180136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One useful path is demoable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Production dependencies can be mocked</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Access is resolved or safely mocked</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Prototype, not production rollout</a:t>
            </a:r>
            <a:endParaRPr lang="en-US" sz="1900" dirty="0"/>
          </a:p>
        </p:txBody>
      </p:sp>
      <p:sp>
        <p:nvSpPr>
          <p:cNvPr id="13" name="Text 11"/>
          <p:cNvSpPr/>
          <p:nvPr/>
        </p:nvSpPr>
        <p:spPr>
          <a:xfrm>
            <a:off x="594360" y="5870448"/>
            <a:ext cx="10972800" cy="347472"/>
          </a:xfrm>
          <a:prstGeom prst="rect">
            <a:avLst/>
          </a:prstGeom>
          <a:noFill/>
          <a:ln/>
        </p:spPr>
        <p:txBody>
          <a:bodyPr wrap="square" lIns="0" tIns="0" rIns="0" bIns="0" rtlCol="0" anchor="t"/>
          <a:lstStyle/>
          <a:p>
            <a:pPr indent="0" marL="0">
              <a:buNone/>
            </a:pPr>
            <a:r>
              <a:rPr lang="en-US" sz="1700" b="1" dirty="0">
                <a:solidFill>
                  <a:srgbClr val="102B50"/>
                </a:solidFill>
                <a:latin typeface="Calibri" pitchFamily="34" charset="0"/>
                <a:ea typeface="Calibri" pitchFamily="34" charset="-122"/>
                <a:cs typeface="Calibri" pitchFamily="34" charset="-120"/>
              </a:rPr>
              <a:t>Pass / Not met / Unknown. Resolve, re-scope or defer; never let a score override a missing condition.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Compare value only after qualification</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Optional project rubric. Customer priority and votes remain separate.</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7</a:t>
            </a:r>
            <a:endParaRPr lang="en-US" sz="1100" dirty="0"/>
          </a:p>
        </p:txBody>
      </p:sp>
      <p:sp>
        <p:nvSpPr>
          <p:cNvPr id="7" name="Text 5"/>
          <p:cNvSpPr/>
          <p:nvPr/>
        </p:nvSpPr>
        <p:spPr>
          <a:xfrm>
            <a:off x="594360" y="2798064"/>
            <a:ext cx="2743200" cy="320040"/>
          </a:xfrm>
          <a:prstGeom prst="rect">
            <a:avLst/>
          </a:prstGeom>
          <a:noFill/>
          <a:ln/>
        </p:spPr>
        <p:txBody>
          <a:bodyPr wrap="square" lIns="0" tIns="0" rIns="0" bIns="0" rtlCol="0" anchor="t"/>
          <a:lstStyle/>
          <a:p>
            <a:pPr indent="0" marL="0">
              <a:buNone/>
            </a:pPr>
            <a:r>
              <a:rPr lang="en-US" sz="2100" dirty="0">
                <a:solidFill>
                  <a:srgbClr val="102B50"/>
                </a:solidFill>
                <a:latin typeface="Calibri" pitchFamily="34" charset="0"/>
                <a:ea typeface="Calibri" pitchFamily="34" charset="-122"/>
                <a:cs typeface="Calibri" pitchFamily="34" charset="-120"/>
              </a:rPr>
              <a:t>Business value</a:t>
            </a:r>
            <a:endParaRPr lang="en-US" sz="2100" dirty="0"/>
          </a:p>
        </p:txBody>
      </p:sp>
      <p:sp>
        <p:nvSpPr>
          <p:cNvPr id="8" name="Shape 6"/>
          <p:cNvSpPr/>
          <p:nvPr/>
        </p:nvSpPr>
        <p:spPr>
          <a:xfrm>
            <a:off x="3566160" y="2734056"/>
            <a:ext cx="3840480" cy="438912"/>
          </a:xfrm>
          <a:prstGeom prst="rect">
            <a:avLst>
              <a:gd name="adj" fmla="val 25000"/>
            </a:avLst>
          </a:prstGeom>
          <a:solidFill>
            <a:srgbClr val="1559B7"/>
          </a:solidFill>
          <a:ln w="12700">
            <a:solidFill>
              <a:srgbClr val="1559B7"/>
            </a:solidFill>
            <a:prstDash val="solid"/>
          </a:ln>
        </p:spPr>
      </p:sp>
      <p:sp>
        <p:nvSpPr>
          <p:cNvPr id="9" name="Text 7"/>
          <p:cNvSpPr/>
          <p:nvPr/>
        </p:nvSpPr>
        <p:spPr>
          <a:xfrm>
            <a:off x="7726680" y="2798064"/>
            <a:ext cx="960120" cy="320040"/>
          </a:xfrm>
          <a:prstGeom prst="rect">
            <a:avLst/>
          </a:prstGeom>
          <a:noFill/>
          <a:ln/>
        </p:spPr>
        <p:txBody>
          <a:bodyPr wrap="square" lIns="0" tIns="0" rIns="0" bIns="0" rtlCol="0" anchor="t"/>
          <a:lstStyle/>
          <a:p>
            <a:pPr indent="0" marL="0">
              <a:buNone/>
            </a:pPr>
            <a:r>
              <a:rPr lang="en-US" sz="2100" b="1" dirty="0">
                <a:solidFill>
                  <a:srgbClr val="1559B7"/>
                </a:solidFill>
                <a:latin typeface="Calibri" pitchFamily="34" charset="0"/>
                <a:ea typeface="Calibri" pitchFamily="34" charset="-122"/>
                <a:cs typeface="Calibri" pitchFamily="34" charset="-120"/>
              </a:rPr>
              <a:t>40%</a:t>
            </a:r>
            <a:endParaRPr lang="en-US" sz="2100" dirty="0"/>
          </a:p>
        </p:txBody>
      </p:sp>
      <p:sp>
        <p:nvSpPr>
          <p:cNvPr id="10" name="Text 8"/>
          <p:cNvSpPr/>
          <p:nvPr/>
        </p:nvSpPr>
        <p:spPr>
          <a:xfrm>
            <a:off x="594360" y="3493008"/>
            <a:ext cx="2743200" cy="320040"/>
          </a:xfrm>
          <a:prstGeom prst="rect">
            <a:avLst/>
          </a:prstGeom>
          <a:noFill/>
          <a:ln/>
        </p:spPr>
        <p:txBody>
          <a:bodyPr wrap="square" lIns="0" tIns="0" rIns="0" bIns="0" rtlCol="0" anchor="t"/>
          <a:lstStyle/>
          <a:p>
            <a:pPr indent="0" marL="0">
              <a:buNone/>
            </a:pPr>
            <a:r>
              <a:rPr lang="en-US" sz="2100" dirty="0">
                <a:solidFill>
                  <a:srgbClr val="102B50"/>
                </a:solidFill>
                <a:latin typeface="Calibri" pitchFamily="34" charset="0"/>
                <a:ea typeface="Calibri" pitchFamily="34" charset="-122"/>
                <a:cs typeface="Calibri" pitchFamily="34" charset="-120"/>
              </a:rPr>
              <a:t>Feasibility</a:t>
            </a:r>
            <a:endParaRPr lang="en-US" sz="2100" dirty="0"/>
          </a:p>
        </p:txBody>
      </p:sp>
      <p:sp>
        <p:nvSpPr>
          <p:cNvPr id="11" name="Shape 9"/>
          <p:cNvSpPr/>
          <p:nvPr/>
        </p:nvSpPr>
        <p:spPr>
          <a:xfrm>
            <a:off x="3566160" y="3429000"/>
            <a:ext cx="2880360" cy="438912"/>
          </a:xfrm>
          <a:prstGeom prst="rect">
            <a:avLst>
              <a:gd name="adj" fmla="val 25000"/>
            </a:avLst>
          </a:prstGeom>
          <a:solidFill>
            <a:srgbClr val="1559B7"/>
          </a:solidFill>
          <a:ln w="12700">
            <a:solidFill>
              <a:srgbClr val="1559B7"/>
            </a:solidFill>
            <a:prstDash val="solid"/>
          </a:ln>
        </p:spPr>
      </p:sp>
      <p:sp>
        <p:nvSpPr>
          <p:cNvPr id="12" name="Text 10"/>
          <p:cNvSpPr/>
          <p:nvPr/>
        </p:nvSpPr>
        <p:spPr>
          <a:xfrm>
            <a:off x="7726680" y="3493008"/>
            <a:ext cx="960120" cy="320040"/>
          </a:xfrm>
          <a:prstGeom prst="rect">
            <a:avLst/>
          </a:prstGeom>
          <a:noFill/>
          <a:ln/>
        </p:spPr>
        <p:txBody>
          <a:bodyPr wrap="square" lIns="0" tIns="0" rIns="0" bIns="0" rtlCol="0" anchor="t"/>
          <a:lstStyle/>
          <a:p>
            <a:pPr indent="0" marL="0">
              <a:buNone/>
            </a:pPr>
            <a:r>
              <a:rPr lang="en-US" sz="2100" b="1" dirty="0">
                <a:solidFill>
                  <a:srgbClr val="1559B7"/>
                </a:solidFill>
                <a:latin typeface="Calibri" pitchFamily="34" charset="0"/>
                <a:ea typeface="Calibri" pitchFamily="34" charset="-122"/>
                <a:cs typeface="Calibri" pitchFamily="34" charset="-120"/>
              </a:rPr>
              <a:t>30%</a:t>
            </a:r>
            <a:endParaRPr lang="en-US" sz="2100" dirty="0"/>
          </a:p>
        </p:txBody>
      </p:sp>
      <p:sp>
        <p:nvSpPr>
          <p:cNvPr id="13" name="Text 11"/>
          <p:cNvSpPr/>
          <p:nvPr/>
        </p:nvSpPr>
        <p:spPr>
          <a:xfrm>
            <a:off x="594360" y="4187952"/>
            <a:ext cx="2743200" cy="320040"/>
          </a:xfrm>
          <a:prstGeom prst="rect">
            <a:avLst/>
          </a:prstGeom>
          <a:noFill/>
          <a:ln/>
        </p:spPr>
        <p:txBody>
          <a:bodyPr wrap="square" lIns="0" tIns="0" rIns="0" bIns="0" rtlCol="0" anchor="t"/>
          <a:lstStyle/>
          <a:p>
            <a:pPr indent="0" marL="0">
              <a:buNone/>
            </a:pPr>
            <a:r>
              <a:rPr lang="en-US" sz="2100" dirty="0">
                <a:solidFill>
                  <a:srgbClr val="102B50"/>
                </a:solidFill>
                <a:latin typeface="Calibri" pitchFamily="34" charset="0"/>
                <a:ea typeface="Calibri" pitchFamily="34" charset="-122"/>
                <a:cs typeface="Calibri" pitchFamily="34" charset="-120"/>
              </a:rPr>
              <a:t>Data readiness</a:t>
            </a:r>
            <a:endParaRPr lang="en-US" sz="2100" dirty="0"/>
          </a:p>
        </p:txBody>
      </p:sp>
      <p:sp>
        <p:nvSpPr>
          <p:cNvPr id="14" name="Shape 12"/>
          <p:cNvSpPr/>
          <p:nvPr/>
        </p:nvSpPr>
        <p:spPr>
          <a:xfrm>
            <a:off x="3566160" y="4123944"/>
            <a:ext cx="1920240" cy="438912"/>
          </a:xfrm>
          <a:prstGeom prst="rect">
            <a:avLst>
              <a:gd name="adj" fmla="val 25000"/>
            </a:avLst>
          </a:prstGeom>
          <a:solidFill>
            <a:srgbClr val="1559B7"/>
          </a:solidFill>
          <a:ln w="12700">
            <a:solidFill>
              <a:srgbClr val="1559B7"/>
            </a:solidFill>
            <a:prstDash val="solid"/>
          </a:ln>
        </p:spPr>
      </p:sp>
      <p:sp>
        <p:nvSpPr>
          <p:cNvPr id="15" name="Text 13"/>
          <p:cNvSpPr/>
          <p:nvPr/>
        </p:nvSpPr>
        <p:spPr>
          <a:xfrm>
            <a:off x="7726680" y="4187952"/>
            <a:ext cx="960120" cy="320040"/>
          </a:xfrm>
          <a:prstGeom prst="rect">
            <a:avLst/>
          </a:prstGeom>
          <a:noFill/>
          <a:ln/>
        </p:spPr>
        <p:txBody>
          <a:bodyPr wrap="square" lIns="0" tIns="0" rIns="0" bIns="0" rtlCol="0" anchor="t"/>
          <a:lstStyle/>
          <a:p>
            <a:pPr indent="0" marL="0">
              <a:buNone/>
            </a:pPr>
            <a:r>
              <a:rPr lang="en-US" sz="2100" b="1" dirty="0">
                <a:solidFill>
                  <a:srgbClr val="1559B7"/>
                </a:solidFill>
                <a:latin typeface="Calibri" pitchFamily="34" charset="0"/>
                <a:ea typeface="Calibri" pitchFamily="34" charset="-122"/>
                <a:cs typeface="Calibri" pitchFamily="34" charset="-120"/>
              </a:rPr>
              <a:t>20%</a:t>
            </a:r>
            <a:endParaRPr lang="en-US" sz="2100" dirty="0"/>
          </a:p>
        </p:txBody>
      </p:sp>
      <p:sp>
        <p:nvSpPr>
          <p:cNvPr id="16" name="Text 14"/>
          <p:cNvSpPr/>
          <p:nvPr/>
        </p:nvSpPr>
        <p:spPr>
          <a:xfrm>
            <a:off x="594360" y="4882896"/>
            <a:ext cx="2743200" cy="320040"/>
          </a:xfrm>
          <a:prstGeom prst="rect">
            <a:avLst/>
          </a:prstGeom>
          <a:noFill/>
          <a:ln/>
        </p:spPr>
        <p:txBody>
          <a:bodyPr wrap="square" lIns="0" tIns="0" rIns="0" bIns="0" rtlCol="0" anchor="t"/>
          <a:lstStyle/>
          <a:p>
            <a:pPr indent="0" marL="0">
              <a:buNone/>
            </a:pPr>
            <a:r>
              <a:rPr lang="en-US" sz="2100" dirty="0">
                <a:solidFill>
                  <a:srgbClr val="102B50"/>
                </a:solidFill>
                <a:latin typeface="Calibri" pitchFamily="34" charset="0"/>
                <a:ea typeface="Calibri" pitchFamily="34" charset="-122"/>
                <a:cs typeface="Calibri" pitchFamily="34" charset="-120"/>
              </a:rPr>
              <a:t>Reusability</a:t>
            </a:r>
            <a:endParaRPr lang="en-US" sz="2100" dirty="0"/>
          </a:p>
        </p:txBody>
      </p:sp>
      <p:sp>
        <p:nvSpPr>
          <p:cNvPr id="17" name="Shape 15"/>
          <p:cNvSpPr/>
          <p:nvPr/>
        </p:nvSpPr>
        <p:spPr>
          <a:xfrm>
            <a:off x="3566160" y="4818888"/>
            <a:ext cx="960120" cy="438912"/>
          </a:xfrm>
          <a:prstGeom prst="rect">
            <a:avLst>
              <a:gd name="adj" fmla="val 25000"/>
            </a:avLst>
          </a:prstGeom>
          <a:solidFill>
            <a:srgbClr val="1559B7"/>
          </a:solidFill>
          <a:ln w="12700">
            <a:solidFill>
              <a:srgbClr val="1559B7"/>
            </a:solidFill>
            <a:prstDash val="solid"/>
          </a:ln>
        </p:spPr>
      </p:sp>
      <p:sp>
        <p:nvSpPr>
          <p:cNvPr id="18" name="Text 16"/>
          <p:cNvSpPr/>
          <p:nvPr/>
        </p:nvSpPr>
        <p:spPr>
          <a:xfrm>
            <a:off x="7726680" y="4882896"/>
            <a:ext cx="960120" cy="320040"/>
          </a:xfrm>
          <a:prstGeom prst="rect">
            <a:avLst/>
          </a:prstGeom>
          <a:noFill/>
          <a:ln/>
        </p:spPr>
        <p:txBody>
          <a:bodyPr wrap="square" lIns="0" tIns="0" rIns="0" bIns="0" rtlCol="0" anchor="t"/>
          <a:lstStyle/>
          <a:p>
            <a:pPr indent="0" marL="0">
              <a:buNone/>
            </a:pPr>
            <a:r>
              <a:rPr lang="en-US" sz="2100" b="1" dirty="0">
                <a:solidFill>
                  <a:srgbClr val="1559B7"/>
                </a:solidFill>
                <a:latin typeface="Calibri" pitchFamily="34" charset="0"/>
                <a:ea typeface="Calibri" pitchFamily="34" charset="-122"/>
                <a:cs typeface="Calibri" pitchFamily="34" charset="-120"/>
              </a:rPr>
              <a:t>10%</a:t>
            </a:r>
            <a:endParaRPr lang="en-US" sz="2100" dirty="0"/>
          </a:p>
        </p:txBody>
      </p:sp>
      <p:sp>
        <p:nvSpPr>
          <p:cNvPr id="19" name="Shape 17"/>
          <p:cNvSpPr/>
          <p:nvPr/>
        </p:nvSpPr>
        <p:spPr>
          <a:xfrm>
            <a:off x="9079992" y="2688336"/>
            <a:ext cx="2560320" cy="3136392"/>
          </a:xfrm>
          <a:prstGeom prst="roundRect">
            <a:avLst>
              <a:gd name="adj" fmla="val 4286"/>
            </a:avLst>
          </a:prstGeom>
          <a:solidFill>
            <a:srgbClr val="E8F0FC"/>
          </a:solidFill>
          <a:ln w="12700">
            <a:solidFill>
              <a:srgbClr val="E8F0FC"/>
            </a:solidFill>
            <a:prstDash val="solid"/>
          </a:ln>
        </p:spPr>
      </p:sp>
      <p:sp>
        <p:nvSpPr>
          <p:cNvPr id="20" name="Text 18"/>
          <p:cNvSpPr/>
          <p:nvPr/>
        </p:nvSpPr>
        <p:spPr>
          <a:xfrm>
            <a:off x="9308592" y="2898648"/>
            <a:ext cx="210312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1-5</a:t>
            </a:r>
            <a:endParaRPr lang="en-US" sz="2300" dirty="0"/>
          </a:p>
        </p:txBody>
      </p:sp>
      <p:sp>
        <p:nvSpPr>
          <p:cNvPr id="21" name="Text 19"/>
          <p:cNvSpPr/>
          <p:nvPr/>
        </p:nvSpPr>
        <p:spPr>
          <a:xfrm>
            <a:off x="9308592" y="3593592"/>
            <a:ext cx="2103120" cy="2039112"/>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Use scores only</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with evidence.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Leave unknowns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unscored.</a:t>
            </a:r>
            <a:endParaRPr lang="en-US" sz="1900" dirty="0"/>
          </a:p>
        </p:txBody>
      </p:sp>
      <p:sp>
        <p:nvSpPr>
          <p:cNvPr id="22" name="Text 20"/>
          <p:cNvSpPr/>
          <p:nvPr/>
        </p:nvSpPr>
        <p:spPr>
          <a:xfrm>
            <a:off x="594360" y="5715000"/>
            <a:ext cx="8229600" cy="384048"/>
          </a:xfrm>
          <a:prstGeom prst="rect">
            <a:avLst/>
          </a:prstGeom>
          <a:noFill/>
          <a:ln/>
        </p:spPr>
        <p:txBody>
          <a:bodyPr wrap="square" lIns="0" tIns="0" rIns="0" bIns="0" rtlCol="0" anchor="t"/>
          <a:lstStyle/>
          <a:p>
            <a:pPr indent="0" marL="0">
              <a:buNone/>
            </a:pPr>
            <a:r>
              <a:rPr lang="en-US" sz="1700" dirty="0">
                <a:solidFill>
                  <a:srgbClr val="495D7C"/>
                </a:solidFill>
                <a:latin typeface="Calibri" pitchFamily="34" charset="0"/>
                <a:ea typeface="Calibri" pitchFamily="34" charset="-122"/>
                <a:cs typeface="Calibri" pitchFamily="34" charset="-120"/>
              </a:rPr>
              <a:t>Arithmetic example only: 4 / 3 / 3 / 4 -&gt; 3.5 out of 5. Not a real case assessment.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Prepare early; rehearse as a participant</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DLP = data-loss prevention. Use all 13 start checks; the timing below is a project default.</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8</a:t>
            </a:r>
            <a:endParaRPr lang="en-US" sz="1100" dirty="0"/>
          </a:p>
        </p:txBody>
      </p:sp>
      <p:sp>
        <p:nvSpPr>
          <p:cNvPr id="7" name="Shape 5"/>
          <p:cNvSpPr/>
          <p:nvPr/>
        </p:nvSpPr>
        <p:spPr>
          <a:xfrm>
            <a:off x="548640" y="2816352"/>
            <a:ext cx="2011680" cy="2926080"/>
          </a:xfrm>
          <a:prstGeom prst="roundRect">
            <a:avLst>
              <a:gd name="adj" fmla="val 5455"/>
            </a:avLst>
          </a:prstGeom>
          <a:solidFill>
            <a:srgbClr val="FFFFFF"/>
          </a:solidFill>
          <a:ln w="12700">
            <a:solidFill>
              <a:srgbClr val="FFFFFF"/>
            </a:solidFill>
            <a:prstDash val="solid"/>
          </a:ln>
        </p:spPr>
      </p:sp>
      <p:sp>
        <p:nvSpPr>
          <p:cNvPr id="8" name="Text 6"/>
          <p:cNvSpPr/>
          <p:nvPr/>
        </p:nvSpPr>
        <p:spPr>
          <a:xfrm>
            <a:off x="731520" y="3044952"/>
            <a:ext cx="1645920" cy="384048"/>
          </a:xfrm>
          <a:prstGeom prst="rect">
            <a:avLst/>
          </a:prstGeom>
          <a:noFill/>
          <a:ln/>
        </p:spPr>
        <p:txBody>
          <a:bodyPr wrap="square" lIns="0" tIns="0" rIns="0" bIns="0" rtlCol="0" anchor="t"/>
          <a:lstStyle/>
          <a:p>
            <a:pPr indent="0" marL="0">
              <a:buNone/>
            </a:pPr>
            <a:r>
              <a:rPr lang="en-US" sz="2300" b="1" dirty="0">
                <a:solidFill>
                  <a:srgbClr val="1559B7"/>
                </a:solidFill>
                <a:latin typeface="Calibri" pitchFamily="34" charset="0"/>
                <a:ea typeface="Calibri" pitchFamily="34" charset="-122"/>
                <a:cs typeface="Calibri" pitchFamily="34" charset="-120"/>
              </a:rPr>
              <a:t>4 weeks</a:t>
            </a:r>
            <a:endParaRPr lang="en-US" sz="2300" dirty="0"/>
          </a:p>
        </p:txBody>
      </p:sp>
      <p:sp>
        <p:nvSpPr>
          <p:cNvPr id="9" name="Text 7"/>
          <p:cNvSpPr/>
          <p:nvPr/>
        </p:nvSpPr>
        <p:spPr>
          <a:xfrm>
            <a:off x="731520" y="3703320"/>
            <a:ext cx="1645920" cy="841248"/>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Sponsor + logistics</a:t>
            </a:r>
            <a:endParaRPr lang="en-US" sz="1900" dirty="0"/>
          </a:p>
        </p:txBody>
      </p:sp>
      <p:sp>
        <p:nvSpPr>
          <p:cNvPr id="10" name="Text 8"/>
          <p:cNvSpPr/>
          <p:nvPr/>
        </p:nvSpPr>
        <p:spPr>
          <a:xfrm>
            <a:off x="731520" y="4663440"/>
            <a:ext cx="1645920" cy="86868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People, outcome,</a:t>
            </a:r>
            <a:endParaRPr lang="en-US" sz="1600" dirty="0"/>
          </a:p>
          <a:p>
            <a:pPr indent="0" marL="0">
              <a:buNone/>
            </a:pPr>
            <a:r>
              <a:rPr lang="en-US" sz="1600" dirty="0">
                <a:solidFill>
                  <a:srgbClr val="102B50"/>
                </a:solidFill>
                <a:latin typeface="Calibri" pitchFamily="34" charset="0"/>
                <a:ea typeface="Calibri" pitchFamily="34" charset="-122"/>
                <a:cs typeface="Calibri" pitchFamily="34" charset="-120"/>
              </a:rPr>
              <a:t>judging and venue</a:t>
            </a:r>
            <a:endParaRPr lang="en-US" sz="1600" dirty="0"/>
          </a:p>
        </p:txBody>
      </p:sp>
      <p:sp>
        <p:nvSpPr>
          <p:cNvPr id="11" name="Shape 9"/>
          <p:cNvSpPr/>
          <p:nvPr/>
        </p:nvSpPr>
        <p:spPr>
          <a:xfrm>
            <a:off x="2816352" y="2816352"/>
            <a:ext cx="2011680" cy="2926080"/>
          </a:xfrm>
          <a:prstGeom prst="roundRect">
            <a:avLst>
              <a:gd name="adj" fmla="val 5455"/>
            </a:avLst>
          </a:prstGeom>
          <a:solidFill>
            <a:srgbClr val="FFFFFF"/>
          </a:solidFill>
          <a:ln w="12700">
            <a:solidFill>
              <a:srgbClr val="FFFFFF"/>
            </a:solidFill>
            <a:prstDash val="solid"/>
          </a:ln>
        </p:spPr>
      </p:sp>
      <p:sp>
        <p:nvSpPr>
          <p:cNvPr id="12" name="Text 10"/>
          <p:cNvSpPr/>
          <p:nvPr/>
        </p:nvSpPr>
        <p:spPr>
          <a:xfrm>
            <a:off x="2999232" y="3044952"/>
            <a:ext cx="1645920" cy="384048"/>
          </a:xfrm>
          <a:prstGeom prst="rect">
            <a:avLst/>
          </a:prstGeom>
          <a:noFill/>
          <a:ln/>
        </p:spPr>
        <p:txBody>
          <a:bodyPr wrap="square" lIns="0" tIns="0" rIns="0" bIns="0" rtlCol="0" anchor="t"/>
          <a:lstStyle/>
          <a:p>
            <a:pPr indent="0" marL="0">
              <a:buNone/>
            </a:pPr>
            <a:r>
              <a:rPr lang="en-US" sz="2300" b="1" dirty="0">
                <a:solidFill>
                  <a:srgbClr val="1559B7"/>
                </a:solidFill>
                <a:latin typeface="Calibri" pitchFamily="34" charset="0"/>
                <a:ea typeface="Calibri" pitchFamily="34" charset="-122"/>
                <a:cs typeface="Calibri" pitchFamily="34" charset="-120"/>
              </a:rPr>
              <a:t>3 weeks</a:t>
            </a:r>
            <a:endParaRPr lang="en-US" sz="2300" dirty="0"/>
          </a:p>
        </p:txBody>
      </p:sp>
      <p:sp>
        <p:nvSpPr>
          <p:cNvPr id="13" name="Text 11"/>
          <p:cNvSpPr/>
          <p:nvPr/>
        </p:nvSpPr>
        <p:spPr>
          <a:xfrm>
            <a:off x="2999232" y="3703320"/>
            <a:ext cx="1645920" cy="841248"/>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Scope + alternatives</a:t>
            </a:r>
            <a:endParaRPr lang="en-US" sz="1900" dirty="0"/>
          </a:p>
        </p:txBody>
      </p:sp>
      <p:sp>
        <p:nvSpPr>
          <p:cNvPr id="14" name="Text 12"/>
          <p:cNvSpPr/>
          <p:nvPr/>
        </p:nvSpPr>
        <p:spPr>
          <a:xfrm>
            <a:off x="2999232" y="4663440"/>
            <a:ext cx="1645920" cy="86868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Owner presence,</a:t>
            </a:r>
            <a:endParaRPr lang="en-US" sz="1600" dirty="0"/>
          </a:p>
          <a:p>
            <a:pPr indent="0" marL="0">
              <a:buNone/>
            </a:pPr>
            <a:r>
              <a:rPr lang="en-US" sz="1600" dirty="0">
                <a:solidFill>
                  <a:srgbClr val="102B50"/>
                </a:solidFill>
                <a:latin typeface="Calibri" pitchFamily="34" charset="0"/>
                <a:ea typeface="Calibri" pitchFamily="34" charset="-122"/>
                <a:cs typeface="Calibri" pitchFamily="34" charset="-120"/>
              </a:rPr>
              <a:t>paths and options</a:t>
            </a:r>
            <a:endParaRPr lang="en-US" sz="1600" dirty="0"/>
          </a:p>
        </p:txBody>
      </p:sp>
      <p:sp>
        <p:nvSpPr>
          <p:cNvPr id="15" name="Shape 13"/>
          <p:cNvSpPr/>
          <p:nvPr/>
        </p:nvSpPr>
        <p:spPr>
          <a:xfrm>
            <a:off x="5084064" y="2816352"/>
            <a:ext cx="2011680" cy="2926080"/>
          </a:xfrm>
          <a:prstGeom prst="roundRect">
            <a:avLst>
              <a:gd name="adj" fmla="val 5455"/>
            </a:avLst>
          </a:prstGeom>
          <a:solidFill>
            <a:srgbClr val="FFFFFF"/>
          </a:solidFill>
          <a:ln w="12700">
            <a:solidFill>
              <a:srgbClr val="FFFFFF"/>
            </a:solidFill>
            <a:prstDash val="solid"/>
          </a:ln>
        </p:spPr>
      </p:sp>
      <p:sp>
        <p:nvSpPr>
          <p:cNvPr id="16" name="Text 14"/>
          <p:cNvSpPr/>
          <p:nvPr/>
        </p:nvSpPr>
        <p:spPr>
          <a:xfrm>
            <a:off x="5266944" y="3044952"/>
            <a:ext cx="1645920" cy="384048"/>
          </a:xfrm>
          <a:prstGeom prst="rect">
            <a:avLst/>
          </a:prstGeom>
          <a:noFill/>
          <a:ln/>
        </p:spPr>
        <p:txBody>
          <a:bodyPr wrap="square" lIns="0" tIns="0" rIns="0" bIns="0" rtlCol="0" anchor="t"/>
          <a:lstStyle/>
          <a:p>
            <a:pPr indent="0" marL="0">
              <a:buNone/>
            </a:pPr>
            <a:r>
              <a:rPr lang="en-US" sz="2300" b="1" dirty="0">
                <a:solidFill>
                  <a:srgbClr val="1559B7"/>
                </a:solidFill>
                <a:latin typeface="Calibri" pitchFamily="34" charset="0"/>
                <a:ea typeface="Calibri" pitchFamily="34" charset="-122"/>
                <a:cs typeface="Calibri" pitchFamily="34" charset="-120"/>
              </a:rPr>
              <a:t>2 weeks</a:t>
            </a:r>
            <a:endParaRPr lang="en-US" sz="2300" dirty="0"/>
          </a:p>
        </p:txBody>
      </p:sp>
      <p:sp>
        <p:nvSpPr>
          <p:cNvPr id="17" name="Text 15"/>
          <p:cNvSpPr/>
          <p:nvPr/>
        </p:nvSpPr>
        <p:spPr>
          <a:xfrm>
            <a:off x="5266944" y="3703320"/>
            <a:ext cx="1645920" cy="841248"/>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Access + capacity</a:t>
            </a:r>
            <a:endParaRPr lang="en-US" sz="1900" dirty="0"/>
          </a:p>
        </p:txBody>
      </p:sp>
      <p:sp>
        <p:nvSpPr>
          <p:cNvPr id="18" name="Text 16"/>
          <p:cNvSpPr/>
          <p:nvPr/>
        </p:nvSpPr>
        <p:spPr>
          <a:xfrm>
            <a:off x="5266944" y="4663440"/>
            <a:ext cx="1645920" cy="86868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Licenses, metrics,</a:t>
            </a:r>
            <a:endParaRPr lang="en-US" sz="1600" dirty="0"/>
          </a:p>
          <a:p>
            <a:pPr indent="0" marL="0">
              <a:buNone/>
            </a:pPr>
            <a:r>
              <a:rPr lang="en-US" sz="1600" dirty="0">
                <a:solidFill>
                  <a:srgbClr val="102B50"/>
                </a:solidFill>
                <a:latin typeface="Calibri" pitchFamily="34" charset="0"/>
                <a:ea typeface="Calibri" pitchFamily="34" charset="-122"/>
                <a:cs typeface="Calibri" pitchFamily="34" charset="-120"/>
              </a:rPr>
              <a:t>skills and access</a:t>
            </a:r>
            <a:endParaRPr lang="en-US" sz="1600" dirty="0"/>
          </a:p>
        </p:txBody>
      </p:sp>
      <p:sp>
        <p:nvSpPr>
          <p:cNvPr id="19" name="Shape 17"/>
          <p:cNvSpPr/>
          <p:nvPr/>
        </p:nvSpPr>
        <p:spPr>
          <a:xfrm>
            <a:off x="7351776" y="2816352"/>
            <a:ext cx="2011680" cy="2926080"/>
          </a:xfrm>
          <a:prstGeom prst="roundRect">
            <a:avLst>
              <a:gd name="adj" fmla="val 5455"/>
            </a:avLst>
          </a:prstGeom>
          <a:solidFill>
            <a:srgbClr val="FFFFFF"/>
          </a:solidFill>
          <a:ln w="12700">
            <a:solidFill>
              <a:srgbClr val="FFFFFF"/>
            </a:solidFill>
            <a:prstDash val="solid"/>
          </a:ln>
        </p:spPr>
      </p:sp>
      <p:sp>
        <p:nvSpPr>
          <p:cNvPr id="20" name="Text 18"/>
          <p:cNvSpPr/>
          <p:nvPr/>
        </p:nvSpPr>
        <p:spPr>
          <a:xfrm>
            <a:off x="7534656" y="3044952"/>
            <a:ext cx="1645920" cy="384048"/>
          </a:xfrm>
          <a:prstGeom prst="rect">
            <a:avLst/>
          </a:prstGeom>
          <a:noFill/>
          <a:ln/>
        </p:spPr>
        <p:txBody>
          <a:bodyPr wrap="square" lIns="0" tIns="0" rIns="0" bIns="0" rtlCol="0" anchor="t"/>
          <a:lstStyle/>
          <a:p>
            <a:pPr indent="0" marL="0">
              <a:buNone/>
            </a:pPr>
            <a:r>
              <a:rPr lang="en-US" sz="2300" b="1" dirty="0">
                <a:solidFill>
                  <a:srgbClr val="1559B7"/>
                </a:solidFill>
                <a:latin typeface="Calibri" pitchFamily="34" charset="0"/>
                <a:ea typeface="Calibri" pitchFamily="34" charset="-122"/>
                <a:cs typeface="Calibri" pitchFamily="34" charset="-120"/>
              </a:rPr>
              <a:t>1 week</a:t>
            </a:r>
            <a:endParaRPr lang="en-US" sz="2300" dirty="0"/>
          </a:p>
        </p:txBody>
      </p:sp>
      <p:sp>
        <p:nvSpPr>
          <p:cNvPr id="21" name="Text 19"/>
          <p:cNvSpPr/>
          <p:nvPr/>
        </p:nvSpPr>
        <p:spPr>
          <a:xfrm>
            <a:off x="7534656" y="3703320"/>
            <a:ext cx="1645920" cy="841248"/>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Data + safeguards</a:t>
            </a:r>
            <a:endParaRPr lang="en-US" sz="1900" dirty="0"/>
          </a:p>
        </p:txBody>
      </p:sp>
      <p:sp>
        <p:nvSpPr>
          <p:cNvPr id="22" name="Text 20"/>
          <p:cNvSpPr/>
          <p:nvPr/>
        </p:nvSpPr>
        <p:spPr>
          <a:xfrm>
            <a:off x="7534656" y="4663440"/>
            <a:ext cx="1645920" cy="86868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Sample and DLP,</a:t>
            </a:r>
            <a:endParaRPr lang="en-US" sz="1600" dirty="0"/>
          </a:p>
          <a:p>
            <a:pPr indent="0" marL="0">
              <a:buNone/>
            </a:pPr>
            <a:r>
              <a:rPr lang="en-US" sz="1600" dirty="0">
                <a:solidFill>
                  <a:srgbClr val="102B50"/>
                </a:solidFill>
                <a:latin typeface="Calibri" pitchFamily="34" charset="0"/>
                <a:ea typeface="Calibri" pitchFamily="34" charset="-122"/>
                <a:cs typeface="Calibri" pitchFamily="34" charset="-120"/>
              </a:rPr>
              <a:t>review, channel,</a:t>
            </a:r>
            <a:endParaRPr lang="en-US" sz="1600" dirty="0"/>
          </a:p>
          <a:p>
            <a:pPr indent="0" marL="0">
              <a:buNone/>
            </a:pPr>
            <a:r>
              <a:rPr lang="en-US" sz="1600" dirty="0">
                <a:solidFill>
                  <a:srgbClr val="102B50"/>
                </a:solidFill>
                <a:latin typeface="Calibri" pitchFamily="34" charset="0"/>
                <a:ea typeface="Calibri" pitchFamily="34" charset="-122"/>
                <a:cs typeface="Calibri" pitchFamily="34" charset="-120"/>
              </a:rPr>
              <a:t>team training</a:t>
            </a:r>
            <a:endParaRPr lang="en-US" sz="1600" dirty="0"/>
          </a:p>
        </p:txBody>
      </p:sp>
      <p:sp>
        <p:nvSpPr>
          <p:cNvPr id="23" name="Shape 21"/>
          <p:cNvSpPr/>
          <p:nvPr/>
        </p:nvSpPr>
        <p:spPr>
          <a:xfrm>
            <a:off x="9619488" y="2816352"/>
            <a:ext cx="2011680" cy="2926080"/>
          </a:xfrm>
          <a:prstGeom prst="roundRect">
            <a:avLst>
              <a:gd name="adj" fmla="val 5455"/>
            </a:avLst>
          </a:prstGeom>
          <a:solidFill>
            <a:srgbClr val="1559B7"/>
          </a:solidFill>
          <a:ln w="12700">
            <a:solidFill>
              <a:srgbClr val="1559B7"/>
            </a:solidFill>
            <a:prstDash val="solid"/>
          </a:ln>
        </p:spPr>
      </p:sp>
      <p:sp>
        <p:nvSpPr>
          <p:cNvPr id="24" name="Text 22"/>
          <p:cNvSpPr/>
          <p:nvPr/>
        </p:nvSpPr>
        <p:spPr>
          <a:xfrm>
            <a:off x="9802368" y="3044952"/>
            <a:ext cx="1645920" cy="384048"/>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Day 0</a:t>
            </a:r>
            <a:endParaRPr lang="en-US" sz="2300" dirty="0"/>
          </a:p>
        </p:txBody>
      </p:sp>
      <p:sp>
        <p:nvSpPr>
          <p:cNvPr id="25" name="Text 23"/>
          <p:cNvSpPr/>
          <p:nvPr/>
        </p:nvSpPr>
        <p:spPr>
          <a:xfrm>
            <a:off x="9802368" y="3703320"/>
            <a:ext cx="1645920" cy="841248"/>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Dry run + decision</a:t>
            </a:r>
            <a:endParaRPr lang="en-US" sz="1900" dirty="0"/>
          </a:p>
        </p:txBody>
      </p:sp>
      <p:sp>
        <p:nvSpPr>
          <p:cNvPr id="26" name="Text 24"/>
          <p:cNvSpPr/>
          <p:nvPr/>
        </p:nvSpPr>
        <p:spPr>
          <a:xfrm>
            <a:off x="9802368" y="4663440"/>
            <a:ext cx="1645920" cy="8686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Test the path;</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record go/no-go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Day 1: protect one useful path</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Manual agenda, not an app feature. Confirm time zone, breaks and accessibility.</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9</a:t>
            </a:r>
            <a:endParaRPr lang="en-US" sz="1100" dirty="0"/>
          </a:p>
        </p:txBody>
      </p:sp>
      <p:sp>
        <p:nvSpPr>
          <p:cNvPr id="7" name="Shape 5"/>
          <p:cNvSpPr/>
          <p:nvPr/>
        </p:nvSpPr>
        <p:spPr>
          <a:xfrm>
            <a:off x="548640" y="2633472"/>
            <a:ext cx="6912864" cy="411480"/>
          </a:xfrm>
          <a:prstGeom prst="rect">
            <a:avLst>
              <a:gd name="adj" fmla="val 26667"/>
            </a:avLst>
          </a:prstGeom>
          <a:solidFill>
            <a:srgbClr val="FFFFFF"/>
          </a:solidFill>
          <a:ln w="12700">
            <a:solidFill>
              <a:srgbClr val="FFFFFF"/>
            </a:solidFill>
            <a:prstDash val="solid"/>
          </a:ln>
        </p:spPr>
      </p:sp>
      <p:sp>
        <p:nvSpPr>
          <p:cNvPr id="8" name="Text 6"/>
          <p:cNvSpPr/>
          <p:nvPr/>
        </p:nvSpPr>
        <p:spPr>
          <a:xfrm>
            <a:off x="694944" y="2711196"/>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09:00-09:30</a:t>
            </a:r>
            <a:endParaRPr lang="en-US" sz="1600" dirty="0"/>
          </a:p>
        </p:txBody>
      </p:sp>
      <p:sp>
        <p:nvSpPr>
          <p:cNvPr id="9" name="Text 7"/>
          <p:cNvSpPr/>
          <p:nvPr/>
        </p:nvSpPr>
        <p:spPr>
          <a:xfrm>
            <a:off x="2340864" y="2711196"/>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Sponsor opening and safety</a:t>
            </a:r>
            <a:endParaRPr lang="en-US" sz="1600" dirty="0"/>
          </a:p>
        </p:txBody>
      </p:sp>
      <p:sp>
        <p:nvSpPr>
          <p:cNvPr id="10" name="Shape 8"/>
          <p:cNvSpPr/>
          <p:nvPr/>
        </p:nvSpPr>
        <p:spPr>
          <a:xfrm>
            <a:off x="548640" y="3118104"/>
            <a:ext cx="6912864" cy="411480"/>
          </a:xfrm>
          <a:prstGeom prst="rect">
            <a:avLst>
              <a:gd name="adj" fmla="val 26667"/>
            </a:avLst>
          </a:prstGeom>
          <a:solidFill>
            <a:srgbClr val="E8F0FC"/>
          </a:solidFill>
          <a:ln w="12700">
            <a:solidFill>
              <a:srgbClr val="E8F0FC"/>
            </a:solidFill>
            <a:prstDash val="solid"/>
          </a:ln>
        </p:spPr>
      </p:sp>
      <p:sp>
        <p:nvSpPr>
          <p:cNvPr id="11" name="Text 9"/>
          <p:cNvSpPr/>
          <p:nvPr/>
        </p:nvSpPr>
        <p:spPr>
          <a:xfrm>
            <a:off x="694944" y="3195828"/>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09:30-10:00</a:t>
            </a:r>
            <a:endParaRPr lang="en-US" sz="1600" dirty="0"/>
          </a:p>
        </p:txBody>
      </p:sp>
      <p:sp>
        <p:nvSpPr>
          <p:cNvPr id="12" name="Text 10"/>
          <p:cNvSpPr/>
          <p:nvPr/>
        </p:nvSpPr>
        <p:spPr>
          <a:xfrm>
            <a:off x="2340864" y="3195828"/>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Refresher and team scope</a:t>
            </a:r>
            <a:endParaRPr lang="en-US" sz="1600" dirty="0"/>
          </a:p>
        </p:txBody>
      </p:sp>
      <p:sp>
        <p:nvSpPr>
          <p:cNvPr id="13" name="Shape 11"/>
          <p:cNvSpPr/>
          <p:nvPr/>
        </p:nvSpPr>
        <p:spPr>
          <a:xfrm>
            <a:off x="548640" y="3602736"/>
            <a:ext cx="6912864" cy="411480"/>
          </a:xfrm>
          <a:prstGeom prst="rect">
            <a:avLst>
              <a:gd name="adj" fmla="val 26667"/>
            </a:avLst>
          </a:prstGeom>
          <a:solidFill>
            <a:srgbClr val="FFFFFF"/>
          </a:solidFill>
          <a:ln w="12700">
            <a:solidFill>
              <a:srgbClr val="FFFFFF"/>
            </a:solidFill>
            <a:prstDash val="solid"/>
          </a:ln>
        </p:spPr>
      </p:sp>
      <p:sp>
        <p:nvSpPr>
          <p:cNvPr id="14" name="Text 12"/>
          <p:cNvSpPr/>
          <p:nvPr/>
        </p:nvSpPr>
        <p:spPr>
          <a:xfrm>
            <a:off x="694944" y="3680460"/>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10:00-12:00</a:t>
            </a:r>
            <a:endParaRPr lang="en-US" sz="1600" dirty="0"/>
          </a:p>
        </p:txBody>
      </p:sp>
      <p:sp>
        <p:nvSpPr>
          <p:cNvPr id="15" name="Text 13"/>
          <p:cNvSpPr/>
          <p:nvPr/>
        </p:nvSpPr>
        <p:spPr>
          <a:xfrm>
            <a:off x="2340864" y="3680460"/>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Build, break and mentor check</a:t>
            </a:r>
            <a:endParaRPr lang="en-US" sz="1600" dirty="0"/>
          </a:p>
        </p:txBody>
      </p:sp>
      <p:sp>
        <p:nvSpPr>
          <p:cNvPr id="16" name="Shape 14"/>
          <p:cNvSpPr/>
          <p:nvPr/>
        </p:nvSpPr>
        <p:spPr>
          <a:xfrm>
            <a:off x="548640" y="4087368"/>
            <a:ext cx="6912864" cy="411480"/>
          </a:xfrm>
          <a:prstGeom prst="rect">
            <a:avLst>
              <a:gd name="adj" fmla="val 26667"/>
            </a:avLst>
          </a:prstGeom>
          <a:solidFill>
            <a:srgbClr val="E8F0FC"/>
          </a:solidFill>
          <a:ln w="12700">
            <a:solidFill>
              <a:srgbClr val="E8F0FC"/>
            </a:solidFill>
            <a:prstDash val="solid"/>
          </a:ln>
        </p:spPr>
      </p:sp>
      <p:sp>
        <p:nvSpPr>
          <p:cNvPr id="17" name="Text 15"/>
          <p:cNvSpPr/>
          <p:nvPr/>
        </p:nvSpPr>
        <p:spPr>
          <a:xfrm>
            <a:off x="694944" y="4165092"/>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12:00-13:00</a:t>
            </a:r>
            <a:endParaRPr lang="en-US" sz="1600" dirty="0"/>
          </a:p>
        </p:txBody>
      </p:sp>
      <p:sp>
        <p:nvSpPr>
          <p:cNvPr id="18" name="Text 16"/>
          <p:cNvSpPr/>
          <p:nvPr/>
        </p:nvSpPr>
        <p:spPr>
          <a:xfrm>
            <a:off x="2340864" y="4165092"/>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Lunch / async catch-up</a:t>
            </a:r>
            <a:endParaRPr lang="en-US" sz="1600" dirty="0"/>
          </a:p>
        </p:txBody>
      </p:sp>
      <p:sp>
        <p:nvSpPr>
          <p:cNvPr id="19" name="Shape 17"/>
          <p:cNvSpPr/>
          <p:nvPr/>
        </p:nvSpPr>
        <p:spPr>
          <a:xfrm>
            <a:off x="548640" y="4572000"/>
            <a:ext cx="6912864" cy="411480"/>
          </a:xfrm>
          <a:prstGeom prst="rect">
            <a:avLst>
              <a:gd name="adj" fmla="val 26667"/>
            </a:avLst>
          </a:prstGeom>
          <a:solidFill>
            <a:srgbClr val="FFFFFF"/>
          </a:solidFill>
          <a:ln w="12700">
            <a:solidFill>
              <a:srgbClr val="FFFFFF"/>
            </a:solidFill>
            <a:prstDash val="solid"/>
          </a:ln>
        </p:spPr>
      </p:sp>
      <p:sp>
        <p:nvSpPr>
          <p:cNvPr id="20" name="Text 18"/>
          <p:cNvSpPr/>
          <p:nvPr/>
        </p:nvSpPr>
        <p:spPr>
          <a:xfrm>
            <a:off x="694944" y="4649724"/>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13:00-14:30</a:t>
            </a:r>
            <a:endParaRPr lang="en-US" sz="1600" dirty="0"/>
          </a:p>
        </p:txBody>
      </p:sp>
      <p:sp>
        <p:nvSpPr>
          <p:cNvPr id="21" name="Text 19"/>
          <p:cNvSpPr/>
          <p:nvPr/>
        </p:nvSpPr>
        <p:spPr>
          <a:xfrm>
            <a:off x="2340864" y="4649724"/>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Build and business review</a:t>
            </a:r>
            <a:endParaRPr lang="en-US" sz="1600" dirty="0"/>
          </a:p>
        </p:txBody>
      </p:sp>
      <p:sp>
        <p:nvSpPr>
          <p:cNvPr id="22" name="Shape 20"/>
          <p:cNvSpPr/>
          <p:nvPr/>
        </p:nvSpPr>
        <p:spPr>
          <a:xfrm>
            <a:off x="548640" y="5056632"/>
            <a:ext cx="6912864" cy="411480"/>
          </a:xfrm>
          <a:prstGeom prst="rect">
            <a:avLst>
              <a:gd name="adj" fmla="val 26667"/>
            </a:avLst>
          </a:prstGeom>
          <a:solidFill>
            <a:srgbClr val="E8F0FC"/>
          </a:solidFill>
          <a:ln w="12700">
            <a:solidFill>
              <a:srgbClr val="E8F0FC"/>
            </a:solidFill>
            <a:prstDash val="solid"/>
          </a:ln>
        </p:spPr>
      </p:sp>
      <p:sp>
        <p:nvSpPr>
          <p:cNvPr id="23" name="Text 21"/>
          <p:cNvSpPr/>
          <p:nvPr/>
        </p:nvSpPr>
        <p:spPr>
          <a:xfrm>
            <a:off x="694944" y="5134356"/>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14:30-15:30</a:t>
            </a:r>
            <a:endParaRPr lang="en-US" sz="1600" dirty="0"/>
          </a:p>
        </p:txBody>
      </p:sp>
      <p:sp>
        <p:nvSpPr>
          <p:cNvPr id="24" name="Text 22"/>
          <p:cNvSpPr/>
          <p:nvPr/>
        </p:nvSpPr>
        <p:spPr>
          <a:xfrm>
            <a:off x="2340864" y="5134356"/>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Blocker decisions</a:t>
            </a:r>
            <a:endParaRPr lang="en-US" sz="1600" dirty="0"/>
          </a:p>
        </p:txBody>
      </p:sp>
      <p:sp>
        <p:nvSpPr>
          <p:cNvPr id="25" name="Shape 23"/>
          <p:cNvSpPr/>
          <p:nvPr/>
        </p:nvSpPr>
        <p:spPr>
          <a:xfrm>
            <a:off x="548640" y="5541264"/>
            <a:ext cx="6912864" cy="411480"/>
          </a:xfrm>
          <a:prstGeom prst="rect">
            <a:avLst>
              <a:gd name="adj" fmla="val 26667"/>
            </a:avLst>
          </a:prstGeom>
          <a:solidFill>
            <a:srgbClr val="FFFFFF"/>
          </a:solidFill>
          <a:ln w="12700">
            <a:solidFill>
              <a:srgbClr val="FFFFFF"/>
            </a:solidFill>
            <a:prstDash val="solid"/>
          </a:ln>
        </p:spPr>
      </p:sp>
      <p:sp>
        <p:nvSpPr>
          <p:cNvPr id="26" name="Text 24"/>
          <p:cNvSpPr/>
          <p:nvPr/>
        </p:nvSpPr>
        <p:spPr>
          <a:xfrm>
            <a:off x="694944" y="5618988"/>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15:30-16:30</a:t>
            </a:r>
            <a:endParaRPr lang="en-US" sz="1600" dirty="0"/>
          </a:p>
        </p:txBody>
      </p:sp>
      <p:sp>
        <p:nvSpPr>
          <p:cNvPr id="27" name="Text 25"/>
          <p:cNvSpPr/>
          <p:nvPr/>
        </p:nvSpPr>
        <p:spPr>
          <a:xfrm>
            <a:off x="2340864" y="5618988"/>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Working path and fallback</a:t>
            </a:r>
            <a:endParaRPr lang="en-US" sz="1600" dirty="0"/>
          </a:p>
        </p:txBody>
      </p:sp>
      <p:sp>
        <p:nvSpPr>
          <p:cNvPr id="28" name="Shape 26"/>
          <p:cNvSpPr/>
          <p:nvPr/>
        </p:nvSpPr>
        <p:spPr>
          <a:xfrm>
            <a:off x="7808976" y="2651760"/>
            <a:ext cx="3822192" cy="3273552"/>
          </a:xfrm>
          <a:prstGeom prst="roundRect">
            <a:avLst>
              <a:gd name="adj" fmla="val 3352"/>
            </a:avLst>
          </a:prstGeom>
          <a:solidFill>
            <a:srgbClr val="E8F0FC"/>
          </a:solidFill>
          <a:ln w="12700">
            <a:solidFill>
              <a:srgbClr val="E8F0FC"/>
            </a:solidFill>
            <a:prstDash val="solid"/>
          </a:ln>
        </p:spPr>
      </p:sp>
      <p:sp>
        <p:nvSpPr>
          <p:cNvPr id="29" name="Text 27"/>
          <p:cNvSpPr/>
          <p:nvPr/>
        </p:nvSpPr>
        <p:spPr>
          <a:xfrm>
            <a:off x="8037576" y="2862072"/>
            <a:ext cx="3364992"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CHECKPOINT</a:t>
            </a:r>
            <a:endParaRPr lang="en-US" sz="2300" dirty="0"/>
          </a:p>
        </p:txBody>
      </p:sp>
      <p:sp>
        <p:nvSpPr>
          <p:cNvPr id="30" name="Text 28"/>
          <p:cNvSpPr/>
          <p:nvPr/>
        </p:nvSpPr>
        <p:spPr>
          <a:xfrm>
            <a:off x="8037576" y="3557016"/>
            <a:ext cx="3364992" cy="2176272"/>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What works now?</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What is blocked?</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Who decides?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What is the permitted fallback?</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Day 2: test, then show the evidence</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For a three-day event, move this final-day rhythm to Day 3.</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10</a:t>
            </a:r>
            <a:endParaRPr lang="en-US" sz="1100" dirty="0"/>
          </a:p>
        </p:txBody>
      </p:sp>
      <p:sp>
        <p:nvSpPr>
          <p:cNvPr id="7" name="Shape 5"/>
          <p:cNvSpPr/>
          <p:nvPr/>
        </p:nvSpPr>
        <p:spPr>
          <a:xfrm>
            <a:off x="548640" y="2633472"/>
            <a:ext cx="6912864" cy="411480"/>
          </a:xfrm>
          <a:prstGeom prst="rect">
            <a:avLst>
              <a:gd name="adj" fmla="val 26667"/>
            </a:avLst>
          </a:prstGeom>
          <a:solidFill>
            <a:srgbClr val="FFFFFF"/>
          </a:solidFill>
          <a:ln w="12700">
            <a:solidFill>
              <a:srgbClr val="FFFFFF"/>
            </a:solidFill>
            <a:prstDash val="solid"/>
          </a:ln>
        </p:spPr>
      </p:sp>
      <p:sp>
        <p:nvSpPr>
          <p:cNvPr id="8" name="Text 6"/>
          <p:cNvSpPr/>
          <p:nvPr/>
        </p:nvSpPr>
        <p:spPr>
          <a:xfrm>
            <a:off x="694944" y="2711196"/>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09:00-09:30</a:t>
            </a:r>
            <a:endParaRPr lang="en-US" sz="1600" dirty="0"/>
          </a:p>
        </p:txBody>
      </p:sp>
      <p:sp>
        <p:nvSpPr>
          <p:cNvPr id="9" name="Text 7"/>
          <p:cNvSpPr/>
          <p:nvPr/>
        </p:nvSpPr>
        <p:spPr>
          <a:xfrm>
            <a:off x="2340864" y="2711196"/>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Working-path checkpoint</a:t>
            </a:r>
            <a:endParaRPr lang="en-US" sz="1600" dirty="0"/>
          </a:p>
        </p:txBody>
      </p:sp>
      <p:sp>
        <p:nvSpPr>
          <p:cNvPr id="10" name="Shape 8"/>
          <p:cNvSpPr/>
          <p:nvPr/>
        </p:nvSpPr>
        <p:spPr>
          <a:xfrm>
            <a:off x="548640" y="3118104"/>
            <a:ext cx="6912864" cy="411480"/>
          </a:xfrm>
          <a:prstGeom prst="rect">
            <a:avLst>
              <a:gd name="adj" fmla="val 26667"/>
            </a:avLst>
          </a:prstGeom>
          <a:solidFill>
            <a:srgbClr val="E8F0FC"/>
          </a:solidFill>
          <a:ln w="12700">
            <a:solidFill>
              <a:srgbClr val="E8F0FC"/>
            </a:solidFill>
            <a:prstDash val="solid"/>
          </a:ln>
        </p:spPr>
      </p:sp>
      <p:sp>
        <p:nvSpPr>
          <p:cNvPr id="11" name="Text 9"/>
          <p:cNvSpPr/>
          <p:nvPr/>
        </p:nvSpPr>
        <p:spPr>
          <a:xfrm>
            <a:off x="694944" y="3195828"/>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09:30-10:00</a:t>
            </a:r>
            <a:endParaRPr lang="en-US" sz="1600" dirty="0"/>
          </a:p>
        </p:txBody>
      </p:sp>
      <p:sp>
        <p:nvSpPr>
          <p:cNvPr id="12" name="Text 10"/>
          <p:cNvSpPr/>
          <p:nvPr/>
        </p:nvSpPr>
        <p:spPr>
          <a:xfrm>
            <a:off x="2340864" y="3195828"/>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Finish the agreed slice</a:t>
            </a:r>
            <a:endParaRPr lang="en-US" sz="1600" dirty="0"/>
          </a:p>
        </p:txBody>
      </p:sp>
      <p:sp>
        <p:nvSpPr>
          <p:cNvPr id="13" name="Shape 11"/>
          <p:cNvSpPr/>
          <p:nvPr/>
        </p:nvSpPr>
        <p:spPr>
          <a:xfrm>
            <a:off x="548640" y="3602736"/>
            <a:ext cx="6912864" cy="411480"/>
          </a:xfrm>
          <a:prstGeom prst="rect">
            <a:avLst>
              <a:gd name="adj" fmla="val 26667"/>
            </a:avLst>
          </a:prstGeom>
          <a:solidFill>
            <a:srgbClr val="FFFFFF"/>
          </a:solidFill>
          <a:ln w="12700">
            <a:solidFill>
              <a:srgbClr val="FFFFFF"/>
            </a:solidFill>
            <a:prstDash val="solid"/>
          </a:ln>
        </p:spPr>
      </p:sp>
      <p:sp>
        <p:nvSpPr>
          <p:cNvPr id="14" name="Text 12"/>
          <p:cNvSpPr/>
          <p:nvPr/>
        </p:nvSpPr>
        <p:spPr>
          <a:xfrm>
            <a:off x="694944" y="3680460"/>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10:00-12:00</a:t>
            </a:r>
            <a:endParaRPr lang="en-US" sz="1600" dirty="0"/>
          </a:p>
        </p:txBody>
      </p:sp>
      <p:sp>
        <p:nvSpPr>
          <p:cNvPr id="15" name="Text 13"/>
          <p:cNvSpPr/>
          <p:nvPr/>
        </p:nvSpPr>
        <p:spPr>
          <a:xfrm>
            <a:off x="2340864" y="3680460"/>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Test, fix, break and freeze</a:t>
            </a:r>
            <a:endParaRPr lang="en-US" sz="1600" dirty="0"/>
          </a:p>
        </p:txBody>
      </p:sp>
      <p:sp>
        <p:nvSpPr>
          <p:cNvPr id="16" name="Shape 14"/>
          <p:cNvSpPr/>
          <p:nvPr/>
        </p:nvSpPr>
        <p:spPr>
          <a:xfrm>
            <a:off x="548640" y="4087368"/>
            <a:ext cx="6912864" cy="411480"/>
          </a:xfrm>
          <a:prstGeom prst="rect">
            <a:avLst>
              <a:gd name="adj" fmla="val 26667"/>
            </a:avLst>
          </a:prstGeom>
          <a:solidFill>
            <a:srgbClr val="E8F0FC"/>
          </a:solidFill>
          <a:ln w="12700">
            <a:solidFill>
              <a:srgbClr val="E8F0FC"/>
            </a:solidFill>
            <a:prstDash val="solid"/>
          </a:ln>
        </p:spPr>
      </p:sp>
      <p:sp>
        <p:nvSpPr>
          <p:cNvPr id="17" name="Text 15"/>
          <p:cNvSpPr/>
          <p:nvPr/>
        </p:nvSpPr>
        <p:spPr>
          <a:xfrm>
            <a:off x="694944" y="4165092"/>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12:00-13:00</a:t>
            </a:r>
            <a:endParaRPr lang="en-US" sz="1600" dirty="0"/>
          </a:p>
        </p:txBody>
      </p:sp>
      <p:sp>
        <p:nvSpPr>
          <p:cNvPr id="18" name="Text 16"/>
          <p:cNvSpPr/>
          <p:nvPr/>
        </p:nvSpPr>
        <p:spPr>
          <a:xfrm>
            <a:off x="2340864" y="4165092"/>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Lunch / async catch-up</a:t>
            </a:r>
            <a:endParaRPr lang="en-US" sz="1600" dirty="0"/>
          </a:p>
        </p:txBody>
      </p:sp>
      <p:sp>
        <p:nvSpPr>
          <p:cNvPr id="19" name="Shape 17"/>
          <p:cNvSpPr/>
          <p:nvPr/>
        </p:nvSpPr>
        <p:spPr>
          <a:xfrm>
            <a:off x="548640" y="4572000"/>
            <a:ext cx="6912864" cy="411480"/>
          </a:xfrm>
          <a:prstGeom prst="rect">
            <a:avLst>
              <a:gd name="adj" fmla="val 26667"/>
            </a:avLst>
          </a:prstGeom>
          <a:solidFill>
            <a:srgbClr val="FFFFFF"/>
          </a:solidFill>
          <a:ln w="12700">
            <a:solidFill>
              <a:srgbClr val="FFFFFF"/>
            </a:solidFill>
            <a:prstDash val="solid"/>
          </a:ln>
        </p:spPr>
      </p:sp>
      <p:sp>
        <p:nvSpPr>
          <p:cNvPr id="20" name="Text 18"/>
          <p:cNvSpPr/>
          <p:nvPr/>
        </p:nvSpPr>
        <p:spPr>
          <a:xfrm>
            <a:off x="694944" y="4649724"/>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13:00-14:30</a:t>
            </a:r>
            <a:endParaRPr lang="en-US" sz="1600" dirty="0"/>
          </a:p>
        </p:txBody>
      </p:sp>
      <p:sp>
        <p:nvSpPr>
          <p:cNvPr id="21" name="Text 19"/>
          <p:cNvSpPr/>
          <p:nvPr/>
        </p:nvSpPr>
        <p:spPr>
          <a:xfrm>
            <a:off x="2340864" y="4649724"/>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Demos and backup recording</a:t>
            </a:r>
            <a:endParaRPr lang="en-US" sz="1600" dirty="0"/>
          </a:p>
        </p:txBody>
      </p:sp>
      <p:sp>
        <p:nvSpPr>
          <p:cNvPr id="22" name="Shape 20"/>
          <p:cNvSpPr/>
          <p:nvPr/>
        </p:nvSpPr>
        <p:spPr>
          <a:xfrm>
            <a:off x="548640" y="5056632"/>
            <a:ext cx="6912864" cy="411480"/>
          </a:xfrm>
          <a:prstGeom prst="rect">
            <a:avLst>
              <a:gd name="adj" fmla="val 26667"/>
            </a:avLst>
          </a:prstGeom>
          <a:solidFill>
            <a:srgbClr val="E8F0FC"/>
          </a:solidFill>
          <a:ln w="12700">
            <a:solidFill>
              <a:srgbClr val="E8F0FC"/>
            </a:solidFill>
            <a:prstDash val="solid"/>
          </a:ln>
        </p:spPr>
      </p:sp>
      <p:sp>
        <p:nvSpPr>
          <p:cNvPr id="23" name="Text 21"/>
          <p:cNvSpPr/>
          <p:nvPr/>
        </p:nvSpPr>
        <p:spPr>
          <a:xfrm>
            <a:off x="694944" y="5134356"/>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14:30-15:30</a:t>
            </a:r>
            <a:endParaRPr lang="en-US" sz="1600" dirty="0"/>
          </a:p>
        </p:txBody>
      </p:sp>
      <p:sp>
        <p:nvSpPr>
          <p:cNvPr id="24" name="Text 22"/>
          <p:cNvSpPr/>
          <p:nvPr/>
        </p:nvSpPr>
        <p:spPr>
          <a:xfrm>
            <a:off x="2340864" y="5134356"/>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Showcase and judging</a:t>
            </a:r>
            <a:endParaRPr lang="en-US" sz="1600" dirty="0"/>
          </a:p>
        </p:txBody>
      </p:sp>
      <p:sp>
        <p:nvSpPr>
          <p:cNvPr id="25" name="Shape 23"/>
          <p:cNvSpPr/>
          <p:nvPr/>
        </p:nvSpPr>
        <p:spPr>
          <a:xfrm>
            <a:off x="548640" y="5541264"/>
            <a:ext cx="6912864" cy="411480"/>
          </a:xfrm>
          <a:prstGeom prst="rect">
            <a:avLst>
              <a:gd name="adj" fmla="val 26667"/>
            </a:avLst>
          </a:prstGeom>
          <a:solidFill>
            <a:srgbClr val="FFFFFF"/>
          </a:solidFill>
          <a:ln w="12700">
            <a:solidFill>
              <a:srgbClr val="FFFFFF"/>
            </a:solidFill>
            <a:prstDash val="solid"/>
          </a:ln>
        </p:spPr>
      </p:sp>
      <p:sp>
        <p:nvSpPr>
          <p:cNvPr id="26" name="Text 24"/>
          <p:cNvSpPr/>
          <p:nvPr/>
        </p:nvSpPr>
        <p:spPr>
          <a:xfrm>
            <a:off x="694944" y="5618988"/>
            <a:ext cx="1444752" cy="274320"/>
          </a:xfrm>
          <a:prstGeom prst="rect">
            <a:avLst/>
          </a:prstGeom>
          <a:noFill/>
          <a:ln/>
        </p:spPr>
        <p:txBody>
          <a:bodyPr wrap="square" lIns="0" tIns="0" rIns="0" bIns="0" rtlCol="0" anchor="t"/>
          <a:lstStyle/>
          <a:p>
            <a:pPr indent="0" marL="0">
              <a:buNone/>
            </a:pPr>
            <a:r>
              <a:rPr lang="en-US" sz="1600" b="1" dirty="0">
                <a:solidFill>
                  <a:srgbClr val="1559B7"/>
                </a:solidFill>
                <a:latin typeface="Calibri" pitchFamily="34" charset="0"/>
                <a:ea typeface="Calibri" pitchFamily="34" charset="-122"/>
                <a:cs typeface="Calibri" pitchFamily="34" charset="-120"/>
              </a:rPr>
              <a:t>15:30-16:30</a:t>
            </a:r>
            <a:endParaRPr lang="en-US" sz="1600" dirty="0"/>
          </a:p>
        </p:txBody>
      </p:sp>
      <p:sp>
        <p:nvSpPr>
          <p:cNvPr id="27" name="Text 25"/>
          <p:cNvSpPr/>
          <p:nvPr/>
        </p:nvSpPr>
        <p:spPr>
          <a:xfrm>
            <a:off x="2340864" y="5618988"/>
            <a:ext cx="4892040" cy="274320"/>
          </a:xfrm>
          <a:prstGeom prst="rect">
            <a:avLst/>
          </a:prstGeom>
          <a:noFill/>
          <a:ln/>
        </p:spPr>
        <p:txBody>
          <a:bodyPr wrap="square" lIns="0" tIns="0" rIns="0" bIns="0" rtlCol="0" anchor="t"/>
          <a:lstStyle/>
          <a:p>
            <a:pPr indent="0" marL="0">
              <a:buNone/>
            </a:pPr>
            <a:r>
              <a:rPr lang="en-US" sz="1600" dirty="0">
                <a:solidFill>
                  <a:srgbClr val="102B50"/>
                </a:solidFill>
                <a:latin typeface="Calibri" pitchFamily="34" charset="0"/>
                <a:ea typeface="Calibri" pitchFamily="34" charset="-122"/>
                <a:cs typeface="Calibri" pitchFamily="34" charset="-120"/>
              </a:rPr>
              <a:t>Owners, dates and retrospective</a:t>
            </a:r>
            <a:endParaRPr lang="en-US" sz="1600" dirty="0"/>
          </a:p>
        </p:txBody>
      </p:sp>
      <p:sp>
        <p:nvSpPr>
          <p:cNvPr id="28" name="Shape 26"/>
          <p:cNvSpPr/>
          <p:nvPr/>
        </p:nvSpPr>
        <p:spPr>
          <a:xfrm>
            <a:off x="7808976" y="2651760"/>
            <a:ext cx="3822192" cy="3273552"/>
          </a:xfrm>
          <a:prstGeom prst="roundRect">
            <a:avLst>
              <a:gd name="adj" fmla="val 3352"/>
            </a:avLst>
          </a:prstGeom>
          <a:solidFill>
            <a:srgbClr val="E8F0FC"/>
          </a:solidFill>
          <a:ln w="12700">
            <a:solidFill>
              <a:srgbClr val="E8F0FC"/>
            </a:solidFill>
            <a:prstDash val="solid"/>
          </a:ln>
        </p:spPr>
      </p:sp>
      <p:sp>
        <p:nvSpPr>
          <p:cNvPr id="29" name="Text 27"/>
          <p:cNvSpPr/>
          <p:nvPr/>
        </p:nvSpPr>
        <p:spPr>
          <a:xfrm>
            <a:off x="8037576" y="2862072"/>
            <a:ext cx="3364992"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CHECKPOINT</a:t>
            </a:r>
            <a:endParaRPr lang="en-US" sz="2300" dirty="0"/>
          </a:p>
        </p:txBody>
      </p:sp>
      <p:sp>
        <p:nvSpPr>
          <p:cNvPr id="30" name="Text 28"/>
          <p:cNvSpPr/>
          <p:nvPr/>
        </p:nvSpPr>
        <p:spPr>
          <a:xfrm>
            <a:off x="8037576" y="3557016"/>
            <a:ext cx="3364992" cy="2176272"/>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Freeze new features.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Label mocks clearly.</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Use a backup recording.</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Do not debug live.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Switch the grouping, not the meaning</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Delivery tells you the route. Progress tells you the stage.</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11</a:t>
            </a:r>
            <a:endParaRPr lang="en-US" sz="1100" dirty="0"/>
          </a:p>
        </p:txBody>
      </p:sp>
      <p:sp>
        <p:nvSpPr>
          <p:cNvPr id="7" name="Shape 5"/>
          <p:cNvSpPr/>
          <p:nvPr/>
        </p:nvSpPr>
        <p:spPr>
          <a:xfrm>
            <a:off x="548640" y="2679192"/>
            <a:ext cx="1965960" cy="786384"/>
          </a:xfrm>
          <a:prstGeom prst="roundRect">
            <a:avLst>
              <a:gd name="adj" fmla="val 13953"/>
            </a:avLst>
          </a:prstGeom>
          <a:solidFill>
            <a:srgbClr val="FFFFFF"/>
          </a:solidFill>
          <a:ln w="12700">
            <a:solidFill>
              <a:srgbClr val="FFFFFF"/>
            </a:solidFill>
            <a:prstDash val="solid"/>
          </a:ln>
        </p:spPr>
      </p:sp>
      <p:sp>
        <p:nvSpPr>
          <p:cNvPr id="8" name="Text 6"/>
          <p:cNvSpPr/>
          <p:nvPr/>
        </p:nvSpPr>
        <p:spPr>
          <a:xfrm>
            <a:off x="694944" y="2907792"/>
            <a:ext cx="1673352" cy="329184"/>
          </a:xfrm>
          <a:prstGeom prst="rect">
            <a:avLst/>
          </a:prstGeom>
          <a:noFill/>
          <a:ln/>
        </p:spPr>
        <p:txBody>
          <a:bodyPr wrap="square" lIns="0" tIns="0" rIns="0" bIns="0" rtlCol="0" anchor="t"/>
          <a:lstStyle/>
          <a:p>
            <a:pPr indent="0" marL="0">
              <a:buNone/>
            </a:pPr>
            <a:r>
              <a:rPr lang="en-US" sz="1700" b="1" dirty="0">
                <a:solidFill>
                  <a:srgbClr val="1559B7"/>
                </a:solidFill>
                <a:latin typeface="Calibri" pitchFamily="34" charset="0"/>
                <a:ea typeface="Calibri" pitchFamily="34" charset="-122"/>
                <a:cs typeface="Calibri" pitchFamily="34" charset="-120"/>
              </a:rPr>
              <a:t>Unassigned</a:t>
            </a:r>
            <a:endParaRPr lang="en-US" sz="1700" dirty="0"/>
          </a:p>
        </p:txBody>
      </p:sp>
      <p:sp>
        <p:nvSpPr>
          <p:cNvPr id="9" name="Shape 7"/>
          <p:cNvSpPr/>
          <p:nvPr/>
        </p:nvSpPr>
        <p:spPr>
          <a:xfrm>
            <a:off x="2807208" y="2679192"/>
            <a:ext cx="1965960" cy="786384"/>
          </a:xfrm>
          <a:prstGeom prst="roundRect">
            <a:avLst>
              <a:gd name="adj" fmla="val 13953"/>
            </a:avLst>
          </a:prstGeom>
          <a:solidFill>
            <a:srgbClr val="E8F0FC"/>
          </a:solidFill>
          <a:ln w="12700">
            <a:solidFill>
              <a:srgbClr val="E8F0FC"/>
            </a:solidFill>
            <a:prstDash val="solid"/>
          </a:ln>
        </p:spPr>
      </p:sp>
      <p:sp>
        <p:nvSpPr>
          <p:cNvPr id="10" name="Text 8"/>
          <p:cNvSpPr/>
          <p:nvPr/>
        </p:nvSpPr>
        <p:spPr>
          <a:xfrm>
            <a:off x="2953512" y="2907792"/>
            <a:ext cx="1673352" cy="329184"/>
          </a:xfrm>
          <a:prstGeom prst="rect">
            <a:avLst/>
          </a:prstGeom>
          <a:noFill/>
          <a:ln/>
        </p:spPr>
        <p:txBody>
          <a:bodyPr wrap="square" lIns="0" tIns="0" rIns="0" bIns="0" rtlCol="0" anchor="t"/>
          <a:lstStyle/>
          <a:p>
            <a:pPr indent="0" marL="0">
              <a:buNone/>
            </a:pPr>
            <a:r>
              <a:rPr lang="en-US" sz="1700" b="1" dirty="0">
                <a:solidFill>
                  <a:srgbClr val="1559B7"/>
                </a:solidFill>
                <a:latin typeface="Calibri" pitchFamily="34" charset="0"/>
                <a:ea typeface="Calibri" pitchFamily="34" charset="-122"/>
                <a:cs typeface="Calibri" pitchFamily="34" charset="-120"/>
              </a:rPr>
              <a:t>Copilot / Cowork</a:t>
            </a:r>
            <a:endParaRPr lang="en-US" sz="1700" dirty="0"/>
          </a:p>
        </p:txBody>
      </p:sp>
      <p:sp>
        <p:nvSpPr>
          <p:cNvPr id="11" name="Shape 9"/>
          <p:cNvSpPr/>
          <p:nvPr/>
        </p:nvSpPr>
        <p:spPr>
          <a:xfrm>
            <a:off x="5065776" y="2679192"/>
            <a:ext cx="1965960" cy="786384"/>
          </a:xfrm>
          <a:prstGeom prst="roundRect">
            <a:avLst>
              <a:gd name="adj" fmla="val 13953"/>
            </a:avLst>
          </a:prstGeom>
          <a:solidFill>
            <a:srgbClr val="FFFFFF"/>
          </a:solidFill>
          <a:ln w="12700">
            <a:solidFill>
              <a:srgbClr val="FFFFFF"/>
            </a:solidFill>
            <a:prstDash val="solid"/>
          </a:ln>
        </p:spPr>
      </p:sp>
      <p:sp>
        <p:nvSpPr>
          <p:cNvPr id="12" name="Text 10"/>
          <p:cNvSpPr/>
          <p:nvPr/>
        </p:nvSpPr>
        <p:spPr>
          <a:xfrm>
            <a:off x="5212080" y="2907792"/>
            <a:ext cx="1673352" cy="329184"/>
          </a:xfrm>
          <a:prstGeom prst="rect">
            <a:avLst/>
          </a:prstGeom>
          <a:noFill/>
          <a:ln/>
        </p:spPr>
        <p:txBody>
          <a:bodyPr wrap="square" lIns="0" tIns="0" rIns="0" bIns="0" rtlCol="0" anchor="t"/>
          <a:lstStyle/>
          <a:p>
            <a:pPr indent="0" marL="0">
              <a:buNone/>
            </a:pPr>
            <a:r>
              <a:rPr lang="en-US" sz="1700" b="1" dirty="0">
                <a:solidFill>
                  <a:srgbClr val="1559B7"/>
                </a:solidFill>
                <a:latin typeface="Calibri" pitchFamily="34" charset="0"/>
                <a:ea typeface="Calibri" pitchFamily="34" charset="-122"/>
                <a:cs typeface="Calibri" pitchFamily="34" charset="-120"/>
              </a:rPr>
              <a:t>Copilot Studio</a:t>
            </a:r>
            <a:endParaRPr lang="en-US" sz="1700" dirty="0"/>
          </a:p>
        </p:txBody>
      </p:sp>
      <p:sp>
        <p:nvSpPr>
          <p:cNvPr id="13" name="Shape 11"/>
          <p:cNvSpPr/>
          <p:nvPr/>
        </p:nvSpPr>
        <p:spPr>
          <a:xfrm>
            <a:off x="548640" y="3822192"/>
            <a:ext cx="1965960" cy="786384"/>
          </a:xfrm>
          <a:prstGeom prst="roundRect">
            <a:avLst>
              <a:gd name="adj" fmla="val 13953"/>
            </a:avLst>
          </a:prstGeom>
          <a:solidFill>
            <a:srgbClr val="E8F0FC"/>
          </a:solidFill>
          <a:ln w="12700">
            <a:solidFill>
              <a:srgbClr val="E8F0FC"/>
            </a:solidFill>
            <a:prstDash val="solid"/>
          </a:ln>
        </p:spPr>
      </p:sp>
      <p:sp>
        <p:nvSpPr>
          <p:cNvPr id="14" name="Text 12"/>
          <p:cNvSpPr/>
          <p:nvPr/>
        </p:nvSpPr>
        <p:spPr>
          <a:xfrm>
            <a:off x="694944" y="4050792"/>
            <a:ext cx="1673352" cy="329184"/>
          </a:xfrm>
          <a:prstGeom prst="rect">
            <a:avLst/>
          </a:prstGeom>
          <a:noFill/>
          <a:ln/>
        </p:spPr>
        <p:txBody>
          <a:bodyPr wrap="square" lIns="0" tIns="0" rIns="0" bIns="0" rtlCol="0" anchor="t"/>
          <a:lstStyle/>
          <a:p>
            <a:pPr indent="0" marL="0">
              <a:buNone/>
            </a:pPr>
            <a:r>
              <a:rPr lang="en-US" sz="1700" b="1" dirty="0">
                <a:solidFill>
                  <a:srgbClr val="1559B7"/>
                </a:solidFill>
                <a:latin typeface="Calibri" pitchFamily="34" charset="0"/>
                <a:ea typeface="Calibri" pitchFamily="34" charset="-122"/>
                <a:cs typeface="Calibri" pitchFamily="34" charset="-120"/>
              </a:rPr>
              <a:t>Custom build</a:t>
            </a:r>
            <a:endParaRPr lang="en-US" sz="1700" dirty="0"/>
          </a:p>
        </p:txBody>
      </p:sp>
      <p:sp>
        <p:nvSpPr>
          <p:cNvPr id="15" name="Shape 13"/>
          <p:cNvSpPr/>
          <p:nvPr/>
        </p:nvSpPr>
        <p:spPr>
          <a:xfrm>
            <a:off x="2807208" y="3822192"/>
            <a:ext cx="1965960" cy="786384"/>
          </a:xfrm>
          <a:prstGeom prst="roundRect">
            <a:avLst>
              <a:gd name="adj" fmla="val 13953"/>
            </a:avLst>
          </a:prstGeom>
          <a:solidFill>
            <a:srgbClr val="FFFFFF"/>
          </a:solidFill>
          <a:ln w="12700">
            <a:solidFill>
              <a:srgbClr val="FFFFFF"/>
            </a:solidFill>
            <a:prstDash val="solid"/>
          </a:ln>
        </p:spPr>
      </p:sp>
      <p:sp>
        <p:nvSpPr>
          <p:cNvPr id="16" name="Text 14"/>
          <p:cNvSpPr/>
          <p:nvPr/>
        </p:nvSpPr>
        <p:spPr>
          <a:xfrm>
            <a:off x="2953512" y="4050792"/>
            <a:ext cx="1673352" cy="329184"/>
          </a:xfrm>
          <a:prstGeom prst="rect">
            <a:avLst/>
          </a:prstGeom>
          <a:noFill/>
          <a:ln/>
        </p:spPr>
        <p:txBody>
          <a:bodyPr wrap="square" lIns="0" tIns="0" rIns="0" bIns="0" rtlCol="0" anchor="t"/>
          <a:lstStyle/>
          <a:p>
            <a:pPr indent="0" marL="0">
              <a:buNone/>
            </a:pPr>
            <a:r>
              <a:rPr lang="en-US" sz="1700" b="1" dirty="0">
                <a:solidFill>
                  <a:srgbClr val="1559B7"/>
                </a:solidFill>
                <a:latin typeface="Calibri" pitchFamily="34" charset="0"/>
                <a:ea typeface="Calibri" pitchFamily="34" charset="-122"/>
                <a:cs typeface="Calibri" pitchFamily="34" charset="-120"/>
              </a:rPr>
              <a:t>CAF</a:t>
            </a:r>
            <a:endParaRPr lang="en-US" sz="1700" dirty="0"/>
          </a:p>
        </p:txBody>
      </p:sp>
      <p:sp>
        <p:nvSpPr>
          <p:cNvPr id="17" name="Shape 15"/>
          <p:cNvSpPr/>
          <p:nvPr/>
        </p:nvSpPr>
        <p:spPr>
          <a:xfrm>
            <a:off x="7552944" y="2679192"/>
            <a:ext cx="4078224" cy="2953512"/>
          </a:xfrm>
          <a:prstGeom prst="roundRect">
            <a:avLst>
              <a:gd name="adj" fmla="val 3715"/>
            </a:avLst>
          </a:prstGeom>
          <a:solidFill>
            <a:srgbClr val="E8F0FC"/>
          </a:solidFill>
          <a:ln w="12700">
            <a:solidFill>
              <a:srgbClr val="E8F0FC"/>
            </a:solidFill>
            <a:prstDash val="solid"/>
          </a:ln>
        </p:spPr>
      </p:sp>
      <p:sp>
        <p:nvSpPr>
          <p:cNvPr id="18" name="Text 16"/>
          <p:cNvSpPr/>
          <p:nvPr/>
        </p:nvSpPr>
        <p:spPr>
          <a:xfrm>
            <a:off x="7781544" y="2889504"/>
            <a:ext cx="3621024"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ONE HANDOFF</a:t>
            </a:r>
            <a:endParaRPr lang="en-US" sz="2300" dirty="0"/>
          </a:p>
        </p:txBody>
      </p:sp>
      <p:sp>
        <p:nvSpPr>
          <p:cNvPr id="19" name="Text 17"/>
          <p:cNvSpPr/>
          <p:nvPr/>
        </p:nvSpPr>
        <p:spPr>
          <a:xfrm>
            <a:off x="7781544" y="3584448"/>
            <a:ext cx="3621024" cy="1856232"/>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Optional app: cards +</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overview share one panel.</a:t>
            </a:r>
            <a:endParaRPr lang="en-US" sz="1900" dirty="0"/>
          </a:p>
          <a:p>
            <a:pPr indent="0" marL="0">
              <a:buNone/>
            </a:pP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Paper or app: one record for</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owners, action, date + learning.</a:t>
            </a:r>
            <a:endParaRPr lang="en-US" sz="1900" dirty="0"/>
          </a:p>
        </p:txBody>
      </p:sp>
      <p:sp>
        <p:nvSpPr>
          <p:cNvPr id="20" name="Text 18"/>
          <p:cNvSpPr/>
          <p:nvPr/>
        </p:nvSpPr>
        <p:spPr>
          <a:xfrm>
            <a:off x="594360" y="5285232"/>
            <a:ext cx="6492240" cy="658368"/>
          </a:xfrm>
          <a:prstGeom prst="rect">
            <a:avLst/>
          </a:prstGeom>
          <a:noFill/>
          <a:ln/>
        </p:spPr>
        <p:txBody>
          <a:bodyPr wrap="square" lIns="0" tIns="0" rIns="0" bIns="0" rtlCol="0" anchor="t"/>
          <a:lstStyle/>
          <a:p>
            <a:pPr indent="0" marL="0">
              <a:buNone/>
            </a:pPr>
            <a:r>
              <a:rPr lang="en-US" sz="1900" b="1" dirty="0">
                <a:solidFill>
                  <a:srgbClr val="102B50"/>
                </a:solidFill>
                <a:latin typeface="Calibri" pitchFamily="34" charset="0"/>
                <a:ea typeface="Calibri" pitchFamily="34" charset="-122"/>
                <a:cs typeface="Calibri" pitchFamily="34" charset="-120"/>
              </a:rPr>
              <a:t>Building + Copilot Studio.</a:t>
            </a:r>
            <a:endParaRPr lang="en-US" sz="1900" dirty="0"/>
          </a:p>
          <a:p>
            <a:pPr indent="0" marL="0">
              <a:buNone/>
            </a:pPr>
            <a:r>
              <a:rPr lang="en-US" sz="1900" b="1" dirty="0">
                <a:solidFill>
                  <a:srgbClr val="102B50"/>
                </a:solidFill>
                <a:latin typeface="Calibri" pitchFamily="34" charset="0"/>
                <a:ea typeface="Calibri" pitchFamily="34" charset="-122"/>
                <a:cs typeface="Calibri" pitchFamily="34" charset="-120"/>
              </a:rPr>
              <a:t>CAF route does not mean Submitted to CAF.</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Show proof, not promises</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Use all six test categories. Record Pass, Fail or Not run honestly.</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12</a:t>
            </a:r>
            <a:endParaRPr lang="en-US" sz="1100" dirty="0"/>
          </a:p>
        </p:txBody>
      </p:sp>
      <p:sp>
        <p:nvSpPr>
          <p:cNvPr id="7" name="Shape 5"/>
          <p:cNvSpPr/>
          <p:nvPr/>
        </p:nvSpPr>
        <p:spPr>
          <a:xfrm>
            <a:off x="548640" y="2734056"/>
            <a:ext cx="3493008" cy="2670048"/>
          </a:xfrm>
          <a:prstGeom prst="roundRect">
            <a:avLst>
              <a:gd name="adj" fmla="val 4110"/>
            </a:avLst>
          </a:prstGeom>
          <a:solidFill>
            <a:srgbClr val="E8F0FC"/>
          </a:solidFill>
          <a:ln w="12700">
            <a:solidFill>
              <a:srgbClr val="E8F0FC"/>
            </a:solidFill>
            <a:prstDash val="solid"/>
          </a:ln>
        </p:spPr>
      </p:sp>
      <p:sp>
        <p:nvSpPr>
          <p:cNvPr id="8" name="Text 6"/>
          <p:cNvSpPr/>
          <p:nvPr/>
        </p:nvSpPr>
        <p:spPr>
          <a:xfrm>
            <a:off x="777240" y="2944368"/>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USEFUL</a:t>
            </a:r>
            <a:endParaRPr lang="en-US" sz="2300" dirty="0"/>
          </a:p>
        </p:txBody>
      </p:sp>
      <p:sp>
        <p:nvSpPr>
          <p:cNvPr id="9" name="Text 7"/>
          <p:cNvSpPr/>
          <p:nvPr/>
        </p:nvSpPr>
        <p:spPr>
          <a:xfrm>
            <a:off x="777240" y="3639312"/>
            <a:ext cx="3035808" cy="157276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Expected useful path</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Correct, supported answer</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Process-owner review</a:t>
            </a:r>
            <a:endParaRPr lang="en-US" sz="1900" dirty="0"/>
          </a:p>
        </p:txBody>
      </p:sp>
      <p:sp>
        <p:nvSpPr>
          <p:cNvPr id="10" name="Shape 8"/>
          <p:cNvSpPr/>
          <p:nvPr/>
        </p:nvSpPr>
        <p:spPr>
          <a:xfrm>
            <a:off x="4352544" y="2734056"/>
            <a:ext cx="3493008" cy="2670048"/>
          </a:xfrm>
          <a:prstGeom prst="roundRect">
            <a:avLst>
              <a:gd name="adj" fmla="val 4110"/>
            </a:avLst>
          </a:prstGeom>
          <a:solidFill>
            <a:srgbClr val="FFFFFF"/>
          </a:solidFill>
          <a:ln w="12700">
            <a:solidFill>
              <a:srgbClr val="FFFFFF"/>
            </a:solidFill>
            <a:prstDash val="solid"/>
          </a:ln>
        </p:spPr>
      </p:sp>
      <p:sp>
        <p:nvSpPr>
          <p:cNvPr id="11" name="Text 9"/>
          <p:cNvSpPr/>
          <p:nvPr/>
        </p:nvSpPr>
        <p:spPr>
          <a:xfrm>
            <a:off x="4581144" y="2944368"/>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BOUNDED</a:t>
            </a:r>
            <a:endParaRPr lang="en-US" sz="2300" dirty="0"/>
          </a:p>
        </p:txBody>
      </p:sp>
      <p:sp>
        <p:nvSpPr>
          <p:cNvPr id="12" name="Text 10"/>
          <p:cNvSpPr/>
          <p:nvPr/>
        </p:nvSpPr>
        <p:spPr>
          <a:xfrm>
            <a:off x="4581144" y="3639312"/>
            <a:ext cx="3035808" cy="157276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Missing / denied knowledge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Out-of-scope request</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Misleading instructions</a:t>
            </a:r>
            <a:endParaRPr lang="en-US" sz="1900" dirty="0"/>
          </a:p>
        </p:txBody>
      </p:sp>
      <p:sp>
        <p:nvSpPr>
          <p:cNvPr id="13" name="Shape 11"/>
          <p:cNvSpPr/>
          <p:nvPr/>
        </p:nvSpPr>
        <p:spPr>
          <a:xfrm>
            <a:off x="8156448" y="2734056"/>
            <a:ext cx="3493008" cy="2670048"/>
          </a:xfrm>
          <a:prstGeom prst="roundRect">
            <a:avLst>
              <a:gd name="adj" fmla="val 4110"/>
            </a:avLst>
          </a:prstGeom>
          <a:solidFill>
            <a:srgbClr val="E8F0FC"/>
          </a:solidFill>
          <a:ln w="12700">
            <a:solidFill>
              <a:srgbClr val="E8F0FC"/>
            </a:solidFill>
            <a:prstDash val="solid"/>
          </a:ln>
        </p:spPr>
      </p:sp>
      <p:sp>
        <p:nvSpPr>
          <p:cNvPr id="14" name="Text 12"/>
          <p:cNvSpPr/>
          <p:nvPr/>
        </p:nvSpPr>
        <p:spPr>
          <a:xfrm>
            <a:off x="8385048" y="2944368"/>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CONTROLLED</a:t>
            </a:r>
            <a:endParaRPr lang="en-US" sz="2300" dirty="0"/>
          </a:p>
        </p:txBody>
      </p:sp>
      <p:sp>
        <p:nvSpPr>
          <p:cNvPr id="15" name="Text 13"/>
          <p:cNvSpPr/>
          <p:nvPr/>
        </p:nvSpPr>
        <p:spPr>
          <a:xfrm>
            <a:off x="8385048" y="3639312"/>
            <a:ext cx="3035808" cy="157276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Human approval for action</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Or an explicit read-only limit</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Evidence and retest owner</a:t>
            </a:r>
            <a:endParaRPr lang="en-US" sz="1900" dirty="0"/>
          </a:p>
        </p:txBody>
      </p:sp>
      <p:sp>
        <p:nvSpPr>
          <p:cNvPr id="16" name="Text 14"/>
          <p:cNvSpPr/>
          <p:nvPr/>
        </p:nvSpPr>
        <p:spPr>
          <a:xfrm>
            <a:off x="594360" y="5742432"/>
            <a:ext cx="10972800" cy="457200"/>
          </a:xfrm>
          <a:prstGeom prst="rect">
            <a:avLst/>
          </a:prstGeom>
          <a:noFill/>
          <a:ln/>
        </p:spPr>
        <p:txBody>
          <a:bodyPr wrap="square" lIns="0" tIns="0" rIns="0" bIns="0" rtlCol="0" anchor="t"/>
          <a:lstStyle/>
          <a:p>
            <a:pPr indent="0" marL="0">
              <a:buNone/>
            </a:pPr>
            <a:r>
              <a:rPr lang="en-US" sz="1800" b="1" dirty="0">
                <a:solidFill>
                  <a:srgbClr val="102B50"/>
                </a:solidFill>
                <a:latin typeface="Calibri" pitchFamily="34" charset="0"/>
                <a:ea typeface="Calibri" pitchFamily="34" charset="-122"/>
                <a:cs typeface="Calibri" pitchFamily="34" charset="-120"/>
              </a:rPr>
              <a:t>A demo is not a quality benchmark. No invented accuracy, savings, approvals or production readiness.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Record the handoff. Do not imply delivery.</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Every case leaves with accepted ownership, evidence, a next action and a date.</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13</a:t>
            </a:r>
            <a:endParaRPr lang="en-US" sz="1100" dirty="0"/>
          </a:p>
        </p:txBody>
      </p:sp>
      <p:sp>
        <p:nvSpPr>
          <p:cNvPr id="7" name="Shape 5"/>
          <p:cNvSpPr/>
          <p:nvPr/>
        </p:nvSpPr>
        <p:spPr>
          <a:xfrm>
            <a:off x="548640" y="2706624"/>
            <a:ext cx="5532120" cy="2971800"/>
          </a:xfrm>
          <a:prstGeom prst="roundRect">
            <a:avLst>
              <a:gd name="adj" fmla="val 3692"/>
            </a:avLst>
          </a:prstGeom>
          <a:solidFill>
            <a:srgbClr val="E8F0FC"/>
          </a:solidFill>
          <a:ln w="12700">
            <a:solidFill>
              <a:srgbClr val="E8F0FC"/>
            </a:solidFill>
            <a:prstDash val="solid"/>
          </a:ln>
        </p:spPr>
      </p:sp>
      <p:sp>
        <p:nvSpPr>
          <p:cNvPr id="8" name="Text 6"/>
          <p:cNvSpPr/>
          <p:nvPr/>
        </p:nvSpPr>
        <p:spPr>
          <a:xfrm>
            <a:off x="777240" y="2916936"/>
            <a:ext cx="507492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SHARED HANDOFF</a:t>
            </a:r>
            <a:endParaRPr lang="en-US" sz="2300" dirty="0"/>
          </a:p>
        </p:txBody>
      </p:sp>
      <p:sp>
        <p:nvSpPr>
          <p:cNvPr id="9" name="Text 7"/>
          <p:cNvSpPr/>
          <p:nvPr/>
        </p:nvSpPr>
        <p:spPr>
          <a:xfrm>
            <a:off x="777240" y="3611880"/>
            <a:ext cx="5074920" cy="187452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Stage + delivery route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Demo/blocker; tests and learning</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Business + delivery owners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Next action, date and pilot/cleanup plan</a:t>
            </a:r>
            <a:endParaRPr lang="en-US" sz="1900" dirty="0"/>
          </a:p>
        </p:txBody>
      </p:sp>
      <p:sp>
        <p:nvSpPr>
          <p:cNvPr id="10" name="Shape 8"/>
          <p:cNvSpPr/>
          <p:nvPr/>
        </p:nvSpPr>
        <p:spPr>
          <a:xfrm>
            <a:off x="6382512" y="2706624"/>
            <a:ext cx="5248656" cy="2971800"/>
          </a:xfrm>
          <a:prstGeom prst="roundRect">
            <a:avLst>
              <a:gd name="adj" fmla="val 3692"/>
            </a:avLst>
          </a:prstGeom>
          <a:solidFill>
            <a:srgbClr val="FFFFFF"/>
          </a:solidFill>
          <a:ln w="12700">
            <a:solidFill>
              <a:srgbClr val="FFFFFF"/>
            </a:solidFill>
            <a:prstDash val="solid"/>
          </a:ln>
        </p:spPr>
      </p:sp>
      <p:sp>
        <p:nvSpPr>
          <p:cNvPr id="11" name="Text 9"/>
          <p:cNvSpPr/>
          <p:nvPr/>
        </p:nvSpPr>
        <p:spPr>
          <a:xfrm>
            <a:off x="6611112" y="2916936"/>
            <a:ext cx="4791456"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EXTERNAL ACTION RECORDS</a:t>
            </a:r>
            <a:endParaRPr lang="en-US" sz="2300" dirty="0"/>
          </a:p>
        </p:txBody>
      </p:sp>
      <p:sp>
        <p:nvSpPr>
          <p:cNvPr id="12" name="Text 10"/>
          <p:cNvSpPr/>
          <p:nvPr/>
        </p:nvSpPr>
        <p:spPr>
          <a:xfrm>
            <a:off x="6611112" y="3611880"/>
            <a:ext cx="4791456" cy="1874520"/>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In production:</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business owner + production evidence.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Submitted to CAF (external):</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business owner + CAF reference.</a:t>
            </a:r>
            <a:endParaRPr lang="en-US" sz="1900" dirty="0"/>
          </a:p>
        </p:txBody>
      </p:sp>
      <p:sp>
        <p:nvSpPr>
          <p:cNvPr id="13" name="Text 11"/>
          <p:cNvSpPr/>
          <p:nvPr/>
        </p:nvSpPr>
        <p:spPr>
          <a:xfrm>
            <a:off x="594360" y="5897880"/>
            <a:ext cx="10972800" cy="365760"/>
          </a:xfrm>
          <a:prstGeom prst="rect">
            <a:avLst/>
          </a:prstGeom>
          <a:noFill/>
          <a:ln/>
        </p:spPr>
        <p:txBody>
          <a:bodyPr wrap="square" lIns="0" tIns="0" rIns="0" bIns="0" rtlCol="0" anchor="t"/>
          <a:lstStyle/>
          <a:p>
            <a:pPr indent="0" marL="0">
              <a:buNone/>
            </a:pPr>
            <a:r>
              <a:rPr lang="en-US" sz="1800" b="1" dirty="0">
                <a:solidFill>
                  <a:srgbClr val="102B50"/>
                </a:solidFill>
                <a:latin typeface="Calibri" pitchFamily="34" charset="0"/>
                <a:ea typeface="Calibri" pitchFamily="34" charset="-122"/>
                <a:cs typeface="Calibri" pitchFamily="34" charset="-120"/>
              </a:rPr>
              <a:t>A status update never deploys or submits. Confirm acceptance, support and eligibility separately.</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Practice with a fictional case</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Shipping FAQ helper. No customer data, real approvals or measured savings.</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14</a:t>
            </a:r>
            <a:endParaRPr lang="en-US" sz="1100" dirty="0"/>
          </a:p>
        </p:txBody>
      </p:sp>
      <p:sp>
        <p:nvSpPr>
          <p:cNvPr id="7" name="Shape 5"/>
          <p:cNvSpPr/>
          <p:nvPr/>
        </p:nvSpPr>
        <p:spPr>
          <a:xfrm>
            <a:off x="548640" y="2697480"/>
            <a:ext cx="5394960" cy="2944368"/>
          </a:xfrm>
          <a:prstGeom prst="roundRect">
            <a:avLst>
              <a:gd name="adj" fmla="val 3727"/>
            </a:avLst>
          </a:prstGeom>
          <a:solidFill>
            <a:srgbClr val="E8F0FC"/>
          </a:solidFill>
          <a:ln w="12700">
            <a:solidFill>
              <a:srgbClr val="E8F0FC"/>
            </a:solidFill>
            <a:prstDash val="solid"/>
          </a:ln>
        </p:spPr>
      </p:sp>
      <p:sp>
        <p:nvSpPr>
          <p:cNvPr id="8" name="Text 6"/>
          <p:cNvSpPr/>
          <p:nvPr/>
        </p:nvSpPr>
        <p:spPr>
          <a:xfrm>
            <a:off x="777240" y="2907792"/>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THE DEMO SLICE</a:t>
            </a:r>
            <a:endParaRPr lang="en-US" sz="2300" dirty="0"/>
          </a:p>
        </p:txBody>
      </p:sp>
      <p:sp>
        <p:nvSpPr>
          <p:cNvPr id="9" name="Text 7"/>
          <p:cNvSpPr/>
          <p:nvPr/>
        </p:nvSpPr>
        <p:spPr>
          <a:xfrm>
            <a:off x="777240" y="3602736"/>
            <a:ext cx="4937760" cy="184708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Question -&gt; search five fictional FAQs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-&gt; source-linked answer draft.</a:t>
            </a:r>
            <a:endParaRPr lang="en-US" sz="1900" dirty="0"/>
          </a:p>
          <a:p>
            <a:pPr indent="0" marL="0">
              <a:buNone/>
            </a:pP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Read-only. No shipment updates,</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refunds or customer messages.</a:t>
            </a:r>
            <a:endParaRPr lang="en-US" sz="1900" dirty="0"/>
          </a:p>
        </p:txBody>
      </p:sp>
      <p:sp>
        <p:nvSpPr>
          <p:cNvPr id="10" name="Shape 8"/>
          <p:cNvSpPr/>
          <p:nvPr/>
        </p:nvSpPr>
        <p:spPr>
          <a:xfrm>
            <a:off x="6245352" y="2697480"/>
            <a:ext cx="5394960" cy="2944368"/>
          </a:xfrm>
          <a:prstGeom prst="roundRect">
            <a:avLst>
              <a:gd name="adj" fmla="val 3727"/>
            </a:avLst>
          </a:prstGeom>
          <a:solidFill>
            <a:srgbClr val="FFFFFF"/>
          </a:solidFill>
          <a:ln w="12700">
            <a:solidFill>
              <a:srgbClr val="FFFFFF"/>
            </a:solidFill>
            <a:prstDash val="solid"/>
          </a:ln>
        </p:spPr>
      </p:sp>
      <p:sp>
        <p:nvSpPr>
          <p:cNvPr id="11" name="Text 9"/>
          <p:cNvSpPr/>
          <p:nvPr/>
        </p:nvSpPr>
        <p:spPr>
          <a:xfrm>
            <a:off x="6473952" y="2907792"/>
            <a:ext cx="4937760"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ASSESSING / UNASSIGNED</a:t>
            </a:r>
            <a:endParaRPr lang="en-US" sz="2300" dirty="0"/>
          </a:p>
        </p:txBody>
      </p:sp>
      <p:sp>
        <p:nvSpPr>
          <p:cNvPr id="12" name="Text 10"/>
          <p:cNvSpPr/>
          <p:nvPr/>
        </p:nvSpPr>
        <p:spPr>
          <a:xfrm>
            <a:off x="6473952" y="3602736"/>
            <a:ext cx="4937760" cy="1847088"/>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Unknown owner and attendance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Unknown sample/access approval</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Unmeasured business value</a:t>
            </a:r>
            <a:endParaRPr lang="en-US" sz="1900" dirty="0"/>
          </a:p>
          <a:p>
            <a:pPr indent="0" marL="0">
              <a:buNone/>
            </a:pP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Not in production. Not submitted to CAF.</a:t>
            </a:r>
            <a:endParaRPr lang="en-US" sz="1900" dirty="0"/>
          </a:p>
        </p:txBody>
      </p:sp>
      <p:sp>
        <p:nvSpPr>
          <p:cNvPr id="13" name="Text 11"/>
          <p:cNvSpPr/>
          <p:nvPr/>
        </p:nvSpPr>
        <p:spPr>
          <a:xfrm>
            <a:off x="594360" y="5888736"/>
            <a:ext cx="10972800" cy="347472"/>
          </a:xfrm>
          <a:prstGeom prst="rect">
            <a:avLst/>
          </a:prstGeom>
          <a:noFill/>
          <a:ln/>
        </p:spPr>
        <p:txBody>
          <a:bodyPr wrap="square" lIns="0" tIns="0" rIns="0" bIns="0" rtlCol="0" anchor="t"/>
          <a:lstStyle/>
          <a:p>
            <a:pPr indent="0" marL="0">
              <a:buNone/>
            </a:pPr>
            <a:r>
              <a:rPr lang="en-US" sz="1700" b="1" dirty="0">
                <a:solidFill>
                  <a:srgbClr val="102B50"/>
                </a:solidFill>
                <a:latin typeface="Calibri" pitchFamily="34" charset="0"/>
                <a:ea typeface="Calibri" pitchFamily="34" charset="-122"/>
                <a:cs typeface="Calibri" pitchFamily="34" charset="-120"/>
              </a:rPr>
              <a:t>Activity: compare FAQ search first. Record the review action, owner and date on the shared card.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6FC"/>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495D7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102B50"/>
                </a:solidFill>
                <a:latin typeface="Trebuchet MS" pitchFamily="34" charset="0"/>
                <a:ea typeface="Trebuchet MS" pitchFamily="34" charset="-122"/>
                <a:cs typeface="Trebuchet MS" pitchFamily="34" charset="-120"/>
              </a:rPr>
              <a:t>Use guidance; still confirm permission</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495D7C"/>
                </a:solidFill>
                <a:latin typeface="Calibri" pitchFamily="34" charset="0"/>
                <a:ea typeface="Calibri" pitchFamily="34" charset="-122"/>
                <a:cs typeface="Calibri" pitchFamily="34" charset="-120"/>
              </a:rPr>
              <a:t>The public sources inform the materials. Your internal decisions remain separate.</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495D7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495D7C"/>
                </a:solidFill>
                <a:latin typeface="Calibri" pitchFamily="34" charset="0"/>
                <a:ea typeface="Calibri" pitchFamily="34" charset="-122"/>
                <a:cs typeface="Calibri" pitchFamily="34" charset="-120"/>
              </a:rPr>
              <a:t>15</a:t>
            </a:r>
            <a:endParaRPr lang="en-US" sz="1100" dirty="0"/>
          </a:p>
        </p:txBody>
      </p:sp>
      <p:sp>
        <p:nvSpPr>
          <p:cNvPr id="7" name="Shape 5"/>
          <p:cNvSpPr/>
          <p:nvPr/>
        </p:nvSpPr>
        <p:spPr>
          <a:xfrm>
            <a:off x="548640" y="2688336"/>
            <a:ext cx="5394960" cy="768096"/>
          </a:xfrm>
          <a:prstGeom prst="roundRect">
            <a:avLst>
              <a:gd name="adj" fmla="val 14286"/>
            </a:avLst>
          </a:prstGeom>
          <a:solidFill>
            <a:srgbClr val="FFFFFF"/>
          </a:solidFill>
          <a:ln w="12700">
            <a:solidFill>
              <a:srgbClr val="FFFFFF"/>
            </a:solidFill>
            <a:prstDash val="solid"/>
          </a:ln>
        </p:spPr>
      </p:sp>
      <p:sp>
        <p:nvSpPr>
          <p:cNvPr id="8" name="Text 6">
            <a:hlinkClick r:id="rId1" tooltip=""/>
          </p:cNvPr>
          <p:cNvSpPr/>
          <p:nvPr/>
        </p:nvSpPr>
        <p:spPr>
          <a:xfrm>
            <a:off x="758952" y="2880360"/>
            <a:ext cx="4956048" cy="429768"/>
          </a:xfrm>
          <a:prstGeom prst="rect">
            <a:avLst/>
          </a:prstGeom>
          <a:noFill/>
          <a:ln/>
        </p:spPr>
        <p:txBody>
          <a:bodyPr wrap="square" lIns="0" tIns="0" rIns="0" bIns="0" rtlCol="0" anchor="t"/>
          <a:lstStyle/>
          <a:p>
            <a:pPr indent="0" marL="0">
              <a:buNone/>
            </a:pPr>
            <a:r>
              <a:rPr lang="en-US" sz="1800" b="1" u="sng" dirty="0">
                <a:solidFill>
                  <a:srgbClr val="1559B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Organize hackathons</a:t>
            </a:r>
            <a:endParaRPr lang="en-US" sz="1800" dirty="0"/>
          </a:p>
        </p:txBody>
      </p:sp>
      <p:sp>
        <p:nvSpPr>
          <p:cNvPr id="9" name="Shape 7"/>
          <p:cNvSpPr/>
          <p:nvPr/>
        </p:nvSpPr>
        <p:spPr>
          <a:xfrm>
            <a:off x="6254496" y="2688336"/>
            <a:ext cx="5394960" cy="768096"/>
          </a:xfrm>
          <a:prstGeom prst="roundRect">
            <a:avLst>
              <a:gd name="adj" fmla="val 14286"/>
            </a:avLst>
          </a:prstGeom>
          <a:solidFill>
            <a:srgbClr val="E8F0FC"/>
          </a:solidFill>
          <a:ln w="12700">
            <a:solidFill>
              <a:srgbClr val="E8F0FC"/>
            </a:solidFill>
            <a:prstDash val="solid"/>
          </a:ln>
        </p:spPr>
      </p:sp>
      <p:sp>
        <p:nvSpPr>
          <p:cNvPr id="10" name="Text 8">
            <a:hlinkClick r:id="rId2" tooltip=""/>
          </p:cNvPr>
          <p:cNvSpPr/>
          <p:nvPr/>
        </p:nvSpPr>
        <p:spPr>
          <a:xfrm>
            <a:off x="6464808" y="2880360"/>
            <a:ext cx="4956048" cy="429768"/>
          </a:xfrm>
          <a:prstGeom prst="rect">
            <a:avLst/>
          </a:prstGeom>
          <a:noFill/>
          <a:ln/>
        </p:spPr>
        <p:txBody>
          <a:bodyPr wrap="square" lIns="0" tIns="0" rIns="0" bIns="0" rtlCol="0" anchor="t"/>
          <a:lstStyle/>
          <a:p>
            <a:pPr indent="0" marL="0">
              <a:buNone/>
            </a:pPr>
            <a:r>
              <a:rPr lang="en-US" sz="1800" b="1" u="sng" dirty="0">
                <a:solidFill>
                  <a:srgbClr val="1559B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Envision high-value use cases</a:t>
            </a:r>
            <a:endParaRPr lang="en-US" sz="1800" dirty="0"/>
          </a:p>
        </p:txBody>
      </p:sp>
      <p:sp>
        <p:nvSpPr>
          <p:cNvPr id="11" name="Shape 9"/>
          <p:cNvSpPr/>
          <p:nvPr/>
        </p:nvSpPr>
        <p:spPr>
          <a:xfrm>
            <a:off x="548640" y="3730752"/>
            <a:ext cx="5394960" cy="768096"/>
          </a:xfrm>
          <a:prstGeom prst="roundRect">
            <a:avLst>
              <a:gd name="adj" fmla="val 14286"/>
            </a:avLst>
          </a:prstGeom>
          <a:solidFill>
            <a:srgbClr val="FFFFFF"/>
          </a:solidFill>
          <a:ln w="12700">
            <a:solidFill>
              <a:srgbClr val="FFFFFF"/>
            </a:solidFill>
            <a:prstDash val="solid"/>
          </a:ln>
        </p:spPr>
      </p:sp>
      <p:sp>
        <p:nvSpPr>
          <p:cNvPr id="12" name="Text 10">
            <a:hlinkClick r:id="rId3" tooltip=""/>
          </p:cNvPr>
          <p:cNvSpPr/>
          <p:nvPr/>
        </p:nvSpPr>
        <p:spPr>
          <a:xfrm>
            <a:off x="758952" y="3922776"/>
            <a:ext cx="4956048" cy="429768"/>
          </a:xfrm>
          <a:prstGeom prst="rect">
            <a:avLst/>
          </a:prstGeom>
          <a:noFill/>
          <a:ln/>
        </p:spPr>
        <p:txBody>
          <a:bodyPr wrap="square" lIns="0" tIns="0" rIns="0" bIns="0" rtlCol="0" anchor="t"/>
          <a:lstStyle/>
          <a:p>
            <a:pPr indent="0" marL="0">
              <a:buNone/>
            </a:pPr>
            <a:r>
              <a:rPr lang="en-US" sz="1800" b="1" u="sng" dirty="0">
                <a:solidFill>
                  <a:srgbClr val="1559B7"/>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Copilot Studio licensing and subscriptions</a:t>
            </a:r>
            <a:endParaRPr lang="en-US" sz="1800" dirty="0"/>
          </a:p>
        </p:txBody>
      </p:sp>
      <p:sp>
        <p:nvSpPr>
          <p:cNvPr id="13" name="Shape 11"/>
          <p:cNvSpPr/>
          <p:nvPr/>
        </p:nvSpPr>
        <p:spPr>
          <a:xfrm>
            <a:off x="6254496" y="3730752"/>
            <a:ext cx="5394960" cy="768096"/>
          </a:xfrm>
          <a:prstGeom prst="roundRect">
            <a:avLst>
              <a:gd name="adj" fmla="val 14286"/>
            </a:avLst>
          </a:prstGeom>
          <a:solidFill>
            <a:srgbClr val="E8F0FC"/>
          </a:solidFill>
          <a:ln w="12700">
            <a:solidFill>
              <a:srgbClr val="E8F0FC"/>
            </a:solidFill>
            <a:prstDash val="solid"/>
          </a:ln>
        </p:spPr>
      </p:sp>
      <p:sp>
        <p:nvSpPr>
          <p:cNvPr id="14" name="Text 12">
            <a:hlinkClick r:id="rId4" tooltip=""/>
          </p:cNvPr>
          <p:cNvSpPr/>
          <p:nvPr/>
        </p:nvSpPr>
        <p:spPr>
          <a:xfrm>
            <a:off x="6464808" y="3922776"/>
            <a:ext cx="4956048" cy="429768"/>
          </a:xfrm>
          <a:prstGeom prst="rect">
            <a:avLst/>
          </a:prstGeom>
          <a:noFill/>
          <a:ln/>
        </p:spPr>
        <p:txBody>
          <a:bodyPr wrap="square" lIns="0" tIns="0" rIns="0" bIns="0" rtlCol="0" anchor="t"/>
          <a:lstStyle/>
          <a:p>
            <a:pPr indent="0" marL="0">
              <a:buNone/>
            </a:pPr>
            <a:r>
              <a:rPr lang="en-US" sz="1800" b="1" u="sng" dirty="0">
                <a:solidFill>
                  <a:srgbClr val="1559B7"/>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Configure data policies for agents</a:t>
            </a:r>
            <a:endParaRPr lang="en-US" sz="1800" dirty="0"/>
          </a:p>
        </p:txBody>
      </p:sp>
      <p:sp>
        <p:nvSpPr>
          <p:cNvPr id="15" name="Shape 13"/>
          <p:cNvSpPr/>
          <p:nvPr/>
        </p:nvSpPr>
        <p:spPr>
          <a:xfrm>
            <a:off x="548640" y="4773168"/>
            <a:ext cx="5394960" cy="768096"/>
          </a:xfrm>
          <a:prstGeom prst="roundRect">
            <a:avLst>
              <a:gd name="adj" fmla="val 14286"/>
            </a:avLst>
          </a:prstGeom>
          <a:solidFill>
            <a:srgbClr val="FFFFFF"/>
          </a:solidFill>
          <a:ln w="12700">
            <a:solidFill>
              <a:srgbClr val="FFFFFF"/>
            </a:solidFill>
            <a:prstDash val="solid"/>
          </a:ln>
        </p:spPr>
      </p:sp>
      <p:sp>
        <p:nvSpPr>
          <p:cNvPr id="16" name="Text 14">
            <a:hlinkClick r:id="rId5" tooltip=""/>
          </p:cNvPr>
          <p:cNvSpPr/>
          <p:nvPr/>
        </p:nvSpPr>
        <p:spPr>
          <a:xfrm>
            <a:off x="758952" y="4965192"/>
            <a:ext cx="4956048" cy="429768"/>
          </a:xfrm>
          <a:prstGeom prst="rect">
            <a:avLst/>
          </a:prstGeom>
          <a:noFill/>
          <a:ln/>
        </p:spPr>
        <p:txBody>
          <a:bodyPr wrap="square" lIns="0" tIns="0" rIns="0" bIns="0" rtlCol="0" anchor="t"/>
          <a:lstStyle/>
          <a:p>
            <a:pPr indent="0" marL="0">
              <a:buNone/>
            </a:pPr>
            <a:r>
              <a:rPr lang="en-US" sz="1800" b="1" u="sng" dirty="0">
                <a:solidFill>
                  <a:srgbClr val="1559B7"/>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Responsible AI policies</a:t>
            </a:r>
            <a:endParaRPr lang="en-US" sz="1800" dirty="0"/>
          </a:p>
        </p:txBody>
      </p:sp>
      <p:sp>
        <p:nvSpPr>
          <p:cNvPr id="17" name="Shape 15"/>
          <p:cNvSpPr/>
          <p:nvPr/>
        </p:nvSpPr>
        <p:spPr>
          <a:xfrm>
            <a:off x="6254496" y="4773168"/>
            <a:ext cx="5394960" cy="768096"/>
          </a:xfrm>
          <a:prstGeom prst="roundRect">
            <a:avLst>
              <a:gd name="adj" fmla="val 14286"/>
            </a:avLst>
          </a:prstGeom>
          <a:solidFill>
            <a:srgbClr val="E8F0FC"/>
          </a:solidFill>
          <a:ln w="12700">
            <a:solidFill>
              <a:srgbClr val="E8F0FC"/>
            </a:solidFill>
            <a:prstDash val="solid"/>
          </a:ln>
        </p:spPr>
      </p:sp>
      <p:sp>
        <p:nvSpPr>
          <p:cNvPr id="18" name="Text 16">
            <a:hlinkClick r:id="rId6" tooltip=""/>
          </p:cNvPr>
          <p:cNvSpPr/>
          <p:nvPr/>
        </p:nvSpPr>
        <p:spPr>
          <a:xfrm>
            <a:off x="6464808" y="4965192"/>
            <a:ext cx="4956048" cy="429768"/>
          </a:xfrm>
          <a:prstGeom prst="rect">
            <a:avLst/>
          </a:prstGeom>
          <a:noFill/>
          <a:ln/>
        </p:spPr>
        <p:txBody>
          <a:bodyPr wrap="square" lIns="0" tIns="0" rIns="0" bIns="0" rtlCol="0" anchor="t"/>
          <a:lstStyle/>
          <a:p>
            <a:pPr indent="0" marL="0">
              <a:buNone/>
            </a:pPr>
            <a:r>
              <a:rPr lang="en-US" sz="1800" b="1" u="sng" dirty="0">
                <a:solidFill>
                  <a:srgbClr val="1559B7"/>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Measure and communicate business value</a:t>
            </a:r>
            <a:endParaRPr lang="en-US" sz="1800" dirty="0"/>
          </a:p>
        </p:txBody>
      </p:sp>
      <p:sp>
        <p:nvSpPr>
          <p:cNvPr id="19" name="Text 17"/>
          <p:cNvSpPr/>
          <p:nvPr/>
        </p:nvSpPr>
        <p:spPr>
          <a:xfrm>
            <a:off x="594360" y="5998464"/>
            <a:ext cx="10972800" cy="228600"/>
          </a:xfrm>
          <a:prstGeom prst="rect">
            <a:avLst/>
          </a:prstGeom>
          <a:noFill/>
          <a:ln/>
        </p:spPr>
        <p:txBody>
          <a:bodyPr wrap="square" lIns="0" tIns="0" rIns="0" bIns="0" rtlCol="0" anchor="t"/>
          <a:lstStyle/>
          <a:p>
            <a:pPr indent="0" marL="0">
              <a:buNone/>
            </a:pPr>
            <a:r>
              <a:rPr lang="en-US" sz="1600" dirty="0">
                <a:solidFill>
                  <a:srgbClr val="495D7C"/>
                </a:solidFill>
                <a:latin typeface="Calibri" pitchFamily="34" charset="0"/>
                <a:ea typeface="Calibri" pitchFamily="34" charset="-122"/>
                <a:cs typeface="Calibri" pitchFamily="34" charset="-120"/>
              </a:rPr>
              <a:t>Workbook page 15. Sources reviewed 9 September 2026. App runbook v1.1.0; project defaults.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2B50"/>
        </a:solidFill>
      </p:bgPr>
    </p:bg>
    <p:spTree>
      <p:nvGrpSpPr>
        <p:cNvPr id="1" name=""/>
        <p:cNvGrpSpPr/>
        <p:nvPr/>
      </p:nvGrpSpPr>
      <p:grpSpPr>
        <a:xfrm>
          <a:off x="0" y="0"/>
          <a:ext cx="0" cy="0"/>
          <a:chOff x="0" y="0"/>
          <a:chExt cx="0" cy="0"/>
        </a:xfrm>
      </p:grpSpPr>
      <p:sp>
        <p:nvSpPr>
          <p:cNvPr id="2" name="Text 0"/>
          <p:cNvSpPr/>
          <p:nvPr/>
        </p:nvSpPr>
        <p:spPr>
          <a:xfrm>
            <a:off x="548640" y="320040"/>
            <a:ext cx="10881360" cy="228600"/>
          </a:xfrm>
          <a:prstGeom prst="rect">
            <a:avLst/>
          </a:prstGeom>
          <a:noFill/>
          <a:ln/>
        </p:spPr>
        <p:txBody>
          <a:bodyPr wrap="square" lIns="0" tIns="0" rIns="0" bIns="0" rtlCol="0" anchor="t"/>
          <a:lstStyle/>
          <a:p>
            <a:pPr indent="0" marL="0">
              <a:buNone/>
            </a:pPr>
            <a:r>
              <a:rPr lang="en-US" sz="1100" b="1" spc="130" kern="0" dirty="0">
                <a:solidFill>
                  <a:srgbClr val="C6D9FC"/>
                </a:solidFill>
                <a:latin typeface="Calibri" pitchFamily="34" charset="0"/>
                <a:ea typeface="Calibri" pitchFamily="34" charset="-122"/>
                <a:cs typeface="Calibri" pitchFamily="34" charset="-120"/>
              </a:rPr>
              <a:t>HACKATHON FACILITATOR / NO-INSTALL WORKSHOP</a:t>
            </a:r>
            <a:endParaRPr lang="en-US" sz="1100" dirty="0"/>
          </a:p>
        </p:txBody>
      </p:sp>
      <p:sp>
        <p:nvSpPr>
          <p:cNvPr id="3" name="Text 1"/>
          <p:cNvSpPr/>
          <p:nvPr/>
        </p:nvSpPr>
        <p:spPr>
          <a:xfrm>
            <a:off x="548640" y="859536"/>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Trebuchet MS" pitchFamily="34" charset="0"/>
                <a:ea typeface="Trebuchet MS" pitchFamily="34" charset="-122"/>
                <a:cs typeface="Trebuchet MS" pitchFamily="34" charset="-120"/>
              </a:rPr>
              <a:t>Leave with three concrete things</a:t>
            </a:r>
            <a:endParaRPr lang="en-US" sz="3600" dirty="0"/>
          </a:p>
        </p:txBody>
      </p:sp>
      <p:sp>
        <p:nvSpPr>
          <p:cNvPr id="4" name="Text 2"/>
          <p:cNvSpPr/>
          <p:nvPr/>
        </p:nvSpPr>
        <p:spPr>
          <a:xfrm>
            <a:off x="548640" y="1773936"/>
            <a:ext cx="10972800" cy="457200"/>
          </a:xfrm>
          <a:prstGeom prst="rect">
            <a:avLst/>
          </a:prstGeom>
          <a:noFill/>
          <a:ln/>
        </p:spPr>
        <p:txBody>
          <a:bodyPr wrap="square" lIns="0" tIns="0" rIns="0" bIns="0" rtlCol="0" anchor="t"/>
          <a:lstStyle/>
          <a:p>
            <a:pPr indent="0" marL="0">
              <a:buNone/>
            </a:pPr>
            <a:r>
              <a:rPr lang="en-US" sz="1900" dirty="0">
                <a:solidFill>
                  <a:srgbClr val="DCE8FC"/>
                </a:solidFill>
                <a:latin typeface="Calibri" pitchFamily="34" charset="0"/>
                <a:ea typeface="Calibri" pitchFamily="34" charset="-122"/>
                <a:cs typeface="Calibri" pitchFamily="34" charset="-120"/>
              </a:rPr>
              <a:t>Start with the files. The public web app and Copilot agent are optional.</a:t>
            </a:r>
            <a:endParaRPr lang="en-US" sz="1900" dirty="0"/>
          </a:p>
        </p:txBody>
      </p:sp>
      <p:sp>
        <p:nvSpPr>
          <p:cNvPr id="5" name="Text 3"/>
          <p:cNvSpPr/>
          <p:nvPr/>
        </p:nvSpPr>
        <p:spPr>
          <a:xfrm>
            <a:off x="548640" y="6400800"/>
            <a:ext cx="10241280" cy="219456"/>
          </a:xfrm>
          <a:prstGeom prst="rect">
            <a:avLst/>
          </a:prstGeom>
          <a:noFill/>
          <a:ln/>
        </p:spPr>
        <p:txBody>
          <a:bodyPr wrap="square" lIns="0" tIns="0" rIns="0" bIns="0" rtlCol="0" anchor="t"/>
          <a:lstStyle/>
          <a:p>
            <a:pPr indent="0" marL="0">
              <a:buNone/>
            </a:pPr>
            <a:r>
              <a:rPr lang="en-US" sz="1000" dirty="0">
                <a:solidFill>
                  <a:srgbClr val="C6D9FC"/>
                </a:solidFill>
                <a:latin typeface="Calibri" pitchFamily="34" charset="0"/>
                <a:ea typeface="Calibri" pitchFamily="34" charset="-122"/>
                <a:cs typeface="Calibri" pitchFamily="34" charset="-120"/>
              </a:rPr>
              <a:t>Daniel Horvath / dahorvath@microsoft.com | v0.2.0</a:t>
            </a:r>
            <a:endParaRPr lang="en-US" sz="1000" dirty="0"/>
          </a:p>
        </p:txBody>
      </p:sp>
      <p:sp>
        <p:nvSpPr>
          <p:cNvPr id="6" name="Text 4"/>
          <p:cNvSpPr/>
          <p:nvPr/>
        </p:nvSpPr>
        <p:spPr>
          <a:xfrm>
            <a:off x="11064240" y="6400800"/>
            <a:ext cx="548640" cy="228600"/>
          </a:xfrm>
          <a:prstGeom prst="rect">
            <a:avLst/>
          </a:prstGeom>
          <a:noFill/>
          <a:ln/>
        </p:spPr>
        <p:txBody>
          <a:bodyPr wrap="square" lIns="0" tIns="0" rIns="0" bIns="0" rtlCol="0" anchor="t"/>
          <a:lstStyle/>
          <a:p>
            <a:pPr algn="r" indent="0" marL="0">
              <a:buNone/>
            </a:pPr>
            <a:r>
              <a:rPr lang="en-US" sz="1100" dirty="0">
                <a:solidFill>
                  <a:srgbClr val="C6D9FC"/>
                </a:solidFill>
                <a:latin typeface="Calibri" pitchFamily="34" charset="0"/>
                <a:ea typeface="Calibri" pitchFamily="34" charset="-122"/>
                <a:cs typeface="Calibri" pitchFamily="34" charset="-120"/>
              </a:rPr>
              <a:t>16</a:t>
            </a:r>
            <a:endParaRPr lang="en-US" sz="1100" dirty="0"/>
          </a:p>
        </p:txBody>
      </p:sp>
      <p:sp>
        <p:nvSpPr>
          <p:cNvPr id="7" name="Shape 5"/>
          <p:cNvSpPr/>
          <p:nvPr/>
        </p:nvSpPr>
        <p:spPr>
          <a:xfrm>
            <a:off x="548640" y="2743200"/>
            <a:ext cx="3493008" cy="2359152"/>
          </a:xfrm>
          <a:prstGeom prst="roundRect">
            <a:avLst>
              <a:gd name="adj" fmla="val 4651"/>
            </a:avLst>
          </a:prstGeom>
          <a:solidFill>
            <a:srgbClr val="1559B7"/>
          </a:solidFill>
          <a:ln w="12700">
            <a:solidFill>
              <a:srgbClr val="1559B7"/>
            </a:solidFill>
            <a:prstDash val="solid"/>
          </a:ln>
        </p:spPr>
      </p:sp>
      <p:sp>
        <p:nvSpPr>
          <p:cNvPr id="8" name="Text 6"/>
          <p:cNvSpPr/>
          <p:nvPr/>
        </p:nvSpPr>
        <p:spPr>
          <a:xfrm>
            <a:off x="777240" y="2953512"/>
            <a:ext cx="3035808" cy="502920"/>
          </a:xfrm>
          <a:prstGeom prst="rect">
            <a:avLst/>
          </a:prstGeom>
          <a:noFill/>
          <a:ln/>
        </p:spPr>
        <p:txBody>
          <a:bodyPr wrap="square" lIns="0" tIns="0" rIns="0" bIns="0" rtlCol="0" anchor="t"/>
          <a:lstStyle/>
          <a:p>
            <a:pPr indent="0" marL="0">
              <a:buNone/>
            </a:pPr>
            <a:r>
              <a:rPr lang="en-US" sz="2300" b="1" dirty="0">
                <a:solidFill>
                  <a:srgbClr val="FFFFFF"/>
                </a:solidFill>
                <a:latin typeface="Trebuchet MS" pitchFamily="34" charset="0"/>
                <a:ea typeface="Trebuchet MS" pitchFamily="34" charset="-122"/>
                <a:cs typeface="Trebuchet MS" pitchFamily="34" charset="-120"/>
              </a:rPr>
              <a:t>A WORKING COPY</a:t>
            </a:r>
            <a:endParaRPr lang="en-US" sz="2300" dirty="0"/>
          </a:p>
        </p:txBody>
      </p:sp>
      <p:sp>
        <p:nvSpPr>
          <p:cNvPr id="9" name="Text 7"/>
          <p:cNvSpPr/>
          <p:nvPr/>
        </p:nvSpPr>
        <p:spPr>
          <a:xfrm>
            <a:off x="777240" y="3648456"/>
            <a:ext cx="3035808" cy="1261872"/>
          </a:xfrm>
          <a:prstGeom prst="rect">
            <a:avLst/>
          </a:prstGeom>
          <a:noFill/>
          <a:ln/>
        </p:spPr>
        <p:txBody>
          <a:bodyPr wrap="square" lIns="0" tIns="0" rIns="0" bIns="0" rtlCol="0" anchor="t"/>
          <a:lstStyle/>
          <a:p>
            <a:pPr indent="0" marL="0">
              <a:buNone/>
            </a:pPr>
            <a:r>
              <a:rPr lang="en-US" sz="1900" dirty="0">
                <a:solidFill>
                  <a:srgbClr val="FFFFFF"/>
                </a:solidFill>
                <a:latin typeface="Calibri" pitchFamily="34" charset="0"/>
                <a:ea typeface="Calibri" pitchFamily="34" charset="-122"/>
                <a:cs typeface="Calibri" pitchFamily="34" charset="-120"/>
              </a:rPr>
              <a:t>Word templates saved</a:t>
            </a:r>
            <a:endParaRPr lang="en-US" sz="1900" dirty="0"/>
          </a:p>
          <a:p>
            <a:pPr indent="0" marL="0">
              <a:buNone/>
            </a:pPr>
            <a:r>
              <a:rPr lang="en-US" sz="1900" dirty="0">
                <a:solidFill>
                  <a:srgbClr val="FFFFFF"/>
                </a:solidFill>
                <a:latin typeface="Calibri" pitchFamily="34" charset="0"/>
                <a:ea typeface="Calibri" pitchFamily="34" charset="-122"/>
                <a:cs typeface="Calibri" pitchFamily="34" charset="-120"/>
              </a:rPr>
              <a:t>in an approved location.</a:t>
            </a:r>
            <a:endParaRPr lang="en-US" sz="1900" dirty="0"/>
          </a:p>
        </p:txBody>
      </p:sp>
      <p:sp>
        <p:nvSpPr>
          <p:cNvPr id="10" name="Shape 8"/>
          <p:cNvSpPr/>
          <p:nvPr/>
        </p:nvSpPr>
        <p:spPr>
          <a:xfrm>
            <a:off x="4352544" y="2743200"/>
            <a:ext cx="3493008" cy="2359152"/>
          </a:xfrm>
          <a:prstGeom prst="roundRect">
            <a:avLst>
              <a:gd name="adj" fmla="val 4651"/>
            </a:avLst>
          </a:prstGeom>
          <a:solidFill>
            <a:srgbClr val="D7E5FC"/>
          </a:solidFill>
          <a:ln w="12700">
            <a:solidFill>
              <a:srgbClr val="D7E5FC"/>
            </a:solidFill>
            <a:prstDash val="solid"/>
          </a:ln>
        </p:spPr>
      </p:sp>
      <p:sp>
        <p:nvSpPr>
          <p:cNvPr id="11" name="Text 9"/>
          <p:cNvSpPr/>
          <p:nvPr/>
        </p:nvSpPr>
        <p:spPr>
          <a:xfrm>
            <a:off x="4581144" y="2953512"/>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A VISIBLE CARD</a:t>
            </a:r>
            <a:endParaRPr lang="en-US" sz="2300" dirty="0"/>
          </a:p>
        </p:txBody>
      </p:sp>
      <p:sp>
        <p:nvSpPr>
          <p:cNvPr id="12" name="Text 10"/>
          <p:cNvSpPr/>
          <p:nvPr/>
        </p:nvSpPr>
        <p:spPr>
          <a:xfrm>
            <a:off x="4581144" y="3648456"/>
            <a:ext cx="3035808" cy="1261872"/>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One stage, one route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and honest evidence.</a:t>
            </a:r>
            <a:endParaRPr lang="en-US" sz="1900" dirty="0"/>
          </a:p>
        </p:txBody>
      </p:sp>
      <p:sp>
        <p:nvSpPr>
          <p:cNvPr id="13" name="Shape 11"/>
          <p:cNvSpPr/>
          <p:nvPr/>
        </p:nvSpPr>
        <p:spPr>
          <a:xfrm>
            <a:off x="8156448" y="2743200"/>
            <a:ext cx="3493008" cy="2359152"/>
          </a:xfrm>
          <a:prstGeom prst="roundRect">
            <a:avLst>
              <a:gd name="adj" fmla="val 4651"/>
            </a:avLst>
          </a:prstGeom>
          <a:solidFill>
            <a:srgbClr val="EFF5FF"/>
          </a:solidFill>
          <a:ln w="12700">
            <a:solidFill>
              <a:srgbClr val="EFF5FF"/>
            </a:solidFill>
            <a:prstDash val="solid"/>
          </a:ln>
        </p:spPr>
      </p:sp>
      <p:sp>
        <p:nvSpPr>
          <p:cNvPr id="14" name="Text 12"/>
          <p:cNvSpPr/>
          <p:nvPr/>
        </p:nvSpPr>
        <p:spPr>
          <a:xfrm>
            <a:off x="8385048" y="2953512"/>
            <a:ext cx="3035808" cy="502920"/>
          </a:xfrm>
          <a:prstGeom prst="rect">
            <a:avLst/>
          </a:prstGeom>
          <a:noFill/>
          <a:ln/>
        </p:spPr>
        <p:txBody>
          <a:bodyPr wrap="square" lIns="0" tIns="0" rIns="0" bIns="0" rtlCol="0" anchor="t"/>
          <a:lstStyle/>
          <a:p>
            <a:pPr indent="0" marL="0">
              <a:buNone/>
            </a:pPr>
            <a:r>
              <a:rPr lang="en-US" sz="2300" b="1" dirty="0">
                <a:solidFill>
                  <a:srgbClr val="1559B7"/>
                </a:solidFill>
                <a:latin typeface="Trebuchet MS" pitchFamily="34" charset="0"/>
                <a:ea typeface="Trebuchet MS" pitchFamily="34" charset="-122"/>
                <a:cs typeface="Trebuchet MS" pitchFamily="34" charset="-120"/>
              </a:rPr>
              <a:t>AN OWNER + DATE</a:t>
            </a:r>
            <a:endParaRPr lang="en-US" sz="2300" dirty="0"/>
          </a:p>
        </p:txBody>
      </p:sp>
      <p:sp>
        <p:nvSpPr>
          <p:cNvPr id="15" name="Text 13"/>
          <p:cNvSpPr/>
          <p:nvPr/>
        </p:nvSpPr>
        <p:spPr>
          <a:xfrm>
            <a:off x="8385048" y="3648456"/>
            <a:ext cx="3035808" cy="1261872"/>
          </a:xfrm>
          <a:prstGeom prst="rect">
            <a:avLst/>
          </a:prstGeom>
          <a:noFill/>
          <a:ln/>
        </p:spPr>
        <p:txBody>
          <a:bodyPr wrap="square" lIns="0" tIns="0" rIns="0" bIns="0" rtlCol="0" anchor="t"/>
          <a:lstStyle/>
          <a:p>
            <a:pPr indent="0" marL="0">
              <a:buNone/>
            </a:pPr>
            <a:r>
              <a:rPr lang="en-US" sz="1900" dirty="0">
                <a:solidFill>
                  <a:srgbClr val="102B50"/>
                </a:solidFill>
                <a:latin typeface="Calibri" pitchFamily="34" charset="0"/>
                <a:ea typeface="Calibri" pitchFamily="34" charset="-122"/>
                <a:cs typeface="Calibri" pitchFamily="34" charset="-120"/>
              </a:rPr>
              <a:t>Someone accepts the</a:t>
            </a:r>
            <a:endParaRPr lang="en-US" sz="1900" dirty="0"/>
          </a:p>
          <a:p>
            <a:pPr indent="0" marL="0">
              <a:buNone/>
            </a:pPr>
            <a:r>
              <a:rPr lang="en-US" sz="1900" dirty="0">
                <a:solidFill>
                  <a:srgbClr val="102B50"/>
                </a:solidFill>
                <a:latin typeface="Calibri" pitchFamily="34" charset="0"/>
                <a:ea typeface="Calibri" pitchFamily="34" charset="-122"/>
                <a:cs typeface="Calibri" pitchFamily="34" charset="-120"/>
              </a:rPr>
              <a:t>very next action.</a:t>
            </a:r>
            <a:endParaRPr lang="en-US" sz="1900" dirty="0"/>
          </a:p>
        </p:txBody>
      </p:sp>
      <p:sp>
        <p:nvSpPr>
          <p:cNvPr id="16" name="Text 14">
            <a:hlinkClick r:id="rId1" tooltip=""/>
          </p:cNvPr>
          <p:cNvSpPr/>
          <p:nvPr/>
        </p:nvSpPr>
        <p:spPr>
          <a:xfrm>
            <a:off x="594360" y="5513832"/>
            <a:ext cx="10789920" cy="347472"/>
          </a:xfrm>
          <a:prstGeom prst="rect">
            <a:avLst/>
          </a:prstGeom>
          <a:noFill/>
          <a:ln/>
        </p:spPr>
        <p:txBody>
          <a:bodyPr wrap="square" lIns="0" tIns="0" rIns="0" bIns="0" rtlCol="0" anchor="t"/>
          <a:lstStyle/>
          <a:p>
            <a:pPr indent="0" marL="0">
              <a:buNone/>
            </a:pPr>
            <a:r>
              <a:rPr lang="en-US" sz="2300" b="1"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Download the playbook, slides and PDFs</a:t>
            </a:r>
            <a:endParaRPr lang="en-US" sz="2300" dirty="0"/>
          </a:p>
        </p:txBody>
      </p:sp>
      <p:sp>
        <p:nvSpPr>
          <p:cNvPr id="17" name="Text 15">
            <a:hlinkClick r:id="rId2" tooltip=""/>
          </p:cNvPr>
          <p:cNvSpPr/>
          <p:nvPr/>
        </p:nvSpPr>
        <p:spPr>
          <a:xfrm>
            <a:off x="594360" y="5961888"/>
            <a:ext cx="10789920" cy="256032"/>
          </a:xfrm>
          <a:prstGeom prst="rect">
            <a:avLst/>
          </a:prstGeom>
          <a:noFill/>
          <a:ln/>
        </p:spPr>
        <p:txBody>
          <a:bodyPr wrap="square" lIns="0" tIns="0" rIns="0" bIns="0" rtlCol="0" anchor="t"/>
          <a:lstStyle/>
          <a:p>
            <a:pPr indent="0" marL="0">
              <a:buNone/>
            </a:pPr>
            <a:r>
              <a:rPr lang="en-US" sz="1500" u="sng" dirty="0">
                <a:solidFill>
                  <a:srgbClr val="DCE8FC"/>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Public repository: HorvathDaniel-2002 / hackathon-facilitator-agent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Hackathon Facilitator - Workshop</dc:title>
  <dc:subject>No-install hackathon facilitation workshop</dc:subject>
  <dc:creator>Daniel Horvath</dc:creator>
  <cp:lastModifiedBy>Daniel Horvath</cp:lastModifiedBy>
  <cp:revision>1</cp:revision>
  <dcterms:created xsi:type="dcterms:W3CDTF">2026-09-24T09:57:18Z</dcterms:created>
  <dcterms:modified xsi:type="dcterms:W3CDTF">2026-09-24T09:57:18Z</dcterms:modified>
</cp:coreProperties>
</file>